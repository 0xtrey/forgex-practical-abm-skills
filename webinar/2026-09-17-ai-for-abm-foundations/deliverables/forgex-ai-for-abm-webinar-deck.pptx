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ff6024ffd84f9a" /><Relationship Type="http://schemas.openxmlformats.org/officeDocument/2006/relationships/extended-properties" Target="/docProps/app.xml" Id="R6e61c8f9477b4040" /><Relationship Type="http://schemas.openxmlformats.org/officeDocument/2006/relationships/officeDocument" Target="/ppt/presentation.xml" Id="Rc9f5580b607544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8985d453654fa0"/>
  </p:sldMasterIdLst>
  <p:notesMasterIdLst>
    <p:notesMasterId xmlns:r="http://schemas.openxmlformats.org/officeDocument/2006/relationships" r:id="R8c7f39e5d38c48b8"/>
  </p:notesMasterIdLst>
  <p:sldIdLst>
    <p:sldId xmlns:r="http://schemas.openxmlformats.org/officeDocument/2006/relationships" id="256" r:id="Rf83d58ada9fe4301"/>
    <p:sldId xmlns:r="http://schemas.openxmlformats.org/officeDocument/2006/relationships" id="257" r:id="R7a9857a619424cb7"/>
    <p:sldId xmlns:r="http://schemas.openxmlformats.org/officeDocument/2006/relationships" id="258" r:id="R81e48ba2cee8492c"/>
    <p:sldId xmlns:r="http://schemas.openxmlformats.org/officeDocument/2006/relationships" id="259" r:id="Rd5857deb2dca45c2"/>
    <p:sldId xmlns:r="http://schemas.openxmlformats.org/officeDocument/2006/relationships" id="260" r:id="Reb268437b1b5419d"/>
    <p:sldId xmlns:r="http://schemas.openxmlformats.org/officeDocument/2006/relationships" id="261" r:id="R0bdad7166a454d64"/>
    <p:sldId xmlns:r="http://schemas.openxmlformats.org/officeDocument/2006/relationships" id="262" r:id="R48f449173bc34575"/>
    <p:sldId xmlns:r="http://schemas.openxmlformats.org/officeDocument/2006/relationships" id="263" r:id="Rb30c961718e940d6"/>
    <p:sldId xmlns:r="http://schemas.openxmlformats.org/officeDocument/2006/relationships" id="264" r:id="R4cf40031982c4126"/>
    <p:sldId xmlns:r="http://schemas.openxmlformats.org/officeDocument/2006/relationships" id="265" r:id="R2376c5c8446a4c9e"/>
    <p:sldId xmlns:r="http://schemas.openxmlformats.org/officeDocument/2006/relationships" id="266" r:id="R91da10b8b8774da8"/>
    <p:sldId xmlns:r="http://schemas.openxmlformats.org/officeDocument/2006/relationships" id="267" r:id="R4faceceda7254d6b"/>
    <p:sldId xmlns:r="http://schemas.openxmlformats.org/officeDocument/2006/relationships" id="268" r:id="R8ce30961f75141fa"/>
    <p:sldId xmlns:r="http://schemas.openxmlformats.org/officeDocument/2006/relationships" id="269" r:id="Ra8e6fc9d65794d30"/>
    <p:sldId xmlns:r="http://schemas.openxmlformats.org/officeDocument/2006/relationships" id="270" r:id="Rd4d77f5bd37c4388"/>
    <p:sldId xmlns:r="http://schemas.openxmlformats.org/officeDocument/2006/relationships" id="271" r:id="Rdf3df895dbae434b"/>
    <p:sldId xmlns:r="http://schemas.openxmlformats.org/officeDocument/2006/relationships" id="272" r:id="R950b58498c9a405e"/>
    <p:sldId xmlns:r="http://schemas.openxmlformats.org/officeDocument/2006/relationships" id="273" r:id="R4605a622d69c4950"/>
    <p:sldId xmlns:r="http://schemas.openxmlformats.org/officeDocument/2006/relationships" id="274" r:id="R766385ce28c24cd2"/>
    <p:sldId xmlns:r="http://schemas.openxmlformats.org/officeDocument/2006/relationships" id="275" r:id="R69adc6369b724f6c"/>
    <p:sldId xmlns:r="http://schemas.openxmlformats.org/officeDocument/2006/relationships" id="276" r:id="R7e3f6874849745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e77ab3729540aa" /><Relationship Type="http://schemas.openxmlformats.org/officeDocument/2006/relationships/slideMaster" Target="/ppt/slideMasters/slideMaster1.xml" Id="R6d8985d453654fa0" /><Relationship Type="http://schemas.openxmlformats.org/officeDocument/2006/relationships/notesMaster" Target="/ppt/notesMasters/notesMaster1.xml" Id="R8c7f39e5d38c48b8" /><Relationship Type="http://schemas.openxmlformats.org/officeDocument/2006/relationships/presProps" Target="/ppt/presProps.xml" Id="Rb981d02fc49e4031" /><Relationship Type="http://schemas.openxmlformats.org/officeDocument/2006/relationships/tableStyles" Target="/ppt/tableStyles.xml" Id="Recd6b1abdd4d42f3" /><Relationship Type="http://schemas.openxmlformats.org/officeDocument/2006/relationships/slide" Target="/ppt/slides/slide1.xml" Id="Rf83d58ada9fe4301" /><Relationship Type="http://schemas.openxmlformats.org/officeDocument/2006/relationships/slide" Target="/ppt/slides/slide2.xml" Id="R7a9857a619424cb7" /><Relationship Type="http://schemas.openxmlformats.org/officeDocument/2006/relationships/slide" Target="/ppt/slides/slide3.xml" Id="R81e48ba2cee8492c" /><Relationship Type="http://schemas.openxmlformats.org/officeDocument/2006/relationships/slide" Target="/ppt/slides/slide4.xml" Id="Rd5857deb2dca45c2" /><Relationship Type="http://schemas.openxmlformats.org/officeDocument/2006/relationships/slide" Target="/ppt/slides/slide5.xml" Id="Reb268437b1b5419d" /><Relationship Type="http://schemas.openxmlformats.org/officeDocument/2006/relationships/slide" Target="/ppt/slides/slide6.xml" Id="R0bdad7166a454d64" /><Relationship Type="http://schemas.openxmlformats.org/officeDocument/2006/relationships/slide" Target="/ppt/slides/slide7.xml" Id="R48f449173bc34575" /><Relationship Type="http://schemas.openxmlformats.org/officeDocument/2006/relationships/slide" Target="/ppt/slides/slide8.xml" Id="Rb30c961718e940d6" /><Relationship Type="http://schemas.openxmlformats.org/officeDocument/2006/relationships/slide" Target="/ppt/slides/slide9.xml" Id="R4cf40031982c4126" /><Relationship Type="http://schemas.openxmlformats.org/officeDocument/2006/relationships/slide" Target="/ppt/slides/slide10.xml" Id="R2376c5c8446a4c9e" /><Relationship Type="http://schemas.openxmlformats.org/officeDocument/2006/relationships/slide" Target="/ppt/slides/slide11.xml" Id="R91da10b8b8774da8" /><Relationship Type="http://schemas.openxmlformats.org/officeDocument/2006/relationships/slide" Target="/ppt/slides/slide12.xml" Id="R4faceceda7254d6b" /><Relationship Type="http://schemas.openxmlformats.org/officeDocument/2006/relationships/slide" Target="/ppt/slides/slide13.xml" Id="R8ce30961f75141fa" /><Relationship Type="http://schemas.openxmlformats.org/officeDocument/2006/relationships/slide" Target="/ppt/slides/slide14.xml" Id="Ra8e6fc9d65794d30" /><Relationship Type="http://schemas.openxmlformats.org/officeDocument/2006/relationships/slide" Target="/ppt/slides/slide15.xml" Id="Rd4d77f5bd37c4388" /><Relationship Type="http://schemas.openxmlformats.org/officeDocument/2006/relationships/slide" Target="/ppt/slides/slide16.xml" Id="Rdf3df895dbae434b" /><Relationship Type="http://schemas.openxmlformats.org/officeDocument/2006/relationships/slide" Target="/ppt/slides/slide17.xml" Id="R950b58498c9a405e" /><Relationship Type="http://schemas.openxmlformats.org/officeDocument/2006/relationships/slide" Target="/ppt/slides/slide18.xml" Id="R4605a622d69c4950" /><Relationship Type="http://schemas.openxmlformats.org/officeDocument/2006/relationships/slide" Target="/ppt/slides/slide19.xml" Id="R766385ce28c24cd2" /><Relationship Type="http://schemas.openxmlformats.org/officeDocument/2006/relationships/slide" Target="/ppt/slides/slide20.xml" Id="R69adc6369b724f6c" /><Relationship Type="http://schemas.openxmlformats.org/officeDocument/2006/relationships/slide" Target="/ppt/slides/slide21.xml" Id="R7e3f6874849745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8bf461af184e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6f2d8278dc438f" /><Relationship Type="http://schemas.openxmlformats.org/officeDocument/2006/relationships/notesMaster" Target="/ppt/notesMasters/notesMaster1.xml" Id="Rcd0608a374a842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c1d7bed5d745cc" /><Relationship Type="http://schemas.openxmlformats.org/officeDocument/2006/relationships/notesMaster" Target="/ppt/notesMasters/notesMaster1.xml" Id="Rb5ff750b6ec043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5595bd44114f60" /><Relationship Type="http://schemas.openxmlformats.org/officeDocument/2006/relationships/notesMaster" Target="/ppt/notesMasters/notesMaster1.xml" Id="R7377f819c3614e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230451a4394665" /><Relationship Type="http://schemas.openxmlformats.org/officeDocument/2006/relationships/notesMaster" Target="/ppt/notesMasters/notesMaster1.xml" Id="R2223e04d968c45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d8782a82c84f5d" /><Relationship Type="http://schemas.openxmlformats.org/officeDocument/2006/relationships/notesMaster" Target="/ppt/notesMasters/notesMaster1.xml" Id="R7858134cec1d4c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5683b140a944dc" /><Relationship Type="http://schemas.openxmlformats.org/officeDocument/2006/relationships/notesMaster" Target="/ppt/notesMasters/notesMaster1.xml" Id="R17ea14ef3b0e41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24ccf3e00340e7" /><Relationship Type="http://schemas.openxmlformats.org/officeDocument/2006/relationships/notesMaster" Target="/ppt/notesMasters/notesMaster1.xml" Id="R6fa627ca66134b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83f466fc004e2a" /><Relationship Type="http://schemas.openxmlformats.org/officeDocument/2006/relationships/notesMaster" Target="/ppt/notesMasters/notesMaster1.xml" Id="Rbc681f7c51194b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7a3832c8a94663" /><Relationship Type="http://schemas.openxmlformats.org/officeDocument/2006/relationships/notesMaster" Target="/ppt/notesMasters/notesMaster1.xml" Id="Rcc8d8c1764d742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24fb3194a741f2" /><Relationship Type="http://schemas.openxmlformats.org/officeDocument/2006/relationships/notesMaster" Target="/ppt/notesMasters/notesMaster1.xml" Id="Rfff713338e294d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f164d52d074798" /><Relationship Type="http://schemas.openxmlformats.org/officeDocument/2006/relationships/notesMaster" Target="/ppt/notesMasters/notesMaster1.xml" Id="Rc372ab6c50d549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152918519f4b03" /><Relationship Type="http://schemas.openxmlformats.org/officeDocument/2006/relationships/notesMaster" Target="/ppt/notesMasters/notesMaster1.xml" Id="R2486d6c0217a4b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a21284d6154eba" /><Relationship Type="http://schemas.openxmlformats.org/officeDocument/2006/relationships/notesMaster" Target="/ppt/notesMasters/notesMaster1.xml" Id="Ra664ad97afe84a8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68bb4b364a483f" /><Relationship Type="http://schemas.openxmlformats.org/officeDocument/2006/relationships/notesMaster" Target="/ppt/notesMasters/notesMaster1.xml" Id="R0565dfbdc0e14c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2380b3711f4bcb" /><Relationship Type="http://schemas.openxmlformats.org/officeDocument/2006/relationships/notesMaster" Target="/ppt/notesMasters/notesMaster1.xml" Id="Re9534ba840f641c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86b965880b4f60" /><Relationship Type="http://schemas.openxmlformats.org/officeDocument/2006/relationships/notesMaster" Target="/ppt/notesMasters/notesMaster1.xml" Id="R09073d8228c948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328622cd75644c6" /><Relationship Type="http://schemas.openxmlformats.org/officeDocument/2006/relationships/notesMaster" Target="/ppt/notesMasters/notesMaster1.xml" Id="R4e26e5488002413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6dc6f3d25b04e5b" /><Relationship Type="http://schemas.openxmlformats.org/officeDocument/2006/relationships/notesMaster" Target="/ppt/notesMasters/notesMaster1.xml" Id="R613ddae9953b46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d9f527578d47e7" /><Relationship Type="http://schemas.openxmlformats.org/officeDocument/2006/relationships/notesMaster" Target="/ppt/notesMasters/notesMaster1.xml" Id="Rccdf6204fff5403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a0085eb8e0e4aac" /><Relationship Type="http://schemas.openxmlformats.org/officeDocument/2006/relationships/notesMaster" Target="/ppt/notesMasters/notesMaster1.xml" Id="R26ea64191656444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a0be2d88c5949b3" /><Relationship Type="http://schemas.openxmlformats.org/officeDocument/2006/relationships/notesMaster" Target="/ppt/notesMasters/notesMaster1.xml" Id="R327213cbf31940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attendees will identify their current level, see what it takes to move up one level, and leave with the assets to start.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ForgeX promo creative supplied by Trey</a:t>
            </a:r>
          </a:p>
          <a:p xmlns:a="http://schemas.openxmlformats.org/drawingml/2006/main">
            <a:r>
              <a:t>- /Users/treyharnden/Projects/forgex-practical-abm-skills/webinar/2026-09-17-ai-for-abm-foundations/slide-outline.md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Recap Part I in one breath. Then move beneath the output: context, process, access, and human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plain language. Model is the engine. Harness is the workbench. MCP is a connection standard. Governance still defines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https://modelcontextprotocol.io/docs/getting-started/intro</a:t>
            </a:r>
          </a:p>
          <a:p xmlns:a="http://schemas.openxmlformats.org/drawingml/2006/main">
            <a:r>
              <a:t>- https://www.anthropic.com/engineering/building-effective-agents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Credit Zapier. Point to Building and Accountability, then explain why ABM needs more resolution between a prompt, company brain, reusable skill, automation, and agent.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https://zapier.com/blog/raising-ai-fluency-bar-in-hiring/</a:t>
            </a:r>
          </a:p>
          <a:p xmlns:a="http://schemas.openxmlformats.org/drawingml/2006/main">
            <a:r>
              <a:t>- https://images.ctfassets.net/lzny33ho1g45/4k3Lhj5hWuAxfBmPAqOYVe/4474ad100a57fa1eddfe880af5b70f2c/FINAL_Rubric_3Levels_V2.png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attendees for a private zero-to-five rating. Remove the status anxiety: a well-run Level 3 can outperform a poorly governed Level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Fancy Search is useful for learning and orientation. The trap is mistaking fluency for seller or account specificity.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five parts of the stronger request: seller, target, job, output, and guardrail. Quality still lives in the operator who knows what to paste.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the context window from the company brain. More files are not automatically better. Scope, ownership, and freshness matter.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  <a:p xmlns:a="http://schemas.openxmlformats.org/drawingml/2006/main">
            <a:r>
              <a:t>- /Users/treyharnden/Projects/forgex-practical-abm-skills/webinar/2026-09-17-ai-for-abm-foundations/northpeak/README.md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company brain centralizes reliable access, not necessarily every source file. GitHub is useful for plain text, review, portability, and history, but it is not the only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https://www.cerebras.ai/blog/how-we-built-our-knowledge-base</a:t>
            </a:r>
          </a:p>
          <a:p xmlns:a="http://schemas.openxmlformats.org/drawingml/2006/main">
            <a:r>
              <a:t>- https://www.stellarwork.com/captains-log/how-cerebras-built-their-company-brain</a:t>
            </a:r>
          </a:p>
          <a:p xmlns:a="http://schemas.openxmlformats.org/drawingml/2006/main">
            <a:r>
              <a:t>- https://docs.github.com/en/repositories/creating-and-managing-repositories/about-repositories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trade metaphor respectfully. Take portable methods and blank templates to a new role, never confidential company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/Users/treyharnden/Projects/forgex-practical-abm-skills/webinar/2026-09-17-ai-for-abm-foundations/slide-outline.md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the key mental shift slowly. A skill packages the judgment that usually hides in the best operator's head.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/Users/treyharnden/Projects/forgex-practical-abm-skills/skills/abm-strategist/SKILL.md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anatomy in order. Emphasize the stop condition: useful draft generation does not require publishing, sending, or spending.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/Users/treyharnden/Projects/forgex-practical-abm-skills/skills/abm-strategist/SKILL.md</a:t>
            </a:r>
          </a:p>
          <a:p xmlns:a="http://schemas.openxmlformats.org/drawingml/2006/main">
            <a:r>
              <a:t>- /Users/treyharnden/Projects/forgex-practical-abm-skills/shared/SAFETY.md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the community as a pattern library, not an app store. Keep 1:1 ABM Ads draft-only, with no live objects, activation, or spend. Audience ICP Filter has a conditional pass for reviewed list classification only: 22 synthetic attendees reconciled completely, nine required semantic review, and the corrected suite passes 45 of 45 checks. No enrichment, sending, CRM writes, or sequence enrollment.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https://github.com/swan-gtm/gtm-skills/tree/d378356a2668095d71e8dfb0661155255cf6776b/skills/erwann-lefevre/multichannel-campaign-builder</a:t>
            </a:r>
          </a:p>
          <a:p xmlns:a="http://schemas.openxmlformats.org/drawingml/2006/main">
            <a:r>
              <a:t>- https://github.com/swan-gtm/gtm-skills/tree/d378356a2668095d71e8dfb0661155255cf6776b/skills/ivan-falco/1-to-1-abm-ads</a:t>
            </a:r>
          </a:p>
          <a:p xmlns:a="http://schemas.openxmlformats.org/drawingml/2006/main">
            <a:r>
              <a:t>- https://github.com/swan-gtm/gtm-skills/blob/d378356a2668095d71e8dfb0661155255cf6776b/LICENSE</a:t>
            </a:r>
          </a:p>
          <a:p xmlns:a="http://schemas.openxmlformats.org/drawingml/2006/main">
            <a:r>
              <a:t>- /Users/treyharnden/Projects/Folloze-Skills-swan-eval/evaluations/swan-gtm/pilots/audience-icp-filter/sample-evaluation.md at local commit 938b70d760e002a85c5b0a6a83fe395403b98959</a:t>
            </a:r>
          </a:p>
          <a:p xmlns:a="http://schemas.openxmlformats.org/drawingml/2006/main">
            <a:r>
              <a:t>- /Users/treyharnden/Projects/forgex-practical-abm-skills/webinar/2026-09-17-ai-for-abm-foundations/sources-and-attribution.md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Level 4 adds time and state. The workflow must understand the current artifact, what changed, and what no change looks like.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Get the wording right: a cron job IN a trench coat. Respect deterministic workflows. The warning is about claiming judgment that the system does not have.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/Users/treyharnden/Projects/forgex-practical-abm-skills/webinar/2026-09-17-ai-for-abm-foundations/assets/cron-job-in-a-trench-coat.png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road analogy. Workflow is the marked route. Agent is the driver. MCP provides on-ramps. Governance defines the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- https://modelcontextprotocol.io/docs/getting-started/intro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Agency does not remove the human. The human owns the goal, authority, evaluation standard, and consequential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  <a:p xmlns:a="http://schemas.openxmlformats.org/drawingml/2006/main">
            <a:r>
              <a:t>- https://www.anthropic.com/engineering/building-effective-agents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quickly down the outputs. Level 5 still needs the prompt discipline, company brain, skill, and controls below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vanity metrics such as prompt count or number of tools purchased. Add operational measures when the system begins running without direct supervision.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attendees to choose Level 2 to 3 or Level 3 to 4. Be direct that Level 4 to 5 is not a generic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/Users/treyharnden/Projects/forgex-practical-abm-skills/webinar/2026-09-17-ai-for-abm-foundations/attendee-resource-guide.md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Switch screens only after orienting the audience. Run the Level 3 prompt, inspect the output, then explain Level 4 without activating a schedule.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/Users/treyharnden/Projects/forgex-practical-abm-skills/webinar/2026-09-17-ai-for-abm-foundations/live-demo-runbook.md</a:t>
            </a:r>
          </a:p>
          <a:p xmlns:a="http://schemas.openxmlformats.org/drawingml/2006/main">
            <a:r>
              <a:t>- /Users/treyharnden/Projects/forgex-practical-abm-skills/webinar/2026-09-17-ai-for-abm-foundations/demo/demo-prompts.md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9ab6ed0b542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509817a4544b83" /><Relationship Type="http://schemas.openxmlformats.org/officeDocument/2006/relationships/slideLayout" Target="/ppt/slideLayouts/slideLayout1.xml" Id="Rc81dff7d7b5843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1dff7d7b5843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c0c3ed8914d6b" /><Relationship Type="http://schemas.openxmlformats.org/officeDocument/2006/relationships/notesSlide" Target="/ppt/notesSlides/notesSlide1.xml" Id="R4304df832ea84c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fac26935c43cc" /><Relationship Type="http://schemas.openxmlformats.org/officeDocument/2006/relationships/notesSlide" Target="/ppt/notesSlides/notesSlide2.xml" Id="R528127fea33045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dcd6d830a473a" /><Relationship Type="http://schemas.openxmlformats.org/officeDocument/2006/relationships/notesSlide" Target="/ppt/notesSlides/notesSlide3.xml" Id="Rb8d35483f8d043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d6be7101e458b" /><Relationship Type="http://schemas.openxmlformats.org/officeDocument/2006/relationships/image" Target="/ppt/media/image.png" Id="Rdbc10d1003154b06" /><Relationship Type="http://schemas.openxmlformats.org/officeDocument/2006/relationships/notesSlide" Target="/ppt/notesSlides/notesSlide4.xml" Id="R2ffd8893964842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70fd922074793" /><Relationship Type="http://schemas.openxmlformats.org/officeDocument/2006/relationships/notesSlide" Target="/ppt/notesSlides/notesSlide5.xml" Id="R82ac21f01bf349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d0e9a6bf94842" /><Relationship Type="http://schemas.openxmlformats.org/officeDocument/2006/relationships/notesSlide" Target="/ppt/notesSlides/notesSlide6.xml" Id="R7e73c742620f4c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aeb6833184198" /><Relationship Type="http://schemas.openxmlformats.org/officeDocument/2006/relationships/notesSlide" Target="/ppt/notesSlides/notesSlide7.xml" Id="Ref9e113ec7fc43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8f04652854d8b" /><Relationship Type="http://schemas.openxmlformats.org/officeDocument/2006/relationships/notesSlide" Target="/ppt/notesSlides/notesSlide8.xml" Id="R4dea1f2406f34f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bf388619d489a" /><Relationship Type="http://schemas.openxmlformats.org/officeDocument/2006/relationships/notesSlide" Target="/ppt/notesSlides/notesSlide9.xml" Id="R69932ac44ed340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8b379bb1d4caf" /><Relationship Type="http://schemas.openxmlformats.org/officeDocument/2006/relationships/notesSlide" Target="/ppt/notesSlides/notesSlide10.xml" Id="R7e6f7617dc3444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1e3d68cd946c2" /><Relationship Type="http://schemas.openxmlformats.org/officeDocument/2006/relationships/notesSlide" Target="/ppt/notesSlides/notesSlide11.xml" Id="Rb649c755dcdc4e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dd1af6b0e4fe9" /><Relationship Type="http://schemas.openxmlformats.org/officeDocument/2006/relationships/notesSlide" Target="/ppt/notesSlides/notesSlide12.xml" Id="Rbe81ea7294fa4c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2cb9e309948ba" /><Relationship Type="http://schemas.openxmlformats.org/officeDocument/2006/relationships/notesSlide" Target="/ppt/notesSlides/notesSlide13.xml" Id="Rc788a1ed038145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af9372b214126" /><Relationship Type="http://schemas.openxmlformats.org/officeDocument/2006/relationships/notesSlide" Target="/ppt/notesSlides/notesSlide14.xml" Id="R5ae3451fb6c744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3361f43804d41" /><Relationship Type="http://schemas.openxmlformats.org/officeDocument/2006/relationships/image" Target="/ppt/media/image2.png" Id="Rad071b778bec4dad" /><Relationship Type="http://schemas.openxmlformats.org/officeDocument/2006/relationships/notesSlide" Target="/ppt/notesSlides/notesSlide15.xml" Id="R23db20e0bc5543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f34b9816842ca" /><Relationship Type="http://schemas.openxmlformats.org/officeDocument/2006/relationships/notesSlide" Target="/ppt/notesSlides/notesSlide16.xml" Id="R4d59496a0608413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2ddc7e0804e06" /><Relationship Type="http://schemas.openxmlformats.org/officeDocument/2006/relationships/notesSlide" Target="/ppt/notesSlides/notesSlide17.xml" Id="R132e9cf55a3f40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e624accc448c5" /><Relationship Type="http://schemas.openxmlformats.org/officeDocument/2006/relationships/notesSlide" Target="/ppt/notesSlides/notesSlide18.xml" Id="R7fab5dab2c4244a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70d84839b4db4" /><Relationship Type="http://schemas.openxmlformats.org/officeDocument/2006/relationships/notesSlide" Target="/ppt/notesSlides/notesSlide19.xml" Id="R8dbd9172f95b4ab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7d3a35eab450c" /><Relationship Type="http://schemas.openxmlformats.org/officeDocument/2006/relationships/notesSlide" Target="/ppt/notesSlides/notesSlide20.xml" Id="Rc99629925840431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b3c59b6694d20" /><Relationship Type="http://schemas.openxmlformats.org/officeDocument/2006/relationships/notesSlide" Target="/ppt/notesSlides/notesSlide21.xml" Id="R2a5da41e12e34a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0189193-51FF-441F-A11F-2CED8A8A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C83A2-D74B-46CC-AAC4-F0A7481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E6ABD-305C-4D9A-BFFC-E18A1FEF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27283-F72F-4DBB-9F52-15F13FA7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0F6B8B-2DA0-4B30-A39A-E1374800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68B2C-FC37-44F5-B4BE-61EADE8E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249D9-710E-4976-BE22-0A658F29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C3E7D-7E79-42A9-A2AD-7F07CE36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E344E0-5B3A-4161-BD8A-38903E8A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3F585-E65E-4928-A2F6-4E943D32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D0679-7619-4AF9-AEBF-DEB96EDB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80088-EACB-4E1D-8F55-2769C64D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03662A-2F83-430E-A829-090E8BBE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6C3DB-1ADB-4926-ADCD-AC7CCF92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1A7F5-9AC2-40C7-8513-D667281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5AFB9-2EA4-47BF-BD59-A1FE73A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9DFEB1-CF8C-454C-BB3B-0057420D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856CE1-32F0-4DD9-92F5-2010504F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A857A-F2B2-4243-9923-3741A5F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0E9E0C-3AD2-489B-8EDF-295DFA2E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252FF-096C-43AB-A493-7D51DE47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2A9B45-FA24-47C5-A580-62CE7C4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02FC1-DC36-48F5-A738-6400D65E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DE0B3F-AF6D-4D1D-8CBF-769F3FF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CE4A7E-F6A3-45C1-8CE1-514EC82C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EBD81E-1EFA-4DFB-90CD-12F54E72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C5F6DA-7E7E-47D3-9D61-8B011C3B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B47FE-0A55-4C20-BD1B-6457D9AB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68183-CFFD-4758-A5FA-BD688F6D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BCF6C0-3107-4895-AFC0-26D902E8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2A8F16-E06E-4087-8646-36378630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A0D897-E7EA-4BD9-A5F8-B33B2862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6A453A-B080-4778-934D-266782BC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4013AE-F9D0-4353-AF92-BAEB1EE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C60EC0-1332-4796-85BF-35466DB4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1B6747-0B15-4072-A951-4C368B36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8B2831-DB24-47D7-BAFD-89C98392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531EF5-FE11-4E42-BDAB-7E402D0A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123468-671B-48C8-855D-DAC1BEDC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1D4FDD-DB02-4A30-8374-50293716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9ABDB2-C0DD-4DEF-8648-43F7E689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668BF7-6061-41C2-9F06-7DAC53E9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3AC75C-DDBF-458C-8FBE-88743B4F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SEPTEMBER 17, 2026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743645-D14E-4ECE-9927-1DE04990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63888"/>
                </a:solidFill>
              </a:defRPr>
            </a:pPr>
            <a:r>
              <a:rPr sz="3600" b="1">
                <a:solidFill>
                  <a:srgbClr val="E63888"/>
                </a:solidFill>
              </a:rPr>
              <a:t>AI for ABM: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51BF18-C614-400D-9319-34600079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7810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What You Need to Know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About MCPs, Agents &amp; Prompts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79BC6D-B0F1-4D0D-A8F8-86771827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AE3EC"/>
                </a:solidFill>
              </a:defRPr>
            </a:pPr>
            <a:r>
              <a:rPr sz="1875" b="0">
                <a:solidFill>
                  <a:srgbClr val="EAE3EC"/>
                </a:solidFill>
              </a:rPr>
              <a:t>How to move from AI questions to governed ABM outcomes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B22303-D783-4F96-8713-C04AD9A4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438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93DA4-67F5-48A9-84CD-4083C488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TREY HARNDEN  |  FORGEX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6D8319-A95E-41F1-8CB4-A43B9DC2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12 PM ET  |  LIVE WORKSPACE BUILD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FA92E1-23C3-451A-99E6-9D22FC9A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476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5C0A1A-CF12-4CF3-B1CB-8C2D5A2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2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4B82B5-1C9F-47F7-95D2-9EE4E071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600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9749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2E0E67-6D6E-4181-8A21-6AF241F3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5CF69-521A-4E11-B971-990CCBC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58DA5-F9C5-41D0-B79D-1A8AFA52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BRIDGE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DA56E-DB7C-4165-8C4E-A40BE95A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Part I showed the output. Part II builds the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D3EAA-4CD2-4B13-9A38-F11605FE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EE026-2928-4514-A6E5-0DF07549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154FF-F525-4E53-BEBA-B2DAF176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12E9E-8E71-421E-925E-1FDACFCF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A0024-5B00-4975-BCFD-360746F7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PROPENSITY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0F824-6F08-4EBF-823E-48222807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Who is likely to care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13D68-627C-493C-BAC4-6B9B6F3C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ED82D-E3B0-4121-AB46-F06A620A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A41881-6D90-4068-BEA7-A10BBAB1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AFACB-104F-4520-AD64-C15542A7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LANDING PAGES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0D215-D187-484C-B8BB-7C609CFC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A focused destination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B6B17-0BF1-4B21-813B-BD167C85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04220D-2FF1-4150-9E59-7E82D7D2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FB587D-B45C-4730-95A9-124B270F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A5C050-8040-4C69-968B-6BA9EB93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MICROSITES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675671-40CD-4FB3-9199-C68776A8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A personal experience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2E5A2-E7CE-4E5B-8849-C7F84E3A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673731-AFD0-4D4C-80C8-B32D12C2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9C7C6D-7D10-4015-AFF5-EDD421C5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8E39B2-CBFF-4D68-B266-45503ACF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OPERATING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F7C02F-793E-4069-98D6-30CB3FE0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AE3EC"/>
                </a:solidFill>
              </a:defRPr>
            </a:pPr>
            <a:r>
              <a:rPr sz="1125" b="0">
                <a:solidFill>
                  <a:srgbClr val="EAE3EC"/>
                </a:solidFill>
              </a:rPr>
              <a:t>The context, skills, access, and review underneath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1F2AD6-EA40-4334-9E2D-1FEB26D0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1F5C"/>
                </a:solidFill>
              </a:defRPr>
            </a:pPr>
            <a:r>
              <a:rPr sz="2100" b="1">
                <a:solidFill>
                  <a:srgbClr val="3D1F5C"/>
                </a:solidFill>
              </a:rPr>
              <a:t>The page was never the whole product. The repeatable system is the real asset.</a:t>
            </a:r>
          </a:p>
        </p:txBody>
      </p:sp>
    </p:spTree>
    <p:extLst>
      <p:ext uri="{BB962C8B-B14F-4D97-AF65-F5344CB8AC3E}">
        <p14:creationId xmlns:p14="http://schemas.microsoft.com/office/powerpoint/2010/main" val="4568418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9CF7F1-F9DB-4D70-9422-6B5B11C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B4A0F-664C-4950-B993-FBF01DAC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8F49C-FA24-4F3A-B322-61F31695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SHARED VOCABULARY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DF99A-0041-4AB3-976A-98EF1FE7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Nine terms. One operating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06E5A-C4BC-492F-8813-A9B63926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8165D-BFB2-461E-A409-2AC8BDC9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49FDB-2F51-4EF5-BCB7-456E4599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0250"/>
            <a:ext cx="76200" cy="3714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D106B-2451-412E-8102-61C66EA8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9240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716DD-7525-4185-BA84-33BA93FF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24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reasons and generates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FD020-55AB-430D-BBEF-8B159BF7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HARNESS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FFF00-4AE9-401E-86D7-3622ED6C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479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holds files, tools, state,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583E8-B1BE-4BC9-A18F-5FCCA3EB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371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CA439-F925-4FBF-B153-BC7DE52D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71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directs this request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88FCF5-9033-4F9B-B90B-2B233556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95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5644C8-E954-4BF9-B05C-245BE3BF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95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grounds the work in evidence and rules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BCA2E5-603C-4FAA-B267-53512A76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19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SKILL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E5C657-5536-4B0C-A6B8-17C50A1A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19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standardizes a reusable process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B2C34B-8C7B-4482-A375-73B70824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240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TOOL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2DD2BE-E9DA-4563-97A2-6DB4BEF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24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performs a capability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5E73EB-18A7-4085-A51E-59D420C9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MCP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BDE34D-A123-4288-BD1D-FF121D22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479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connects approved resources and tools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46C77D-440A-4785-AB7B-9315AA40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AUTOMATION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46889-BDCA-435A-B051-42FD6895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71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runs a known path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232037-C2DF-45C9-8205-6B373E28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AGENT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99E10-1C54-4382-A2E6-7E4BBD32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95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chooses a path toward a goal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278179-8802-45F0-9112-86D69A2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7150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Access is not permission. Fluency starts with knowing which layer owns which decision.</a:t>
            </a:r>
          </a:p>
        </p:txBody>
      </p:sp>
    </p:spTree>
    <p:extLst>
      <p:ext uri="{BB962C8B-B14F-4D97-AF65-F5344CB8AC3E}">
        <p14:creationId xmlns:p14="http://schemas.microsoft.com/office/powerpoint/2010/main" val="1418944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5AD2D-92E3-4AFD-8640-F34B9CC4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CACE1D-2DC9-423E-8F9F-47270453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F6D15-06A5-4DA9-8AB4-1741F4D6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ZAPIER V2 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C841A-D130-4B8F-9B09-DFE1D458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Fluency is observable behavior, not tool familiarity.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EA574-AD55-4931-A984-95992245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2D0B9-7E81-4B0F-A91E-7F8794B7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D810A-8B7A-4F36-9CD1-32DB182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CAPABLE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28331-975D-48F0-88F0-039134B9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ADOPTIVE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01805-4BE1-4D42-8C27-1096E4B9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7F25C"/>
                </a:solidFill>
              </a:defRPr>
            </a:pPr>
            <a:r>
              <a:rPr sz="2100" b="1">
                <a:solidFill>
                  <a:srgbClr val="C7F25C"/>
                </a:solidFill>
              </a:rPr>
              <a:t>TRANSFORMATIVE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6CEFE-8FFA-4EF9-B97E-EC2EBB0B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AE3EC"/>
                </a:solidFill>
              </a:defRPr>
            </a:pPr>
            <a:r>
              <a:rPr sz="1500" b="0">
                <a:solidFill>
                  <a:srgbClr val="EAE3EC"/>
                </a:solidFill>
              </a:rPr>
              <a:t>Mindset  •  Strategy  •  Building  •  Accountability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98A10-566F-4312-BC4C-F331789B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ForgeX adds the ABM infrastructure between a good prompt and a governed outcome.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c10d1003154b06"/>
          <a:stretch xmlns:a="http://schemas.openxmlformats.org/drawingml/2006/main"/>
        </p:blipFill>
        <p:spPr>
          <a:xfrm xmlns:a="http://schemas.openxmlformats.org/drawingml/2006/main">
            <a:off x="5575569" y="1790700"/>
            <a:ext cx="5803363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438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DE1EBC-724A-45FC-B441-1513B913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BC6BC-62B2-433C-A616-A569A75D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7ACA7-A734-4752-AA5C-0C6ABABC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FORGEX AI FOR ABM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7DBF0-FED5-4C59-AA5D-1DF7A236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Move up one useful level.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CD021-CF91-4BCD-9DBA-17A164C8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39D64-DFA9-4232-A480-016D252D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B929D-A372-4313-9E29-A19D287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1600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60CFB-B3FA-4B3D-8BE7-9ED41472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5A474-A498-4CBB-90FC-F3E2A150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FANCY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891E6-A500-4C42-932A-61108D3D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24350"/>
            <a:ext cx="16002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C8408-F7C6-4A6A-A2B9-6C46970F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577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2C48B-F065-4C87-857A-286F891D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CONTEXTUAL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CD40D-BFE9-4A7E-9422-58F45312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1600200" cy="18478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607CCA-4140-4633-9D1F-96997A72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957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94F2C3-347B-4710-A090-0F9E8CBD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GROUNDED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WORKSPACE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3CCD5-0E84-4A2B-BF7C-157ACDE4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00450"/>
            <a:ext cx="1600200" cy="22098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3A85E-78B5-440D-B671-146A3D38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6C312A-0C7B-4BB8-A7DF-A6440E91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REUSABLE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3CC54-BFE8-4F3B-BEE0-45386D15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1600200" cy="2571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247AB-E184-4BBD-B793-5D8A2DDF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718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ED991D-3F0E-40E3-96B8-2757B792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GOVERNED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AUTOMATION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88D09-7000-4AA3-A7A4-119E5851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76550"/>
            <a:ext cx="1600200" cy="29337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710083-FE07-4448-8CDC-C868C3E7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09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1B64C4-5CDE-4F41-9105-C83505FC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GOAL-DRIVEN</a:t>
            </a:r>
          </a:p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68B0F6-4A3D-4F6A-96C3-3873C9F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Do not jump to Level 5. Earn the context, process, and controls underneath it.</a:t>
            </a:r>
          </a:p>
        </p:txBody>
      </p:sp>
    </p:spTree>
    <p:extLst>
      <p:ext uri="{BB962C8B-B14F-4D97-AF65-F5344CB8AC3E}">
        <p14:creationId xmlns:p14="http://schemas.microsoft.com/office/powerpoint/2010/main" val="1133016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97CE4-3F03-4579-B2A0-B6FC7327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FEAFA-6AA6-4C86-911C-8C34DEA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401D-F40A-4A63-9DF1-D17DCE49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36410-C704-4596-8E05-DEB48FCE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0: Fancy 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C42DC-B54E-4AD8-BFE8-E3D70300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0EA75-584D-4EFE-A9DC-F6F30D66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03C86-CF05-4576-9431-C8CD608F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3875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E8872-114B-497B-8D6C-80981E6F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B02E3-D289-4994-A8D9-DBE8FEA1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781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Teach me about AI security for manufacturers. Give me five campaign ideas.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25EE5-25F2-4895-9868-B6992394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38350"/>
            <a:ext cx="535305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15CD8-C127-467D-B92A-53D1B904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28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49F64-4FA0-41B1-ACDA-C4EEF12A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8958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Generalized ideas you still have to sift, verify, and rebuild.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308FC-AB3F-47AE-98DA-30ACD610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63888"/>
                </a:solidFill>
              </a:defRPr>
            </a:pPr>
            <a:r>
              <a:rPr sz="2400" b="1">
                <a:solidFill>
                  <a:srgbClr val="E63888"/>
                </a:solidFill>
              </a:rPr>
              <a:t>A fluent answer is not an account insight.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A02E0-AA70-4A0B-8176-8920A6D3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A13B0-3640-4040-A5F5-49A0DEC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B7E5B6-CB79-4249-8796-61D2FDDF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Model or search interface</a:t>
            </a:r>
          </a:p>
        </p:txBody>
      </p:sp>
    </p:spTree>
    <p:extLst>
      <p:ext uri="{BB962C8B-B14F-4D97-AF65-F5344CB8AC3E}">
        <p14:creationId xmlns:p14="http://schemas.microsoft.com/office/powerpoint/2010/main" val="1647428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2F722-2756-43C9-9F8A-05760612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279A0-5A6A-4FFA-ABC1-1A8EA622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9E4C6-AFE2-45E6-8613-258C9DF8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27497-7FD5-435B-94C1-A5C7631D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1: Contextual Copilot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6CBCF9-297A-40EC-8C93-F0664115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FE01B-6FD1-4CBC-8AF4-DC89986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76640-982D-45A3-8B33-B806D9C2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000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85B15-BAE7-4D5F-8CDD-A00C95E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2B976-BFD0-4108-8990-53791A4A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543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North Peak sells Discover, Protect, and Monitor. Alder is expanding industrial AI. Draft three campaign premises for a VP of Infrastructure. Separate facts from hypotheses.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84B088-F6ED-4BA3-812C-2D74B23C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45910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1E495D-43A3-491A-A1A1-BFA4BBA6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BEC1F-8300-4441-B4E4-19DC6EF3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95550"/>
            <a:ext cx="41338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more relevant one-off draft.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ED324B-2A41-487A-B776-AED41029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81450"/>
            <a:ext cx="4267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The marketer still knows what to paste, what to ask, and what to correct.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979C6-10B6-4273-904F-72B3F5F3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9D35D-5396-4908-B051-78479CF4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43102-2403-4508-8234-95EE1AF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Structured prompt  +  supplied context  +  human iteration</a:t>
            </a:r>
          </a:p>
        </p:txBody>
      </p:sp>
    </p:spTree>
    <p:extLst>
      <p:ext uri="{BB962C8B-B14F-4D97-AF65-F5344CB8AC3E}">
        <p14:creationId xmlns:p14="http://schemas.microsoft.com/office/powerpoint/2010/main" val="12368444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A4E60-EEE5-44ED-A653-22D82AA3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5FCAB-9045-473D-BF03-D8CE3BB6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BA9CD-DC2F-4816-BB59-E7987879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5095C-4460-40FA-839E-FDADB1C3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2: Grounded Workspace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42B9E-666B-4948-B340-A6753EB5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90D6F-C23C-4D0B-A533-0DDCBF7C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949D1-B17E-419C-B9CE-B6DC2E26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000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3D46C-58B2-4167-BB14-7D120B3B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67043-13CE-4925-87BB-505F558F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543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Use the North Peak company brain and Alder evidence pack. Recommend one campaign premise. Cite the source file for each material claim.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BDB09-4936-4B4E-AAAC-757B564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45910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97051-3937-40E7-81E0-5186342D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6BE57-A19B-44A2-AB6B-30D015B6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95550"/>
            <a:ext cx="41338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grounded draft that uses the same brand, ICP, persona, product, and proof rules every time.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26CD6-17C8-4A52-A841-E5C4ADC6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1005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E63888"/>
                </a:solidFill>
              </a:defRPr>
            </a:pPr>
            <a:r>
              <a:rPr sz="2250" b="1">
                <a:solidFill>
                  <a:srgbClr val="E63888"/>
                </a:solidFill>
              </a:rPr>
              <a:t>Stop making the model relearn the company.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E180E2-83FD-422B-BE2F-59B6A919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D2C6A6-8854-4A03-BCE7-70B4C10E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12F15-69D4-432D-B0CA-335E104A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Persistent, approved context</a:t>
            </a:r>
          </a:p>
        </p:txBody>
      </p:sp>
    </p:spTree>
    <p:extLst>
      <p:ext uri="{BB962C8B-B14F-4D97-AF65-F5344CB8AC3E}">
        <p14:creationId xmlns:p14="http://schemas.microsoft.com/office/powerpoint/2010/main" val="8435556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325DCF-7DDC-4024-8D44-610CA20F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5D602-98C0-4C55-B307-1CA6A3CC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8AE03-4A44-48CD-AC7A-20AA0AA7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GROUNDED WORKSPACE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6662A-B2C7-4EE4-9634-0B9B5676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Build a company brain, not a document dump.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84CF3-B8C5-454A-A4EC-607AEFAD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203D5-6FA7-48BC-A361-C7F54F27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A0FBC-A6CC-47A6-9B4F-9CEC06DF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49530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FD0F6-55FE-4FA9-B45D-10848069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NORTH PEAK /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A1A-E85D-4E32-807C-2046963F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/brand-guidelines.md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575D2-891A-4E68-84BE-58277C30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/messaging-framework.md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9D750-B1F3-4B22-9044-D0C726AA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/icp.md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E7AC9-1DCF-4F69-A167-C9E954F2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/personas.md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BE8417-8163-4E9B-AD51-33F57BDE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/product-portfolio.md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DBD55-639A-4BAA-B769-CC749281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/proof-and-claims.md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3BBE3-FB0F-4851-84FB-5AEC7264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F25C"/>
                </a:solidFill>
              </a:defRPr>
            </a:pPr>
            <a:r>
              <a:rPr sz="1350" b="1">
                <a:solidFill>
                  <a:srgbClr val="C7F25C"/>
                </a:solidFill>
              </a:rPr>
              <a:t>/source-manifest.md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EC5FB-ABF6-436F-B619-B851CA57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SCOPED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C5FDF-2B6A-4455-B935-2F277A35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Only what this job needs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40E2C-3A24-48BC-A93F-870E37B2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SOURCE-BACKED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D77DE-C812-4572-AC4B-A8E1D143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384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Claims retain provenance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52E022-00E5-4E21-8006-38BBE507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FRESH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BFB154-6867-493A-BA82-61543DD0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433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Owners and review dates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2B791B-9BE6-4CA2-93DA-776CF7E1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481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PERMISSION-AWARE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486F4E-8DB2-4A51-B876-6FA91973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Access follows policy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66FA7-5B5A-4C91-B487-F66E20E1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VERSIONED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9DA8CA-A7CE-4046-A59D-5E0C7EFC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53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Changes stay inspectable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D7E223-4FA0-48B2-BC5E-FA97BA4B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7690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GitHub is one useful pattern. The rule is durable ownership and change history.</a:t>
            </a:r>
          </a:p>
        </p:txBody>
      </p:sp>
    </p:spTree>
    <p:extLst>
      <p:ext uri="{BB962C8B-B14F-4D97-AF65-F5344CB8AC3E}">
        <p14:creationId xmlns:p14="http://schemas.microsoft.com/office/powerpoint/2010/main" val="17807447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B90C86-D704-4030-B917-BE4A92A1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F3737-52EB-481B-B43D-E8170A4F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68D11-508C-40C6-87B7-EB428BBE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PORTABLE MARKETER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F05D9-556C-4924-ACBA-0302A7F2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Learn the plumbing. Keep the durable parts portable.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52CE6-7769-4755-A1BE-843BFF1C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7D5F7-F04C-4463-A5E5-A470881A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DE48-F18A-4BA8-82C7-D259C396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FIXTURES 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91E1E6-8EED-4864-BBB3-C656EF6C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AD8AA-7FAE-4C70-B0B8-34F5CE6A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1E8B4A-ABB4-4182-8F85-18019C97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D9A1B-6C1F-49BE-8108-F4033B72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HARNESSES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E4CCE-621F-4541-9D7A-878EED4B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E080D-401C-4E18-BE69-25E4F1CD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CONNECTORS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CBCCD7-0BBD-4724-8A18-D336EF00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C4467B-EA5F-4EE4-A50F-04A5A315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EMPLOYERS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EA36B-E5CD-4C75-B9AE-FACDB21D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9906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60167B-5594-4BDE-BA67-C456FEEF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4C067-A642-43BA-AA82-E9F3B1A5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EF7BF7-5594-4F44-896B-C25771D7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985FA6-FC0D-45BD-9533-66647A7D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3ADB68-269A-4BD0-BA49-3BDD2C15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CRAFT COMPOUNDS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7275ED-BA1E-431F-B746-8AEDFFE6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1619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A2185C-3975-4161-AF8E-97B09510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A7ACE-577D-443D-AAC7-41992AC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4E3C7-893E-4EE2-8DE2-9B657558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863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DF324C-D196-4F65-B632-F4FE37CA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386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4F0BEA-E794-4EEF-85CB-1FC9DD93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863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TEMPLATES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CCF69-659E-4446-ADAF-9058C21E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38650"/>
            <a:ext cx="1238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B45DD-2128-4789-A341-6848070A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8630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6E4A3F-76ED-4281-A96C-6D338C59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438650"/>
            <a:ext cx="2286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A80CC8-C161-4B69-AAD1-8C6D0FD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863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DECISION HISTORY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65261-61FC-4355-9AC0-2DF3CE33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1043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7F25C"/>
                </a:solidFill>
              </a:defRPr>
            </a:pPr>
            <a:r>
              <a:rPr sz="1800" b="1">
                <a:solidFill>
                  <a:srgbClr val="C7F25C"/>
                </a:solidFill>
              </a:rPr>
              <a:t>Company tools are fixtures. Your ability to reconnect the system is the craft.</a:t>
            </a:r>
          </a:p>
        </p:txBody>
      </p:sp>
    </p:spTree>
    <p:extLst>
      <p:ext uri="{BB962C8B-B14F-4D97-AF65-F5344CB8AC3E}">
        <p14:creationId xmlns:p14="http://schemas.microsoft.com/office/powerpoint/2010/main" val="12735232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DD7DF1-E097-4AF5-B12E-AAE7A959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7D004-52D8-45EE-B72F-E514FFC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CBA0C-E405-473D-94D3-7F14A28C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1DA37-A7FF-4007-A1E6-66442D5D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3: Reusable Skill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23D8F-D711-496E-B9C2-8F40C8AA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BC8D1-657B-4C8F-94A8-19F09880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752D3-9A0B-4981-9BC8-CDAE2F0A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E6873"/>
                </a:solidFill>
              </a:defRPr>
            </a:pPr>
            <a:r>
              <a:rPr sz="2100" b="1">
                <a:solidFill>
                  <a:srgbClr val="6E6873"/>
                </a:solidFill>
              </a:rPr>
              <a:t>TELL ME X ANSWER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6FED50-7FFC-4C66-A011-EBACE113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431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56125-1715-467C-AE99-1F968740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47850"/>
            <a:ext cx="5429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1F5C"/>
                </a:solidFill>
              </a:defRPr>
            </a:pPr>
            <a:r>
              <a:rPr sz="2400" b="1">
                <a:solidFill>
                  <a:srgbClr val="3D1F5C"/>
                </a:solidFill>
              </a:rPr>
              <a:t>PRODUCE Y OUTCOME</a:t>
            </a:r>
          </a:p>
          <a:p xmlns:a="http://schemas.openxmlformats.org/drawingml/2006/main">
            <a:pPr algn="l">
              <a:defRPr sz="2400" b="1">
                <a:solidFill>
                  <a:srgbClr val="3D1F5C"/>
                </a:solidFill>
              </a:defRPr>
            </a:pPr>
            <a:r>
              <a:rPr sz="2400" b="1">
                <a:solidFill>
                  <a:srgbClr val="3D1F5C"/>
                </a:solidFill>
              </a:rPr>
              <a:t>THROUGH THIS 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0953A-8A5F-4295-8A9D-34927225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2865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7ECBD-6440-4B8A-B83B-12537000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B730A-4DDA-4E2B-8FD3-19D6E780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58293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Follow the ABM Strategist skill. Use the North Peak corpus and Alder evidence. Produce the required campaign brief. Apply the output contract and QA. Stop before creative or outreach.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F0C0D-B8B3-40F1-B930-B3042317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43624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DC35B-226D-4C9F-B436-B62AF403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9F242-951A-4245-B9FB-7147EF6C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81400"/>
            <a:ext cx="3905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The same inspectable brief structure across accounts and users.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1C7773-D5C5-4BBF-802F-D08CAD4B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013DA3-4D83-4B62-B478-10B969F6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D6853-C55C-469F-973F-70790B7F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Skill  +  template  +  output contract  +  QA  +  stop conditions</a:t>
            </a:r>
          </a:p>
        </p:txBody>
      </p:sp>
    </p:spTree>
    <p:extLst>
      <p:ext uri="{BB962C8B-B14F-4D97-AF65-F5344CB8AC3E}">
        <p14:creationId xmlns:p14="http://schemas.microsoft.com/office/powerpoint/2010/main" val="124552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1DEC20-48A2-4C6A-99FA-0308FAFC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42E2C-192F-46D8-899E-F08571E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3A407-7C53-48DD-A46E-95BA5F63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SKILL ANATOMY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D342D-6057-49DD-A0BA-AE3C4554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skill is a small operating manual for an agent.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A9EFD-B332-473E-9D5C-86327615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13054-9C9B-440F-8A56-A75F1C76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363A3-C688-4BE8-BA84-0B93CDC1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341F2-CC5D-431D-ABF3-BCEDE5C9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E3E45-23E2-4D3E-98D7-C3D9BE8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WHEN TO 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48A01-AF2B-4897-B1F4-6D4E8CAE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A7E4B1-BAED-4AB2-93D9-A83E53FA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BFD13-958D-4820-BCC9-521F9CA4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2A9B0-4029-490B-8121-B5F00BD2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695FE-D7BA-4C81-BEF0-67301407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E5541-5FEF-42C3-AEE0-81C78E7C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C300D-A71A-49E3-A3E0-87F08366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E3D5A-5F0F-4B51-ABF0-D9A58B67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1EA5A9-5C5F-4BFD-B316-C299C35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35A257-CDA9-4E61-9413-F4F14D9D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C06DD-0107-4FA8-9F63-2100E43F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783EF7-3AC5-4307-ACEE-9A45575A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OUTPUT CONTRACT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DC5CAB-F0FD-4671-99E9-8A9CB91F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4016FB-E216-4124-99C9-8A4D0E2F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4F5793-6534-4EF2-ABFD-0E7E0F13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47B980-A3CD-4060-8FEF-9AFDCE73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QUALITY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E647C-ABA0-4EF5-9043-BEE33B0D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46330F-4B6A-4435-B5D3-8D4B133E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794D7F-3296-4A46-8098-C2051D62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B16FD2-F97F-4471-8643-C564C2E5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STOP CONDITIONS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BC76AA-1DCD-48B6-923E-B923645A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720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ABM Strategist turns evidence into an approval-ready account campaign brief.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AC39C-E2EA-471C-B20B-F73C004D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149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7F25C"/>
                </a:solidFill>
              </a:defRPr>
            </a:pPr>
            <a:r>
              <a:rPr sz="1575" b="1">
                <a:solidFill>
                  <a:srgbClr val="C7F25C"/>
                </a:solidFill>
              </a:rPr>
              <a:t>Fix the shared process once. Every future run starts stronger.</a:t>
            </a:r>
          </a:p>
        </p:txBody>
      </p:sp>
    </p:spTree>
    <p:extLst>
      <p:ext uri="{BB962C8B-B14F-4D97-AF65-F5344CB8AC3E}">
        <p14:creationId xmlns:p14="http://schemas.microsoft.com/office/powerpoint/2010/main" val="18899610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A2A58-B6A3-4F12-AA26-64E9AC21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2CC83-D8B7-4573-9B4F-A3C493E4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4AFE7-1416-428D-A28B-80E1A23F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SKILLS WORTH BORROWING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715B3-90B8-4152-9E77-7F8FB337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Borrow the pattern. Keep the attribution.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DB9E5-A3D3-44C1-AB44-F3F798CA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F224A-D629-4597-BBE6-D06C30BD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01B1A-7792-4694-8887-0E789A19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109347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4BA27-496D-46C1-A1B6-CD12DC5C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1F5C"/>
                </a:solidFill>
              </a:defRPr>
            </a:pPr>
            <a:r>
              <a:rPr sz="1500" b="1">
                <a:solidFill>
                  <a:srgbClr val="3D1F5C"/>
                </a:solidFill>
              </a:rPr>
              <a:t>MULTICHANNEL CAMPAIGN BUILDER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9DFBA-0055-4104-A65C-7F2BCEE4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Erwann Lefevre  |  Level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96FCD-6937-4F96-B405-7A231801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47900"/>
            <a:ext cx="567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intake → 3 angles → correction → channel rules → output → QA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C6C6A-0318-417A-8E11-52B33CCD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109347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7B650-BEA1-4A1C-95BC-60B712E3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433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1:1 ABM 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34335-083A-47EB-99CD-2685E604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Ivan Falco  |  Advanced Level 3 to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AA2D7-2FC3-44E9-960D-27948905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38550"/>
            <a:ext cx="567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SOPs → scripts → DRAFT creation → QA → explicit activation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A8C95-599F-4B02-851B-AE4A141F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ADOPT OR PILOT PATTERNS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707F9-0F90-449E-94F3-5C0BA1D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1F5C"/>
                </a:solidFill>
              </a:defRPr>
            </a:pPr>
            <a:r>
              <a:rPr sz="1275" b="1">
                <a:solidFill>
                  <a:srgbClr val="3D1F5C"/>
                </a:solidFill>
              </a:rPr>
              <a:t>Hiring verification  •  Signal interpretation  •  ICP reconciliation  •  Dated company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54B90F-4BE7-4939-8094-82914487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820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43F44-6815-41A3-A6C0-E8F24340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1F5C"/>
                </a:solidFill>
              </a:defRPr>
            </a:pPr>
            <a:r>
              <a:rPr sz="1050" b="1">
                <a:solidFill>
                  <a:srgbClr val="3D1F5C"/>
                </a:solidFill>
              </a:rPr>
              <a:t>AUDIENCE FILTER: 22 reconciled  |  9 semantic review  |  final 12 match, 1 review, 6 no match, 3 excluded  |  45/45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76A8D-6C9D-48D5-AD83-43765EE8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341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6873"/>
                </a:solidFill>
              </a:defRPr>
            </a:pPr>
            <a:r>
              <a:rPr sz="825" b="0">
                <a:solidFill>
                  <a:srgbClr val="6E6873"/>
                </a:solidFill>
              </a:rPr>
              <a:t>Conditional pass for reviewed list classification only. No enrichment, sending, CRM writes, or sequence enrollment.</a:t>
            </a:r>
          </a:p>
        </p:txBody>
      </p:sp>
    </p:spTree>
    <p:extLst>
      <p:ext uri="{BB962C8B-B14F-4D97-AF65-F5344CB8AC3E}">
        <p14:creationId xmlns:p14="http://schemas.microsoft.com/office/powerpoint/2010/main" val="2449479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5D7B75-411C-4715-97C8-C93B2B50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E7B7E-AE14-4E45-90F4-F85643CE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FD725-8BFA-46CB-ADB7-7DF7E985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078AE-E290-4B6E-931F-60B23E94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4: Governed Automation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5EDB9-0734-4697-A1BB-72D28526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6EB93-39F2-461B-8EDE-CF0E570B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EF974-3D24-4F42-898E-7C434AE0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1912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6B311-BE96-4938-8E8E-18F975D3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C06CC-FB98-4DE6-9CAF-9313F4E9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7340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Every Monday, check approved Alder sources. If material evidence changed, rerun the skills, update the brief, show the diff, and route exceptions. Do not publish or send.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E4488A-6C0A-448D-B1B4-D8807101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43100"/>
            <a:ext cx="44005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B191E-6F21-4DBE-8724-4D426E9E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B76DF9-750A-4D21-BC4E-E7380366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95550"/>
            <a:ext cx="39433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Updated brief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Diff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No-change record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Exception queue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Audit trail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62789-6150-496F-AAFB-A68A863D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1021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D1F5C"/>
                </a:solidFill>
              </a:defRPr>
            </a:pPr>
            <a:r>
              <a:rPr sz="1875" b="1">
                <a:solidFill>
                  <a:srgbClr val="3D1F5C"/>
                </a:solidFill>
              </a:rPr>
              <a:t>A good workflow records no change when the evidence does not justify a 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D8BDCE-25C6-47B5-B9DC-7FDE943E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771B2-BB78-4F18-8DD7-C6AA4BD5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DED99-E453-4AE7-90A7-976745B1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Trigger  +  state  +  routing  +  retries  +  monitoring</a:t>
            </a:r>
          </a:p>
        </p:txBody>
      </p:sp>
    </p:spTree>
    <p:extLst>
      <p:ext uri="{BB962C8B-B14F-4D97-AF65-F5344CB8AC3E}">
        <p14:creationId xmlns:p14="http://schemas.microsoft.com/office/powerpoint/2010/main" val="16199506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0F16D1-BEB6-4577-B456-3B5C957C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552D1-B8D7-462C-93B7-A8978D25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88C8DB-3E8A-4A74-8314-86700BD1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WARNING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BFF12-9F0F-4943-9175-B1F91237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cron job IN a trench coat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B3E56-F405-4ADF-AB38-C7F0FD2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CDD94-50C6-4597-95E3-1232D1BF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BD418-A172-46E0-BBA7-75BE82E4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Do not dress up a brittle automation</a:t>
            </a:r>
          </a:p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and call it an agent.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41A848-D021-48F1-B0DC-C40F5908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AUTOMATION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EA64D-AF49-4247-BA45-D8EB269C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AE3EC"/>
                </a:solidFill>
              </a:defRPr>
            </a:pPr>
            <a:r>
              <a:rPr sz="1650" b="0">
                <a:solidFill>
                  <a:srgbClr val="EAE3EC"/>
                </a:solidFill>
              </a:rPr>
              <a:t>Predetermined path and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24045-672E-4791-BA7C-1126157F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C928D-52C1-40BB-BD8E-FCB2DFF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Goal, dynamic planning, and tool choice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B0564D-C1B0-4391-8EEF-ECBA9772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Useful automation is still useful. Fake sophistication is the problem.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71b778bec4dad"/>
          <a:stretch xmlns:a="http://schemas.openxmlformats.org/drawingml/2006/main"/>
        </p:blipFill>
        <p:spPr>
          <a:xfrm xmlns:a="http://schemas.openxmlformats.org/drawingml/2006/main">
            <a:off x="7575550" y="1562100"/>
            <a:ext cx="317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540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1BC852-0853-44B2-98D5-EB70D410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6B65D-7C9F-4AC3-ACD0-851243F8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0C6EB-5E4B-4753-B156-AA58E83F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38E3F-9FCD-4DE5-9BCA-7D13FD2D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Workflow, agent, MCP, and governance solve different problems.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7E342-927D-406D-83BC-88C37C1D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C8315-58F0-4679-95FF-73B1CF8B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114AD-7448-4157-98FF-B0A3BC7F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4200"/>
            <a:ext cx="9906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08A57-65C6-4BB3-A622-70125C3B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1D2A5-3A8F-476F-829A-202721A6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24668-DB60-4BFA-A4A2-E43C8597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E6E7E-41D4-456E-8F17-B66ABC4D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defines a known route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F4EE19-9ABE-4999-A560-BEF17290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7DEA4-CCD0-4DDA-AACC-D3B80BBF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7C8B5-D54B-4611-97E2-2F50241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C3E9A-BCAB-496A-BB6D-C7730844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chooses the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42A33-AB49-4B48-86B3-B607DFDA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3C9AFC-5374-4CF7-AC15-CD1F159B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E21AE3-16EA-4936-86F7-065F9F16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840367-BE12-4DDA-AFF9-5E04FFA5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connects approved resources and tools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F7A1B-C5A3-4937-BC77-D57A517A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1458A6-17DD-44BE-B3AF-25E691C0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01722-0D67-4ACC-917F-E8133644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GOVERNANCE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172A48-393B-4CF2-8A66-1C8B2BD0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defines authority and human decisions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AB648-76D9-4ECF-B1E8-734B95DC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292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MCP gives access. It does not give judgment or permission.</a:t>
            </a:r>
          </a:p>
        </p:txBody>
      </p:sp>
    </p:spTree>
    <p:extLst>
      <p:ext uri="{BB962C8B-B14F-4D97-AF65-F5344CB8AC3E}">
        <p14:creationId xmlns:p14="http://schemas.microsoft.com/office/powerpoint/2010/main" val="1283519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20D83-9353-4374-B810-CF511368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6AE97A-63E3-4084-982B-3E9108D0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B94DD-C9A0-4BB4-8BDD-1FDDB524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LADDER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250EA-2D26-4DC5-9502-E15BF053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Level 5: Goal-Driven Agent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1A881-928B-4CE3-97D8-B65157EB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A807E-9826-44BD-A488-88109AB2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16D7E-7099-4435-B694-5ED49E9C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AE3EC"/>
                </a:solidFill>
              </a:defRPr>
            </a:pPr>
            <a:r>
              <a:rPr sz="2100" b="1">
                <a:solidFill>
                  <a:srgbClr val="EAE3EC"/>
                </a:solidFill>
              </a:rPr>
              <a:t>I GIVE YOU TEXT,</a:t>
            </a:r>
          </a:p>
          <a:p xmlns:a="http://schemas.openxmlformats.org/drawingml/2006/main">
            <a:pPr algn="l">
              <a:defRPr sz="2100" b="1">
                <a:solidFill>
                  <a:srgbClr val="EAE3EC"/>
                </a:solidFill>
              </a:defRPr>
            </a:pPr>
            <a:r>
              <a:rPr sz="2100" b="1">
                <a:solidFill>
                  <a:srgbClr val="EAE3EC"/>
                </a:solidFill>
              </a:rPr>
              <a:t>YOU GIVE ME AN ANSWER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7DE96-E710-4838-BD68-C97D02E4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717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1E539-8809-4F79-8254-2D0E6C77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6215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 GIVE YOU A GOAL,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YOU PRODUCE THE 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0AA13-CB69-496B-8F53-3DEBD38C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64770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550A1-0B33-453F-8D34-A24B865B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90F64-1043-472D-BC11-591C8BC9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6019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Increase qualified engagement across North Peak's top industrial AI accounts. Decide which accounts need research, a refreshed brief, a personalized experience, or no action. Request approval before activation.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E6740-4D4C-4337-A41D-9C534D8D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81350"/>
            <a:ext cx="4000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F407C-438C-4A7B-8283-E090DDBD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71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24D35-AE83-4E8F-965C-FE8CC6FF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33800"/>
            <a:ext cx="3543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prioritized plan and the right mix of research, briefs, experiences, and next actions.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99F40-2465-4891-956A-BE540BCA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577D3D-37DF-42A8-9BE5-12CB2D5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C13CD-9C84-436D-B7C6-1F0D67B4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Goals  +  planning  +  tool choice  +  evaluation  +  interrupt controls</a:t>
            </a:r>
          </a:p>
        </p:txBody>
      </p:sp>
    </p:spTree>
    <p:extLst>
      <p:ext uri="{BB962C8B-B14F-4D97-AF65-F5344CB8AC3E}">
        <p14:creationId xmlns:p14="http://schemas.microsoft.com/office/powerpoint/2010/main" val="17812044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4D89BC-6EEA-4F23-9F0B-DC59147F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1618F-36EB-4E74-9028-B8638B1C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C25444-EB17-441A-9783-8B1DFD4B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SAME JOB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A6E00-9D0E-4D6D-9C49-88B340D8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One ABM job across all six levels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A2AE5-3E09-4E0D-B30B-75C7505A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CA30B-8395-4BB5-8D8C-DB102D1C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D2447-B4D2-4A2C-A540-926745A0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Keep North Peak's Alder campaign current.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240E4-DBBA-42ED-AE57-E30C6C22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619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9D6E8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91393-2907-4643-9F25-8A1A5748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29411-0090-4FEE-AE2E-4442FE56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Generic ideas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F7A73-6CAD-4780-A50D-75D159F2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95800"/>
            <a:ext cx="16192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9D6E8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2EE845-0F84-4A0D-9E23-67FB5AC7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74AF9-E68C-47B1-80F9-234840AF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292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One-off tailored 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D9A1F-FEAE-4EE4-A695-225537D7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38600"/>
            <a:ext cx="16192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306FB-1EC6-49C5-B18D-40966F5B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719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F0BC70-70A0-45F4-B4F3-11174879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Grounded draft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80BFB-A135-45D9-9C13-1C7B443D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81400"/>
            <a:ext cx="1619250" cy="16764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BBFDF8-6461-4EBF-8A6C-3452A18D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40505-60D9-4315-8027-8693915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148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Repeatable approval-ready brief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C29829-A7B1-4BB9-AD5A-258886B4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24200"/>
            <a:ext cx="1619250" cy="18669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7F80E9-1034-484D-9641-FA434AED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67BF40-5C59-473C-9997-0E10C459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576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Refreshed brief, diff, exceptions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A0648D-82B9-442E-89B4-27D46229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67000"/>
            <a:ext cx="1619250" cy="20574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C648AE-4AD5-4FB3-ACAB-7634F4B3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8003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719139-70DF-45AA-A7EC-BCDEE309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004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Prioritized plan and required artifacts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AEA0B0-8A4E-4771-9EC4-F81948A0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674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The artifact becomes grounded and repeatable before it becomes autonomous.</a:t>
            </a:r>
          </a:p>
        </p:txBody>
      </p:sp>
    </p:spTree>
    <p:extLst>
      <p:ext uri="{BB962C8B-B14F-4D97-AF65-F5344CB8AC3E}">
        <p14:creationId xmlns:p14="http://schemas.microsoft.com/office/powerpoint/2010/main" val="11171605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5A3E4-528F-4C53-8A9E-947DEA21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1B889-8562-408F-95D2-37840AE2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FDA9B-9493-4106-B4B2-E4490F51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SCORECARD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5B4DB-BA33-4AFF-9ED2-2A44963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Measure outcomes, not AI activity.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36D14-9E4E-4B48-9007-8908A5B5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23618-2F61-46C7-98EB-23318472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2AF9B-9ADE-44AA-A7EF-1D57F8A9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SPEED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14145-0894-4115-9D52-11ABCE20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B8B7A-F454-4DE2-8778-952D2957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7F25C"/>
                </a:solidFill>
              </a:defRPr>
            </a:pPr>
            <a:r>
              <a:rPr sz="2850" b="1">
                <a:solidFill>
                  <a:srgbClr val="C7F25C"/>
                </a:solidFill>
              </a:rPr>
              <a:t>CONSISTENCY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6F54F-6881-4345-9DF5-0307D839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861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CAMPAIGN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BD2ED-2657-42A2-B702-22817B8D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861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PERSONALIZATION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45582-C116-4AC6-971A-F8F21E74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C3869-EA65-403F-8A5D-748A895A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E3EC"/>
                </a:solidFill>
              </a:defRPr>
            </a:pPr>
            <a:r>
              <a:rPr sz="1350" b="0">
                <a:solidFill>
                  <a:srgbClr val="EAE3EC"/>
                </a:solidFill>
              </a:rPr>
              <a:t>When the system runs without direct supervision, also track corrections, exceptions, failed runs, stale sources, unsupported claims, overrides, and cost per approved outcome.</a:t>
            </a:r>
          </a:p>
        </p:txBody>
      </p:sp>
    </p:spTree>
    <p:extLst>
      <p:ext uri="{BB962C8B-B14F-4D97-AF65-F5344CB8AC3E}">
        <p14:creationId xmlns:p14="http://schemas.microsoft.com/office/powerpoint/2010/main" val="19097150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285B68-505B-4CE7-8C52-B4CBBEFB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50EC-75EA-41DB-BD85-B8F9CDCE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85DDB-A97E-4592-9D91-152F0D64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THE PRACTICAL UPGRADE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44129-7D79-405E-9E10-B3C993D3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Most teams should focus 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FC3ED-39C3-4181-8F00-82D7F6E9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6B3E7E-35D4-4D9C-B1BC-724877F2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CBD30-CA4C-400C-8415-BBBFA023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012A0-6953-4DFB-93B8-F5742EAA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908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E63888"/>
                </a:solidFill>
              </a:defRPr>
            </a:pPr>
            <a:r>
              <a:rPr sz="34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A5812-1FD9-497A-89F2-8412AFCE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8652E-A886-4C38-A612-3362E5DF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908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E63888"/>
                </a:solidFill>
              </a:defRPr>
            </a:pPr>
            <a:r>
              <a:rPr sz="34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2E9F35-8488-408C-B2DC-B74818A9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6C8DA7-9D3E-41C5-91C4-71728B45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Ground the work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BA1BB-5D89-49A1-9A99-D4A624B2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Package the process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17947-726A-4A90-8898-C5AA57EB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Run it safely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4BC86-7098-41E8-B48B-FD736057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36766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00E7C-A6B9-4F48-9403-069346D3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6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YOUR STARTER KIT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AE459-788F-4EA8-A152-81C06D6A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009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North Peak company brain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Context Corpus Builder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ABM Strategist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30-day upgrade plans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C424E-08A1-4CC7-88D4-655EE34D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54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Level 4 to 5 needs a one-to-one architecture session around your systems, data, permissions, and failure tolerance.</a:t>
            </a:r>
          </a:p>
        </p:txBody>
      </p:sp>
    </p:spTree>
    <p:extLst>
      <p:ext uri="{BB962C8B-B14F-4D97-AF65-F5344CB8AC3E}">
        <p14:creationId xmlns:p14="http://schemas.microsoft.com/office/powerpoint/2010/main" val="205363970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F6AA55-F587-4B44-9D23-B2372222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45F42-76A1-4428-9E07-5166482A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B2727-6C06-4DED-A26A-D06CC260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15-MINUTE DEMONSTRATION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17F7C-1169-4FB2-97A9-EA83FAAA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Live build: fresh workspace to grounded ABM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D16660-D415-4C7F-B3F0-0D34A26C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0C1AB-12E2-4273-9F8C-C8529A67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09EFC-4D99-4998-9D1D-1BC195A6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7D6EE2-FF0B-4AC5-A00F-CF96BC53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478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5D6D2-5EB1-48FF-A714-C9087F29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716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Open a fresh Claude Code workspace through ForgeX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326AD-2620-4424-B28C-E8C2F99C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7FEED-6A28-4C6E-961A-9636F86E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90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D9D84-8515-49EB-A6CF-4BB21CB8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Bring in the ForgeX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FBB622-ED59-48A2-8CF6-B3555CBF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3731D-4595-42D0-9A11-FC194D02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337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D907D-CCA6-4D53-ABC3-B014D24F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Inspect safety, North Peak context, and ABM Strategist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15D471-BE21-46CE-A910-8ACDCE54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1300A9-4FBE-4F63-B27A-9E2F251D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438AD-E9F6-4DCD-A382-04C19124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Run the Level 3 Alder 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6D431-5CD5-463C-A363-DF6D350F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3B213F-AC5B-4E84-8BE7-21319AB7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1F5C"/>
                </a:solidFill>
              </a:defRPr>
            </a:pPr>
            <a:r>
              <a:rPr sz="1200" b="1">
                <a:solidFill>
                  <a:srgbClr val="3D1F5C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FF32E3-741A-4833-A644-49A3DF11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434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Review evidence, gaps, approvals, and the Level 4 extension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7224CD-E2EF-42C7-A154-03BF14E6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24100"/>
            <a:ext cx="2133600" cy="213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DC167C-0EB7-4FCC-B464-D61B706D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336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2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4D069A-8DCA-4286-B7D1-DA14720E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00350"/>
            <a:ext cx="1200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C7F25C"/>
                </a:solidFill>
              </a:defRPr>
            </a:pPr>
            <a:r>
              <a:rPr sz="4800" b="1">
                <a:solidFill>
                  <a:srgbClr val="C7F25C"/>
                </a:solidFill>
              </a:rPr>
              <a:t>15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C6C37C-B79C-445A-A172-82E8CA80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81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MINUTES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AD0854-334F-4AA1-A160-D72DFE0C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7F25C"/>
                </a:solidFill>
              </a:defRPr>
            </a:pPr>
            <a:r>
              <a:rPr sz="1725" b="1">
                <a:solidFill>
                  <a:srgbClr val="C7F25C"/>
                </a:solidFill>
              </a:rPr>
              <a:t>Leave with one repeated job you are ready to move up one level.</a:t>
            </a:r>
          </a:p>
        </p:txBody>
      </p:sp>
    </p:spTree>
    <p:extLst>
      <p:ext uri="{BB962C8B-B14F-4D97-AF65-F5344CB8AC3E}">
        <p14:creationId xmlns:p14="http://schemas.microsoft.com/office/powerpoint/2010/main" val="18353123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2026-08-26T20:57:31.2750000Z</dcterms:created>
  <dcterms:modified xsi:type="dcterms:W3CDTF">2026-08-26T20:57:31.2750000Z</dcterms:modified>
</coreProperties>
</file>