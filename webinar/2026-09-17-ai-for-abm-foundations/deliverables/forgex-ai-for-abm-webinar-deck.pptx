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b050e10d52475d" /><Relationship Type="http://schemas.openxmlformats.org/officeDocument/2006/relationships/extended-properties" Target="/docProps/app.xml" Id="R7a7ae818a37e4690" /><Relationship Type="http://schemas.openxmlformats.org/officeDocument/2006/relationships/officeDocument" Target="/ppt/presentation.xml" Id="R41029ba76d0341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7bc7f3a29044e1"/>
  </p:sldMasterIdLst>
  <p:notesMasterIdLst>
    <p:notesMasterId xmlns:r="http://schemas.openxmlformats.org/officeDocument/2006/relationships" r:id="R348283ae57114fe2"/>
  </p:notesMasterIdLst>
  <p:sldIdLst>
    <p:sldId xmlns:r="http://schemas.openxmlformats.org/officeDocument/2006/relationships" id="256" r:id="R61991f2bd73a4a15"/>
    <p:sldId xmlns:r="http://schemas.openxmlformats.org/officeDocument/2006/relationships" id="257" r:id="R9d2533b48fd34af5"/>
    <p:sldId xmlns:r="http://schemas.openxmlformats.org/officeDocument/2006/relationships" id="258" r:id="R43fbfac072414536"/>
    <p:sldId xmlns:r="http://schemas.openxmlformats.org/officeDocument/2006/relationships" id="259" r:id="R2df15b8232124295"/>
    <p:sldId xmlns:r="http://schemas.openxmlformats.org/officeDocument/2006/relationships" id="260" r:id="R74a38bfa3b9c4bca"/>
    <p:sldId xmlns:r="http://schemas.openxmlformats.org/officeDocument/2006/relationships" id="261" r:id="R94897d980b3e4a9a"/>
    <p:sldId xmlns:r="http://schemas.openxmlformats.org/officeDocument/2006/relationships" id="262" r:id="R3947c349eb104346"/>
    <p:sldId xmlns:r="http://schemas.openxmlformats.org/officeDocument/2006/relationships" id="263" r:id="Rbfbd6e30e71c4b25"/>
    <p:sldId xmlns:r="http://schemas.openxmlformats.org/officeDocument/2006/relationships" id="264" r:id="Rd7b622fce54144bf"/>
    <p:sldId xmlns:r="http://schemas.openxmlformats.org/officeDocument/2006/relationships" id="265" r:id="Rb860ed1241824795"/>
    <p:sldId xmlns:r="http://schemas.openxmlformats.org/officeDocument/2006/relationships" id="266" r:id="R7cec8f2935bf4025"/>
    <p:sldId xmlns:r="http://schemas.openxmlformats.org/officeDocument/2006/relationships" id="267" r:id="R6b28f07645df4a57"/>
    <p:sldId xmlns:r="http://schemas.openxmlformats.org/officeDocument/2006/relationships" id="268" r:id="R9d47095d7a6642c7"/>
    <p:sldId xmlns:r="http://schemas.openxmlformats.org/officeDocument/2006/relationships" id="269" r:id="R2dfd100ec6754b51"/>
    <p:sldId xmlns:r="http://schemas.openxmlformats.org/officeDocument/2006/relationships" id="270" r:id="Rbbeb1ae505274cb9"/>
    <p:sldId xmlns:r="http://schemas.openxmlformats.org/officeDocument/2006/relationships" id="271" r:id="Rb46497f4d5bf4b89"/>
    <p:sldId xmlns:r="http://schemas.openxmlformats.org/officeDocument/2006/relationships" id="272" r:id="R53251cf6437e4ec5"/>
    <p:sldId xmlns:r="http://schemas.openxmlformats.org/officeDocument/2006/relationships" id="273" r:id="Rd17d342498544b34"/>
    <p:sldId xmlns:r="http://schemas.openxmlformats.org/officeDocument/2006/relationships" id="274" r:id="Rfedda95930ed47e5"/>
    <p:sldId xmlns:r="http://schemas.openxmlformats.org/officeDocument/2006/relationships" id="275" r:id="R631393df1bfe4879"/>
    <p:sldId xmlns:r="http://schemas.openxmlformats.org/officeDocument/2006/relationships" id="276" r:id="Re63c0662b94f4f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d0f98a163a4f48" /><Relationship Type="http://schemas.openxmlformats.org/officeDocument/2006/relationships/slideMaster" Target="/ppt/slideMasters/slideMaster1.xml" Id="R057bc7f3a29044e1" /><Relationship Type="http://schemas.openxmlformats.org/officeDocument/2006/relationships/notesMaster" Target="/ppt/notesMasters/notesMaster1.xml" Id="R348283ae57114fe2" /><Relationship Type="http://schemas.openxmlformats.org/officeDocument/2006/relationships/presProps" Target="/ppt/presProps.xml" Id="R8a1e8ed04c9247ab" /><Relationship Type="http://schemas.openxmlformats.org/officeDocument/2006/relationships/tableStyles" Target="/ppt/tableStyles.xml" Id="Rf9cdd914e5b34669" /><Relationship Type="http://schemas.openxmlformats.org/officeDocument/2006/relationships/slide" Target="/ppt/slides/slide1.xml" Id="R61991f2bd73a4a15" /><Relationship Type="http://schemas.openxmlformats.org/officeDocument/2006/relationships/slide" Target="/ppt/slides/slide2.xml" Id="R9d2533b48fd34af5" /><Relationship Type="http://schemas.openxmlformats.org/officeDocument/2006/relationships/slide" Target="/ppt/slides/slide3.xml" Id="R43fbfac072414536" /><Relationship Type="http://schemas.openxmlformats.org/officeDocument/2006/relationships/slide" Target="/ppt/slides/slide4.xml" Id="R2df15b8232124295" /><Relationship Type="http://schemas.openxmlformats.org/officeDocument/2006/relationships/slide" Target="/ppt/slides/slide5.xml" Id="R74a38bfa3b9c4bca" /><Relationship Type="http://schemas.openxmlformats.org/officeDocument/2006/relationships/slide" Target="/ppt/slides/slide6.xml" Id="R94897d980b3e4a9a" /><Relationship Type="http://schemas.openxmlformats.org/officeDocument/2006/relationships/slide" Target="/ppt/slides/slide7.xml" Id="R3947c349eb104346" /><Relationship Type="http://schemas.openxmlformats.org/officeDocument/2006/relationships/slide" Target="/ppt/slides/slide8.xml" Id="Rbfbd6e30e71c4b25" /><Relationship Type="http://schemas.openxmlformats.org/officeDocument/2006/relationships/slide" Target="/ppt/slides/slide9.xml" Id="Rd7b622fce54144bf" /><Relationship Type="http://schemas.openxmlformats.org/officeDocument/2006/relationships/slide" Target="/ppt/slides/slide10.xml" Id="Rb860ed1241824795" /><Relationship Type="http://schemas.openxmlformats.org/officeDocument/2006/relationships/slide" Target="/ppt/slides/slide11.xml" Id="R7cec8f2935bf4025" /><Relationship Type="http://schemas.openxmlformats.org/officeDocument/2006/relationships/slide" Target="/ppt/slides/slide12.xml" Id="R6b28f07645df4a57" /><Relationship Type="http://schemas.openxmlformats.org/officeDocument/2006/relationships/slide" Target="/ppt/slides/slide13.xml" Id="R9d47095d7a6642c7" /><Relationship Type="http://schemas.openxmlformats.org/officeDocument/2006/relationships/slide" Target="/ppt/slides/slide14.xml" Id="R2dfd100ec6754b51" /><Relationship Type="http://schemas.openxmlformats.org/officeDocument/2006/relationships/slide" Target="/ppt/slides/slide15.xml" Id="Rbbeb1ae505274cb9" /><Relationship Type="http://schemas.openxmlformats.org/officeDocument/2006/relationships/slide" Target="/ppt/slides/slide16.xml" Id="Rb46497f4d5bf4b89" /><Relationship Type="http://schemas.openxmlformats.org/officeDocument/2006/relationships/slide" Target="/ppt/slides/slide17.xml" Id="R53251cf6437e4ec5" /><Relationship Type="http://schemas.openxmlformats.org/officeDocument/2006/relationships/slide" Target="/ppt/slides/slide18.xml" Id="Rd17d342498544b34" /><Relationship Type="http://schemas.openxmlformats.org/officeDocument/2006/relationships/slide" Target="/ppt/slides/slide19.xml" Id="Rfedda95930ed47e5" /><Relationship Type="http://schemas.openxmlformats.org/officeDocument/2006/relationships/slide" Target="/ppt/slides/slide20.xml" Id="R631393df1bfe4879" /><Relationship Type="http://schemas.openxmlformats.org/officeDocument/2006/relationships/slide" Target="/ppt/slides/slide21.xml" Id="Re63c0662b94f4f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719530072341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8716907fce489b" /><Relationship Type="http://schemas.openxmlformats.org/officeDocument/2006/relationships/notesMaster" Target="/ppt/notesMasters/notesMaster1.xml" Id="Raa33fe2c0abc41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aff77786be4d40" /><Relationship Type="http://schemas.openxmlformats.org/officeDocument/2006/relationships/notesMaster" Target="/ppt/notesMasters/notesMaster1.xml" Id="Rf922e0051d7142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285ad4b683418a" /><Relationship Type="http://schemas.openxmlformats.org/officeDocument/2006/relationships/notesMaster" Target="/ppt/notesMasters/notesMaster1.xml" Id="Rbd9e6c3db56845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28f005b4304fc6" /><Relationship Type="http://schemas.openxmlformats.org/officeDocument/2006/relationships/notesMaster" Target="/ppt/notesMasters/notesMaster1.xml" Id="Reb511fa4f3634b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7dfc6761084442" /><Relationship Type="http://schemas.openxmlformats.org/officeDocument/2006/relationships/notesMaster" Target="/ppt/notesMasters/notesMaster1.xml" Id="R0373c4d74ea94b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28e29bd5ee4242" /><Relationship Type="http://schemas.openxmlformats.org/officeDocument/2006/relationships/notesMaster" Target="/ppt/notesMasters/notesMaster1.xml" Id="Ra7617b7b922b4d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64aac9a770452d" /><Relationship Type="http://schemas.openxmlformats.org/officeDocument/2006/relationships/notesMaster" Target="/ppt/notesMasters/notesMaster1.xml" Id="R14f2c0b9331d45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b36218eb8a4cd1" /><Relationship Type="http://schemas.openxmlformats.org/officeDocument/2006/relationships/notesMaster" Target="/ppt/notesMasters/notesMaster1.xml" Id="Rd0071f4b82244f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08b83c9f874730" /><Relationship Type="http://schemas.openxmlformats.org/officeDocument/2006/relationships/notesMaster" Target="/ppt/notesMasters/notesMaster1.xml" Id="R6741baa84d034be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4030c6c38b4b80" /><Relationship Type="http://schemas.openxmlformats.org/officeDocument/2006/relationships/notesMaster" Target="/ppt/notesMasters/notesMaster1.xml" Id="Rfa2dd02e9c42491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c218c3fe4264b62" /><Relationship Type="http://schemas.openxmlformats.org/officeDocument/2006/relationships/notesMaster" Target="/ppt/notesMasters/notesMaster1.xml" Id="R9d5ad3b5f3bf44d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2990a234a79424d" /><Relationship Type="http://schemas.openxmlformats.org/officeDocument/2006/relationships/notesMaster" Target="/ppt/notesMasters/notesMaster1.xml" Id="R553dbcbe3f0144a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48bcd2a0a4141c6" /><Relationship Type="http://schemas.openxmlformats.org/officeDocument/2006/relationships/notesMaster" Target="/ppt/notesMasters/notesMaster1.xml" Id="R89038ffc8e4a487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3dfa75c506e4674" /><Relationship Type="http://schemas.openxmlformats.org/officeDocument/2006/relationships/notesMaster" Target="/ppt/notesMasters/notesMaster1.xml" Id="R4d9807cfe05941e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c30b101c8b04ff5" /><Relationship Type="http://schemas.openxmlformats.org/officeDocument/2006/relationships/notesMaster" Target="/ppt/notesMasters/notesMaster1.xml" Id="Rc4aba04069f4418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64d4e3c1b9d4a8a" /><Relationship Type="http://schemas.openxmlformats.org/officeDocument/2006/relationships/notesMaster" Target="/ppt/notesMasters/notesMaster1.xml" Id="R5328befe5c8649a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a8d8d560418416d" /><Relationship Type="http://schemas.openxmlformats.org/officeDocument/2006/relationships/notesMaster" Target="/ppt/notesMasters/notesMaster1.xml" Id="R6dee5a40701a42f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33a212cd88549b5" /><Relationship Type="http://schemas.openxmlformats.org/officeDocument/2006/relationships/notesMaster" Target="/ppt/notesMasters/notesMaster1.xml" Id="R1d6aa9d5a9c143a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f381d35472f4aa8" /><Relationship Type="http://schemas.openxmlformats.org/officeDocument/2006/relationships/notesMaster" Target="/ppt/notesMasters/notesMaster1.xml" Id="Rb3820a5af37c4ca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6953b8fb02044b6" /><Relationship Type="http://schemas.openxmlformats.org/officeDocument/2006/relationships/notesMaster" Target="/ppt/notesMasters/notesMaster1.xml" Id="R7d7baa1c045b403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1f3121d96594716" /><Relationship Type="http://schemas.openxmlformats.org/officeDocument/2006/relationships/notesMaster" Target="/ppt/notesMasters/notesMaster1.xml" Id="R7ef1489651aa43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outcome: attendees will identify their current level, see what it takes to move up one level, and leave with the assets to start.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ForgeX promo creative supplied by Trey</a:t>
            </a:r>
          </a:p>
          <a:p xmlns:a="http://schemas.openxmlformats.org/drawingml/2006/main">
            <a:r>
              <a:t>- /Users/treyharnden/Projects/forgex-practical-abm-skills/webinar/2026-09-17-ai-for-abm-foundations/slide-outline.md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Recap Part I in one breath. Then move beneath the output: context, process, access, and human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/Users/treyharnden/Projects/forgex-practical-abm-skills/webinar/2026-09-17-ai-for-abm-foundations/README.md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plain language. Model is the engine. Harness is the workbench. MCP is a connection standard. Governance still defines authority.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https://modelcontextprotocol.io/docs/getting-started/intro</a:t>
            </a:r>
          </a:p>
          <a:p xmlns:a="http://schemas.openxmlformats.org/drawingml/2006/main">
            <a:r>
              <a:t>- https://www.anthropic.com/engineering/building-effective-agents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Credit Zapier. Point to Building and Accountability, then explain why ABM needs more resolution between a prompt, company brain, reusable skill, automation, and agent.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https://zapier.com/blog/raising-ai-fluency-bar-in-hiring/</a:t>
            </a:r>
          </a:p>
          <a:p xmlns:a="http://schemas.openxmlformats.org/drawingml/2006/main">
            <a:r>
              <a:t>- https://images.ctfassets.net/lzny33ho1g45/4k3Lhj5hWuAxfBmPAqOYVe/4474ad100a57fa1eddfe880af5b70f2c/FINAL_Rubric_3Levels_V2.png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attendees for a private zero-to-five rating. Remove the status anxiety: a well-run Level 3 can outperform a poorly governed Level 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/Users/treyharnden/Projects/forgex-practical-abm-skills/webinar/2026-09-17-ai-for-abm-foundations/maturity-rubric.md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Fancy Search is useful for learning and orientation. The trap is mistaking fluency for seller or account specificity.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/Users/treyharnden/Projects/forgex-practical-abm-skills/webinar/2026-09-17-ai-for-abm-foundations/maturity-rubric.md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five parts of the stronger request: seller, target, job, output, and guardrail. Quality still lives in the operator who knows what to paste.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/Users/treyharnden/Projects/forgex-practical-abm-skills/webinar/2026-09-17-ai-for-abm-foundations/maturity-rubric.md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Distinguish the context window from the company brain. More files are not automatically better. Scope, ownership, and freshness matter.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/Users/treyharnden/Projects/forgex-practical-abm-skills/webinar/2026-09-17-ai-for-abm-foundations/maturity-rubric.md</a:t>
            </a:r>
          </a:p>
          <a:p xmlns:a="http://schemas.openxmlformats.org/drawingml/2006/main">
            <a:r>
              <a:t>- /Users/treyharnden/Projects/forgex-practical-abm-skills/webinar/2026-09-17-ai-for-abm-foundations/northpeak/README.md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company brain centralizes reliable access, not necessarily every source file. GitHub is useful for plain text, review, portability, and history, but it is not the only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https://www.cerebras.ai/blog/how-we-built-our-knowledge-base</a:t>
            </a:r>
          </a:p>
          <a:p xmlns:a="http://schemas.openxmlformats.org/drawingml/2006/main">
            <a:r>
              <a:t>- https://www.stellarwork.com/captains-log/how-cerebras-built-their-company-brain</a:t>
            </a:r>
          </a:p>
          <a:p xmlns:a="http://schemas.openxmlformats.org/drawingml/2006/main">
            <a:r>
              <a:t>- https://docs.github.com/en/repositories/creating-and-managing-repositories/about-repositories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trade metaphor respectfully. Take portable methods and blank templates to a new role, never confidential company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/Users/treyharnden/Projects/forgex-practical-abm-skills/webinar/2026-09-17-ai-for-abm-foundations/slide-outline.md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 the key mental shift slowly. A skill packages the judgment that usually hides in the best operator's head.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/Users/treyharnden/Projects/forgex-practical-abm-skills/skills/abm-strategist/SKILL.md</a:t>
            </a:r>
          </a:p>
          <a:p xmlns:a="http://schemas.openxmlformats.org/drawingml/2006/main">
            <a:r>
              <a:t>- /Users/treyharnden/Projects/forgex-practical-abm-skills/webinar/2026-09-17-ai-for-abm-foundations/maturity-rubric.md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anatomy in order. Emphasize the stop condition: useful draft generation does not require publishing, sending, or spending.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/Users/treyharnden/Projects/forgex-practical-abm-skills/skills/abm-strategist/SKILL.md</a:t>
            </a:r>
          </a:p>
          <a:p xmlns:a="http://schemas.openxmlformats.org/drawingml/2006/main">
            <a:r>
              <a:t>- /Users/treyharnden/Projects/forgex-practical-abm-skills/shared/SAFETY.md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Treat the community as a pattern library, not an app store. Keep 1:1 ABM Ads draft-only, with no live objects, activation, or spend. Audience ICP Filter has a conditional pass for reviewed list classification only: 22 synthetic attendees reconciled completely, nine required semantic review, and the corrected suite passes 45 of 45 checks. No enrichment, sending, CRM writes, or sequence enrollment.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https://github.com/swan-gtm/gtm-skills/tree/d378356a2668095d71e8dfb0661155255cf6776b/skills/erwann-lefevre/multichannel-campaign-builder</a:t>
            </a:r>
          </a:p>
          <a:p xmlns:a="http://schemas.openxmlformats.org/drawingml/2006/main">
            <a:r>
              <a:t>- https://github.com/swan-gtm/gtm-skills/tree/d378356a2668095d71e8dfb0661155255cf6776b/skills/ivan-falco/1-to-1-abm-ads</a:t>
            </a:r>
          </a:p>
          <a:p xmlns:a="http://schemas.openxmlformats.org/drawingml/2006/main">
            <a:r>
              <a:t>- https://github.com/swan-gtm/gtm-skills/blob/d378356a2668095d71e8dfb0661155255cf6776b/LICENSE</a:t>
            </a:r>
          </a:p>
          <a:p xmlns:a="http://schemas.openxmlformats.org/drawingml/2006/main">
            <a:r>
              <a:t>- /Users/treyharnden/Projects/Folloze-Skills-swan-eval/evaluations/swan-gtm/pilots/audience-icp-filter/sample-evaluation.md at local commit 938b70d760e002a85c5b0a6a83fe395403b98959</a:t>
            </a:r>
          </a:p>
          <a:p xmlns:a="http://schemas.openxmlformats.org/drawingml/2006/main">
            <a:r>
              <a:t>- /Users/treyharnden/Projects/forgex-practical-abm-skills/webinar/2026-09-17-ai-for-abm-foundations/sources-and-attribution.md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Level 4 adds time and state. The workflow must understand the current artifact, what changed, and what no change looks like.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/Users/treyharnden/Projects/forgex-practical-abm-skills/webinar/2026-09-17-ai-for-abm-foundations/maturity-rubric.md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Get the wording right: a cron job IN a trench coat. Respect deterministic workflows. The warning is about claiming judgment that the system does not have.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/Users/treyharnden/Projects/forgex-practical-abm-skills/webinar/2026-09-17-ai-for-abm-foundations/assets/cron-job-in-a-trench-coat.png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road analogy. Workflow is the marked route. Agent is the driver. MCP provides on-ramps. Governance defines the gates.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https://www.anthropic.com/engineering/building-effective-agents</a:t>
            </a:r>
          </a:p>
          <a:p xmlns:a="http://schemas.openxmlformats.org/drawingml/2006/main">
            <a:r>
              <a:t>- https://modelcontextprotocol.io/docs/getting-started/intro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Agency does not remove the human. The human owns the goal, authority, evaluation standard, and consequential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/Users/treyharnden/Projects/forgex-practical-abm-skills/webinar/2026-09-17-ai-for-abm-foundations/maturity-rubric.md</a:t>
            </a:r>
          </a:p>
          <a:p xmlns:a="http://schemas.openxmlformats.org/drawingml/2006/main">
            <a:r>
              <a:t>- https://www.anthropic.com/engineering/building-effective-agents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Move quickly down the outputs. Level 5 still needs the prompt discipline, company brain, skill, and controls below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/Users/treyharnden/Projects/forgex-practical-abm-skills/webinar/2026-09-17-ai-for-abm-foundations/maturity-rubric.md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Avoid vanity metrics such as prompt count or number of tools purchased. Add operational measures when the system begins running without direct supervision.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/Users/treyharnden/Projects/forgex-practical-abm-skills/webinar/2026-09-17-ai-for-abm-foundations/maturity-rubric.md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attendees to choose Level 2 to 3 or Level 3 to 4. Be direct that Level 4 to 5 is not a generic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/Users/treyharnden/Projects/forgex-practical-abm-skills/webinar/2026-09-17-ai-for-abm-foundations/attendee-resource-guide.md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Switch screens only after orienting the audience. Run the Level 3 prompt, inspect the output, then explain Level 4 without activating a schedule.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/Users/treyharnden/Projects/forgex-practical-abm-skills/webinar/2026-09-17-ai-for-abm-foundations/live-demo-runbook.md</a:t>
            </a:r>
          </a:p>
          <a:p xmlns:a="http://schemas.openxmlformats.org/drawingml/2006/main">
            <a:r>
              <a:t>- /Users/treyharnden/Projects/forgex-practical-abm-skills/webinar/2026-09-17-ai-for-abm-foundations/demo/demo-prompts.md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e3094a60054c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a1832711614e68" /><Relationship Type="http://schemas.openxmlformats.org/officeDocument/2006/relationships/slideLayout" Target="/ppt/slideLayouts/slideLayout1.xml" Id="Rbc515e5be2ef4e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515e5be2ef4e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17a6c8165a481d" /><Relationship Type="http://schemas.openxmlformats.org/officeDocument/2006/relationships/notesSlide" Target="/ppt/notesSlides/notesSlide1.xml" Id="Re53d958971d346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c65042ac4438b" /><Relationship Type="http://schemas.openxmlformats.org/officeDocument/2006/relationships/notesSlide" Target="/ppt/notesSlides/notesSlide2.xml" Id="R56e22ff7e6a747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562a2b04804fa3" /><Relationship Type="http://schemas.openxmlformats.org/officeDocument/2006/relationships/notesSlide" Target="/ppt/notesSlides/notesSlide3.xml" Id="R6d32a2a30ddf48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6bce2842f4e6e" /><Relationship Type="http://schemas.openxmlformats.org/officeDocument/2006/relationships/image" Target="/ppt/media/image.png" Id="R3505a2f4fe5d42d5" /><Relationship Type="http://schemas.openxmlformats.org/officeDocument/2006/relationships/notesSlide" Target="/ppt/notesSlides/notesSlide4.xml" Id="R97c4b0f6927c4d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47ceb45dbc4dd1" /><Relationship Type="http://schemas.openxmlformats.org/officeDocument/2006/relationships/notesSlide" Target="/ppt/notesSlides/notesSlide5.xml" Id="R81fe0968672049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c730a790654ccd" /><Relationship Type="http://schemas.openxmlformats.org/officeDocument/2006/relationships/notesSlide" Target="/ppt/notesSlides/notesSlide6.xml" Id="R81cad3a122cd4b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ce69e32d124744" /><Relationship Type="http://schemas.openxmlformats.org/officeDocument/2006/relationships/notesSlide" Target="/ppt/notesSlides/notesSlide7.xml" Id="R68664287ea9844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480d233086455a" /><Relationship Type="http://schemas.openxmlformats.org/officeDocument/2006/relationships/notesSlide" Target="/ppt/notesSlides/notesSlide8.xml" Id="R98ac7061c9ee46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1e1ec757b44e24" /><Relationship Type="http://schemas.openxmlformats.org/officeDocument/2006/relationships/notesSlide" Target="/ppt/notesSlides/notesSlide9.xml" Id="Rddaeadadb1ab47b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5378f328646de" /><Relationship Type="http://schemas.openxmlformats.org/officeDocument/2006/relationships/notesSlide" Target="/ppt/notesSlides/notesSlide10.xml" Id="R04ed6224b43949a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84a97a49d4923" /><Relationship Type="http://schemas.openxmlformats.org/officeDocument/2006/relationships/notesSlide" Target="/ppt/notesSlides/notesSlide11.xml" Id="Rfcf196d43041466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1174798d264aae" /><Relationship Type="http://schemas.openxmlformats.org/officeDocument/2006/relationships/notesSlide" Target="/ppt/notesSlides/notesSlide12.xml" Id="R80428fcb62f0480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06eaa747044af" /><Relationship Type="http://schemas.openxmlformats.org/officeDocument/2006/relationships/notesSlide" Target="/ppt/notesSlides/notesSlide13.xml" Id="R0295cf7dbca640a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00f6440e64d1e" /><Relationship Type="http://schemas.openxmlformats.org/officeDocument/2006/relationships/notesSlide" Target="/ppt/notesSlides/notesSlide14.xml" Id="Rd7b1ee6a7bf242e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ba0956119c439d" /><Relationship Type="http://schemas.openxmlformats.org/officeDocument/2006/relationships/image" Target="/ppt/media/image2.png" Id="R66bfc8904f52442d" /><Relationship Type="http://schemas.openxmlformats.org/officeDocument/2006/relationships/notesSlide" Target="/ppt/notesSlides/notesSlide15.xml" Id="Rfaf3312b64b44aa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cbf1cc0b94a59" /><Relationship Type="http://schemas.openxmlformats.org/officeDocument/2006/relationships/notesSlide" Target="/ppt/notesSlides/notesSlide16.xml" Id="R759ddf54cffa49e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ac3a9e99fb43bb" /><Relationship Type="http://schemas.openxmlformats.org/officeDocument/2006/relationships/notesSlide" Target="/ppt/notesSlides/notesSlide17.xml" Id="R68196ae17dbc4ae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fce818f734b45" /><Relationship Type="http://schemas.openxmlformats.org/officeDocument/2006/relationships/notesSlide" Target="/ppt/notesSlides/notesSlide18.xml" Id="Rec7c04abd35e464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753728505844d2" /><Relationship Type="http://schemas.openxmlformats.org/officeDocument/2006/relationships/notesSlide" Target="/ppt/notesSlides/notesSlide19.xml" Id="Rdea2fd84e700442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5266539164450b" /><Relationship Type="http://schemas.openxmlformats.org/officeDocument/2006/relationships/notesSlide" Target="/ppt/notesSlides/notesSlide20.xml" Id="R73d1211c14ae459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da460c10e04b87" /><Relationship Type="http://schemas.openxmlformats.org/officeDocument/2006/relationships/notesSlide" Target="/ppt/notesSlides/notesSlide21.xml" Id="R37cd6124aef141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B12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CC90880-50A6-4676-9C66-EB515723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63888"/>
                </a:solidFill>
              </a:defRPr>
            </a:pPr>
            <a:r>
              <a:rPr sz="1800" b="1">
                <a:solidFill>
                  <a:srgbClr val="E63888"/>
                </a:solidFill>
              </a:rPr>
              <a:t>ForgeX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219C74-E617-407D-9B50-8DB1DF18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61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097024-16E6-4A09-8B4C-6650D441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810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19432B-0BEB-48DE-8134-A71BA772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810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117274-DE39-46C0-913D-F2E60E3D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3810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60732-9D38-4C71-80A8-D5B2356B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810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B7A4CD-9731-412A-B822-EE262134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3810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491E7-D455-4A30-B6CF-1ACF86A0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810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48C23A-1CB5-4CFD-9EB2-D6A25062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3810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BD8509-EAE6-4D55-9B1D-76F56DB3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3810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B1F397-9E2E-4F2C-89C1-A04305AB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905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11AC28-2EE8-498C-BF80-11897A27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5905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0DF64B-722E-493D-ABFC-440BEF7D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5905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BF2A37-AA4B-4ADD-BE3C-37A6DFE1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905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E447DD-C726-4EB0-BD73-0ABC4B24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5905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B5F2E1-4BE0-4001-9B76-9A32AB62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905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B90EE6-F70B-4177-BDE8-F8C238A6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5905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29FEA4-2881-4872-89CE-D7BA4146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5905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B4307D-494A-4B55-91E2-39297874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8001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35B29F-D343-490B-9FA8-4A4038DF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8001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47DB96-699E-4E36-B08B-5584F44B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8001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7F8230-BFBC-48A9-8342-84EAA6F7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8001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1BD5F7-5F0C-4DD9-B214-7C77487D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8001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22F1B4-2B24-4652-AC98-3F6267D9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8001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F58CD2-15D9-4DBF-8626-D229D818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8001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997DAC-3922-41CA-BA91-9AC3091B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8001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0C2D7E-B145-4E41-8507-EC4A8810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0096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CF0158-CC28-4824-8E88-A6474A2C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10096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FB33B2-CA16-4185-A94E-054B2A6B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10096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37DE66-329E-4233-AFD3-989FFDC7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10096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AED9A6-79FD-4FB5-B813-E1E9FD3D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10096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354246-6097-45B4-992F-F90CCABD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10096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9471B5-A306-495C-97F7-77E89C48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10096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88B05C-87C2-4A6C-A403-C84B0B01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10096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DE4D3F-EDDF-44FE-B15C-D5107368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2192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A583B1-B2FB-43FE-A907-12A405B6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12192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63B4EB-1C52-43FA-9C92-542350E4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12192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8F49BBC-ADDF-4F6F-A9F1-3D601096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12192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A127C15-BBAB-4047-ACA5-B2772E3A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12192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7659E24-7F7F-4871-BC82-1DFF402F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12192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48B945B-C201-427A-AE87-7EC42DE0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12192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955E8F9-9C04-454C-A2DA-B1473965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12192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45C468A-A5EA-4997-A418-2ADB2B4E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685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63888"/>
                </a:solidFill>
              </a:defRPr>
            </a:pPr>
            <a:r>
              <a:rPr sz="3600" b="1">
                <a:solidFill>
                  <a:srgbClr val="E63888"/>
                </a:solidFill>
              </a:rPr>
              <a:t>AI for ABM: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3C1F76A-40A7-4B3C-9075-9FC4433D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7810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What You Need to Know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About MCPs, Agents &amp; Prompts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819732E-3C00-4517-98AB-6FFD8079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438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8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8AB49F1-CFCB-4ADE-BFB3-2BAA917C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TREY HARNDEN  |  FORGEX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97F82AE-601A-4D3C-9798-3E37374E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F25C"/>
                </a:solidFill>
              </a:defRPr>
            </a:pPr>
            <a:r>
              <a:rPr sz="1050" b="1">
                <a:solidFill>
                  <a:srgbClr val="C7F25C"/>
                </a:solidFill>
              </a:rPr>
              <a:t>SEPTEMBER 17, 2026  |  12 PM ET  |  LIVE WORKSPACE BUILD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8BFB66C-2270-4D16-BEDE-4ED1C054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476750"/>
            <a:ext cx="1219200" cy="121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8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F36AF4A-0552-4B8D-9ACC-6F083D18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6482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12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728D426-ABFB-4239-8BD0-C1792A45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600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5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00100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C5231C-3FAD-4EEF-9854-D4AF328F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63888"/>
                </a:solidFill>
              </a:defRPr>
            </a:pPr>
            <a:r>
              <a:rPr sz="1800" b="1">
                <a:solidFill>
                  <a:srgbClr val="E63888"/>
                </a:solidFill>
              </a:rPr>
              <a:t>ForgeX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230601-DBBA-4579-8C62-7DE0B999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61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1F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B21675-F0DD-4778-84CD-E2DAFA74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6232A"/>
                </a:solidFill>
              </a:defRPr>
            </a:pPr>
            <a:r>
              <a:rPr sz="3150" b="1">
                <a:solidFill>
                  <a:srgbClr val="26232A"/>
                </a:solidFill>
              </a:rPr>
              <a:t>Part I showed the output. Part II builds the system.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8D3BC4-236E-4D93-BF6E-44033FFA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E6873"/>
                </a:solidFill>
              </a:defRPr>
            </a:pPr>
            <a:r>
              <a:rPr sz="750" b="1">
                <a:solidFill>
                  <a:srgbClr val="6E6873"/>
                </a:solidFill>
              </a:rPr>
              <a:t>FORGEX  |  AI FOR ABM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7DA1B2-A30E-4E7F-BEF0-633A4817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63888"/>
                </a:solidFill>
              </a:defRPr>
            </a:pPr>
            <a:r>
              <a:rPr sz="825" b="1">
                <a:solidFill>
                  <a:srgbClr val="E63888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809788-FF30-4083-A930-8E01E2FB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1336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A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93385F-B2FB-4BD1-BFDD-A95C426E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3888"/>
                </a:solidFill>
              </a:defRPr>
            </a:pPr>
            <a:r>
              <a:rPr sz="1050" b="1">
                <a:solidFill>
                  <a:srgbClr val="E63888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2C1F34-BA47-4902-B037-57962E89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232A"/>
                </a:solidFill>
              </a:defRPr>
            </a:pPr>
            <a:r>
              <a:rPr sz="1500" b="1">
                <a:solidFill>
                  <a:srgbClr val="26232A"/>
                </a:solidFill>
              </a:rPr>
              <a:t>PROPENSITY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C4E7A8-3187-4490-B70D-9B82C0FC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179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873"/>
                </a:solidFill>
              </a:defRPr>
            </a:pPr>
            <a:r>
              <a:rPr sz="1125" b="0">
                <a:solidFill>
                  <a:srgbClr val="6E6873"/>
                </a:solidFill>
              </a:rPr>
              <a:t>Who is likely to care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7D0D40-C7C2-42C6-8F17-2C697BA4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97180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63888"/>
                </a:solidFill>
              </a:defRPr>
            </a:pPr>
            <a:r>
              <a:rPr sz="2100" b="1">
                <a:solidFill>
                  <a:srgbClr val="E63888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982B8E-6C61-4F8F-BABC-A9C0B535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81250"/>
            <a:ext cx="21336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AE3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794A98-1E1F-439C-B7BE-F7BD6A32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527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3888"/>
                </a:solidFill>
              </a:defRPr>
            </a:pPr>
            <a:r>
              <a:rPr sz="1050" b="1">
                <a:solidFill>
                  <a:srgbClr val="E63888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1A4619-D52C-4CCD-A9BF-ED8DEF8D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527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232A"/>
                </a:solidFill>
              </a:defRPr>
            </a:pPr>
            <a:r>
              <a:rPr sz="1500" b="1">
                <a:solidFill>
                  <a:srgbClr val="26232A"/>
                </a:solidFill>
              </a:rPr>
              <a:t>LANDING PAGES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06C1C7-6039-48C7-8CE5-5D1760AA9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409950"/>
            <a:ext cx="179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873"/>
                </a:solidFill>
              </a:defRPr>
            </a:pPr>
            <a:r>
              <a:rPr sz="1125" b="0">
                <a:solidFill>
                  <a:srgbClr val="6E6873"/>
                </a:solidFill>
              </a:rPr>
              <a:t>A focused destination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21FA5C-1A86-4405-A82A-525C76BC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7180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63888"/>
                </a:solidFill>
              </a:defRPr>
            </a:pPr>
            <a:r>
              <a:rPr sz="2100" b="1">
                <a:solidFill>
                  <a:srgbClr val="E63888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EB7A12-173B-4D6B-A561-D05A73FB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381250"/>
            <a:ext cx="21336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AE3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6B78FF-FBF2-44F7-BF55-17F4BF2A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527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3888"/>
                </a:solidFill>
              </a:defRPr>
            </a:pPr>
            <a:r>
              <a:rPr sz="1050" b="1">
                <a:solidFill>
                  <a:srgbClr val="E63888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2D4ED1-5412-4B4C-9CAF-AF80C4EB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527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232A"/>
                </a:solidFill>
              </a:defRPr>
            </a:pPr>
            <a:r>
              <a:rPr sz="1500" b="1">
                <a:solidFill>
                  <a:srgbClr val="26232A"/>
                </a:solidFill>
              </a:rPr>
              <a:t>MICROSITES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0A7ADB-C5D1-4BBB-B0D1-7DC582F8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09950"/>
            <a:ext cx="179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873"/>
                </a:solidFill>
              </a:defRPr>
            </a:pPr>
            <a:r>
              <a:rPr sz="1125" b="0">
                <a:solidFill>
                  <a:srgbClr val="6E6873"/>
                </a:solidFill>
              </a:rPr>
              <a:t>A personal experience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D19C89-3321-4946-B388-48B52B8E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7180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63888"/>
                </a:solidFill>
              </a:defRPr>
            </a:pPr>
            <a:r>
              <a:rPr sz="2100" b="1">
                <a:solidFill>
                  <a:srgbClr val="E63888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CE2206-F315-43A5-92DC-29B8F23E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81250"/>
            <a:ext cx="21336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3D1F5C"/>
          </a:solidFill>
          <a:ln xmlns:a="http://schemas.openxmlformats.org/drawingml/2006/main" w="19050">
            <a:solidFill>
              <a:srgbClr val="3D1F5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11D879-8BBF-4F5D-9947-56E073DA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527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F25C"/>
                </a:solidFill>
              </a:defRPr>
            </a:pPr>
            <a:r>
              <a:rPr sz="1050" b="1">
                <a:solidFill>
                  <a:srgbClr val="C7F25C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83F104-8B45-4259-8B60-44BE287B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527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OPERATING SYSTEM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63E045-424F-4874-88DB-15B33D29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09950"/>
            <a:ext cx="179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AE3EC"/>
                </a:solidFill>
              </a:defRPr>
            </a:pPr>
            <a:r>
              <a:rPr sz="1125" b="0">
                <a:solidFill>
                  <a:srgbClr val="EAE3EC"/>
                </a:solidFill>
              </a:rPr>
              <a:t>The context, skills, access, and review underneath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7F4C1B-A640-4D52-AA13-F87053B4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1F5C"/>
                </a:solidFill>
              </a:defRPr>
            </a:pPr>
            <a:r>
              <a:rPr sz="2100" b="1">
                <a:solidFill>
                  <a:srgbClr val="3D1F5C"/>
                </a:solidFill>
              </a:rPr>
              <a:t>The page was never the whole product. The repeatable system is the real asset.</a:t>
            </a:r>
          </a:p>
        </p:txBody>
      </p:sp>
    </p:spTree>
    <p:extLst>
      <p:ext uri="{BB962C8B-B14F-4D97-AF65-F5344CB8AC3E}">
        <p14:creationId xmlns:p14="http://schemas.microsoft.com/office/powerpoint/2010/main" val="12795049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1F6024-C363-4470-91E6-C7E139E4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63888"/>
                </a:solidFill>
              </a:defRPr>
            </a:pPr>
            <a:r>
              <a:rPr sz="1800" b="1">
                <a:solidFill>
                  <a:srgbClr val="E63888"/>
                </a:solidFill>
              </a:rPr>
              <a:t>ForgeX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599F1D-C44F-4F48-A83A-369A615F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61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1F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5D77FA-644F-4A21-9D05-AD166502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6232A"/>
                </a:solidFill>
              </a:defRPr>
            </a:pPr>
            <a:r>
              <a:rPr sz="3150" b="1">
                <a:solidFill>
                  <a:srgbClr val="26232A"/>
                </a:solidFill>
              </a:rPr>
              <a:t>Nine terms. One operating system.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46826A-295B-4F51-B9BF-E8E04CC3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E6873"/>
                </a:solidFill>
              </a:defRPr>
            </a:pPr>
            <a:r>
              <a:rPr sz="750" b="1">
                <a:solidFill>
                  <a:srgbClr val="6E6873"/>
                </a:solidFill>
              </a:rPr>
              <a:t>FORGEX  |  AI FOR ABM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32CA98-4A09-4DC1-A19E-C843529C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63888"/>
                </a:solidFill>
              </a:defRPr>
            </a:pPr>
            <a:r>
              <a:rPr sz="825" b="1">
                <a:solidFill>
                  <a:srgbClr val="E63888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749AD2-B779-4129-A2C2-649D52F2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00250"/>
            <a:ext cx="76200" cy="3714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38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DFA240-60CB-4CA9-9D5D-5F6A73CA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240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63888"/>
                </a:solidFill>
              </a:defRPr>
            </a:pPr>
            <a:r>
              <a:rPr sz="1275" b="1">
                <a:solidFill>
                  <a:srgbClr val="E63888"/>
                </a:solidFill>
              </a:rPr>
              <a:t>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C11002-FDC3-4604-954E-1F29DE32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9240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232A"/>
                </a:solidFill>
              </a:defRPr>
            </a:pPr>
            <a:r>
              <a:rPr sz="1350" b="0">
                <a:solidFill>
                  <a:srgbClr val="26232A"/>
                </a:solidFill>
              </a:rPr>
              <a:t>reasons and generates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1F1999-7F17-4D37-8C97-DA0AF4EB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47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63888"/>
                </a:solidFill>
              </a:defRPr>
            </a:pPr>
            <a:r>
              <a:rPr sz="1275" b="1">
                <a:solidFill>
                  <a:srgbClr val="E63888"/>
                </a:solidFill>
              </a:rPr>
              <a:t>HARNESS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ED4B55-442B-456C-BE23-96BAB17A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479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232A"/>
                </a:solidFill>
              </a:defRPr>
            </a:pPr>
            <a:r>
              <a:rPr sz="1350" b="0">
                <a:solidFill>
                  <a:srgbClr val="26232A"/>
                </a:solidFill>
              </a:rPr>
              <a:t>holds files, tools, state, controls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136C15-5A46-40BB-BCB4-E6A92993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718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63888"/>
                </a:solidFill>
              </a:defRPr>
            </a:pPr>
            <a:r>
              <a:rPr sz="1275" b="1">
                <a:solidFill>
                  <a:srgbClr val="E63888"/>
                </a:solidFill>
              </a:rPr>
              <a:t>PROMPT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4CB1CB-71B2-4662-A9F0-FDA27F27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3718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232A"/>
                </a:solidFill>
              </a:defRPr>
            </a:pPr>
            <a:r>
              <a:rPr sz="1350" b="0">
                <a:solidFill>
                  <a:srgbClr val="26232A"/>
                </a:solidFill>
              </a:rPr>
              <a:t>directs this request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F3E30B-CEE9-4428-BAFE-320D87C0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957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63888"/>
                </a:solidFill>
              </a:defRPr>
            </a:pPr>
            <a:r>
              <a:rPr sz="1275" b="1">
                <a:solidFill>
                  <a:srgbClr val="E63888"/>
                </a:solidFill>
              </a:rPr>
              <a:t>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394BB8-FF3B-41C1-B805-927396FF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095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232A"/>
                </a:solidFill>
              </a:defRPr>
            </a:pPr>
            <a:r>
              <a:rPr sz="1350" b="0">
                <a:solidFill>
                  <a:srgbClr val="26232A"/>
                </a:solidFill>
              </a:rPr>
              <a:t>grounds the work in evidence and rules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38EBD9-7FC9-4A17-8C5B-11D82902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19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63888"/>
                </a:solidFill>
              </a:defRPr>
            </a:pPr>
            <a:r>
              <a:rPr sz="1275" b="1">
                <a:solidFill>
                  <a:srgbClr val="E63888"/>
                </a:solidFill>
              </a:rPr>
              <a:t>SKILL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CAABE7-55EA-4C6A-ADC2-B9AE7D65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8196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232A"/>
                </a:solidFill>
              </a:defRPr>
            </a:pPr>
            <a:r>
              <a:rPr sz="1350" b="0">
                <a:solidFill>
                  <a:srgbClr val="26232A"/>
                </a:solidFill>
              </a:rPr>
              <a:t>standardizes a reusable process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B6C83D-3921-434D-AE21-A8BF850D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240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63888"/>
                </a:solidFill>
              </a:defRPr>
            </a:pPr>
            <a:r>
              <a:rPr sz="1275" b="1">
                <a:solidFill>
                  <a:srgbClr val="E63888"/>
                </a:solidFill>
              </a:rPr>
              <a:t>TOOL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BBF51D-665B-4880-9950-A4A49836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240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232A"/>
                </a:solidFill>
              </a:defRPr>
            </a:pPr>
            <a:r>
              <a:rPr sz="1350" b="0">
                <a:solidFill>
                  <a:srgbClr val="26232A"/>
                </a:solidFill>
              </a:rPr>
              <a:t>performs a capability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840260-7E27-4BA3-95AA-DE9CD992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47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63888"/>
                </a:solidFill>
              </a:defRPr>
            </a:pPr>
            <a:r>
              <a:rPr sz="1275" b="1">
                <a:solidFill>
                  <a:srgbClr val="E63888"/>
                </a:solidFill>
              </a:rPr>
              <a:t>MCP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9AC765-A1D1-4A93-9CAB-40877D2A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479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232A"/>
                </a:solidFill>
              </a:defRPr>
            </a:pPr>
            <a:r>
              <a:rPr sz="1350" b="0">
                <a:solidFill>
                  <a:srgbClr val="26232A"/>
                </a:solidFill>
              </a:rPr>
              <a:t>connects approved resources and tools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D7B7ED-AAEE-42E8-8F41-8D011914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718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63888"/>
                </a:solidFill>
              </a:defRPr>
            </a:pPr>
            <a:r>
              <a:rPr sz="1275" b="1">
                <a:solidFill>
                  <a:srgbClr val="E63888"/>
                </a:solidFill>
              </a:rPr>
              <a:t>AUTOMATION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0CDD8E-6582-4205-8D30-212C325F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718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232A"/>
                </a:solidFill>
              </a:defRPr>
            </a:pPr>
            <a:r>
              <a:rPr sz="1350" b="0">
                <a:solidFill>
                  <a:srgbClr val="26232A"/>
                </a:solidFill>
              </a:rPr>
              <a:t>runs a known path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306793-3B5A-49FB-BF2D-A49A4A49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957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63888"/>
                </a:solidFill>
              </a:defRPr>
            </a:pPr>
            <a:r>
              <a:rPr sz="1275" b="1">
                <a:solidFill>
                  <a:srgbClr val="E63888"/>
                </a:solidFill>
              </a:rPr>
              <a:t>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AEDBED-80A2-4952-BEC2-5043D2AA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95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232A"/>
                </a:solidFill>
              </a:defRPr>
            </a:pPr>
            <a:r>
              <a:rPr sz="1350" b="0">
                <a:solidFill>
                  <a:srgbClr val="26232A"/>
                </a:solidFill>
              </a:rPr>
              <a:t>chooses a path toward a goal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9F9AC1-0553-4246-A5A3-4ED1831C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715000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1F5C"/>
                </a:solidFill>
              </a:defRPr>
            </a:pPr>
            <a:r>
              <a:rPr sz="1650" b="1">
                <a:solidFill>
                  <a:srgbClr val="3D1F5C"/>
                </a:solidFill>
              </a:rPr>
              <a:t>Access is not permission. Fluency starts with knowing which layer owns which decision.</a:t>
            </a:r>
          </a:p>
        </p:txBody>
      </p:sp>
    </p:spTree>
    <p:extLst>
      <p:ext uri="{BB962C8B-B14F-4D97-AF65-F5344CB8AC3E}">
        <p14:creationId xmlns:p14="http://schemas.microsoft.com/office/powerpoint/2010/main" val="9494991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B12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B3EDF1-F056-4277-BB6C-038C1230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63888"/>
                </a:solidFill>
              </a:defRPr>
            </a:pPr>
            <a:r>
              <a:rPr sz="1800" b="1">
                <a:solidFill>
                  <a:srgbClr val="E63888"/>
                </a:solidFill>
              </a:rPr>
              <a:t>ForgeX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E8C4AD-3289-457D-A4E7-FBBFFDCF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61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8490D1-9D4D-4CC5-AF58-300867E8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Fluency is observable behavior, not tool familiarity.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EB3CDC-D019-4035-8FCA-B6805BFC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AE3EC"/>
                </a:solidFill>
              </a:defRPr>
            </a:pPr>
            <a:r>
              <a:rPr sz="750" b="1">
                <a:solidFill>
                  <a:srgbClr val="EAE3EC"/>
                </a:solidFill>
              </a:rPr>
              <a:t>FORGEX  |  AI FOR ABM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811C45-7D3E-4000-8EE6-1B57DD7C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7F25C"/>
                </a:solidFill>
              </a:defRPr>
            </a:pPr>
            <a:r>
              <a:rPr sz="825" b="1">
                <a:solidFill>
                  <a:srgbClr val="C7F25C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0F714-0BE4-4876-9396-6F44C2B8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CAPABLE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DC791C-6D10-4C7A-9EEC-FD5E907F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63888"/>
                </a:solidFill>
              </a:defRPr>
            </a:pPr>
            <a:r>
              <a:rPr sz="2100" b="1">
                <a:solidFill>
                  <a:srgbClr val="E63888"/>
                </a:solidFill>
              </a:rPr>
              <a:t>ADOPTIVE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548585-D36B-4F76-BD36-6F67192E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7F25C"/>
                </a:solidFill>
              </a:defRPr>
            </a:pPr>
            <a:r>
              <a:rPr sz="2100" b="1">
                <a:solidFill>
                  <a:srgbClr val="C7F25C"/>
                </a:solidFill>
              </a:rPr>
              <a:t>TRANSFORMATIVE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6E7E26-E248-42CA-B39F-95AAABB2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E3EC"/>
                </a:solidFill>
              </a:defRPr>
            </a:pPr>
            <a:r>
              <a:rPr sz="1500" b="0">
                <a:solidFill>
                  <a:srgbClr val="EAE3EC"/>
                </a:solidFill>
              </a:rPr>
              <a:t>Mindset  •  Strategy  •  Building  •  Accountability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C017F7-C8F7-430B-AFA2-35F201F8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ForgeX adds the ABM infrastructure between a good prompt and a governed outcome.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05a2f4fe5d42d5"/>
          <a:stretch xmlns:a="http://schemas.openxmlformats.org/drawingml/2006/main"/>
        </p:blipFill>
        <p:spPr>
          <a:xfrm xmlns:a="http://schemas.openxmlformats.org/drawingml/2006/main">
            <a:off x="5575569" y="1790700"/>
            <a:ext cx="5803363" cy="4095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0749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B12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05FB2E-34BC-4960-BECF-C5E2855B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63888"/>
                </a:solidFill>
              </a:defRPr>
            </a:pPr>
            <a:r>
              <a:rPr sz="1800" b="1">
                <a:solidFill>
                  <a:srgbClr val="E63888"/>
                </a:solidFill>
              </a:rPr>
              <a:t>ForgeX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8C9ADA-EE99-4715-9903-D83B2E8B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61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E5E58A-9EBC-454B-930F-EF3D0BAB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Move up one useful level.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21AB8E-01C5-49A5-98CC-DB15CEA8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AE3EC"/>
                </a:solidFill>
              </a:defRPr>
            </a:pPr>
            <a:r>
              <a:rPr sz="750" b="1">
                <a:solidFill>
                  <a:srgbClr val="EAE3EC"/>
                </a:solidFill>
              </a:rPr>
              <a:t>FORGEX  |  AI FOR ABM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23147C-40CE-46EE-ABFE-1863787B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7F25C"/>
                </a:solidFill>
              </a:defRPr>
            </a:pPr>
            <a:r>
              <a:rPr sz="825" b="1">
                <a:solidFill>
                  <a:srgbClr val="C7F25C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CCD7F5-8CB1-42C5-BC41-9FEC7B05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86300"/>
            <a:ext cx="16002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B0B0F"/>
          </a:solidFill>
          <a:ln xmlns:a="http://schemas.openxmlformats.org/drawingml/2006/main" w="19050">
            <a:solidFill>
              <a:srgbClr val="C7F25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402217-631E-4AA7-BBA2-EFE4631B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F25C"/>
                </a:solidFill>
              </a:defRPr>
            </a:pPr>
            <a:r>
              <a:rPr sz="1500" b="1">
                <a:solidFill>
                  <a:srgbClr val="C7F25C"/>
                </a:solidFill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43EBB6-38ED-461C-95EA-E03ABE1C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0065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FANCY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C23966-B4FF-4BBD-89B7-651D742D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324350"/>
            <a:ext cx="16002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0B0B0F"/>
          </a:solidFill>
          <a:ln xmlns:a="http://schemas.openxmlformats.org/drawingml/2006/main" w="19050">
            <a:solidFill>
              <a:srgbClr val="C7F25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05C748-8591-4972-A506-B8B9CEA9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4577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F25C"/>
                </a:solidFill>
              </a:defRPr>
            </a:pPr>
            <a:r>
              <a:rPr sz="1500" b="1">
                <a:solidFill>
                  <a:srgbClr val="C7F25C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102AAA-EB94-4C4A-8CA7-4849A6A6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20065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CONTEXTUAL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COPILOT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D75E48-A5DB-4080-8827-AB53F054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62400"/>
            <a:ext cx="1600200" cy="18478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3D1F5C"/>
          </a:solidFill>
          <a:ln xmlns:a="http://schemas.openxmlformats.org/drawingml/2006/main" w="19050">
            <a:solidFill>
              <a:srgbClr val="C7F2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74804B-D461-45ED-942E-F2900B9B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957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F25C"/>
                </a:solidFill>
              </a:defRPr>
            </a:pPr>
            <a:r>
              <a:rPr sz="1500" b="1">
                <a:solidFill>
                  <a:srgbClr val="C7F25C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C42643-FC37-4F46-BF51-CBFB8044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20065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GROUNDED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WORKSPACE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78A908-426F-4FC2-8EED-A70D2450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00450"/>
            <a:ext cx="1600200" cy="22098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3D1F5C"/>
          </a:solidFill>
          <a:ln xmlns:a="http://schemas.openxmlformats.org/drawingml/2006/main" w="19050">
            <a:solidFill>
              <a:srgbClr val="C7F2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9E3D18-8F46-4E54-9763-6D4B58B0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338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F25C"/>
                </a:solidFill>
              </a:defRPr>
            </a:pPr>
            <a:r>
              <a:rPr sz="1500" b="1">
                <a:solidFill>
                  <a:srgbClr val="C7F25C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9E8848-7340-4098-A1D7-B5FF3C0A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0065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REUSABLE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SKILL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6FBBB6-949F-44EA-8D0B-8649B034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38500"/>
            <a:ext cx="1600200" cy="25717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3D1F5C"/>
          </a:solidFill>
          <a:ln xmlns:a="http://schemas.openxmlformats.org/drawingml/2006/main" w="19050">
            <a:solidFill>
              <a:srgbClr val="C7F25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A078A9-5D67-4287-AC7F-7D40151E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718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F25C"/>
                </a:solidFill>
              </a:defRPr>
            </a:pPr>
            <a:r>
              <a:rPr sz="1500" b="1">
                <a:solidFill>
                  <a:srgbClr val="C7F25C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570EAC-9F7C-4B62-9172-DF0FE7EA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0065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GOVERNED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AUTOMATION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8EA5B9-CBE7-48DD-8F8A-032FBAD6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76550"/>
            <a:ext cx="1600200" cy="29337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63888"/>
          </a:solidFill>
          <a:ln xmlns:a="http://schemas.openxmlformats.org/drawingml/2006/main" w="19050">
            <a:solidFill>
              <a:srgbClr val="E6388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B1C674-2226-42D5-B394-ACBAAB61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0099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F25C"/>
                </a:solidFill>
              </a:defRPr>
            </a:pPr>
            <a:r>
              <a:rPr sz="1500" b="1">
                <a:solidFill>
                  <a:srgbClr val="C7F25C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6D11C9-39F3-4794-BDE6-449B7EF1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20065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GOAL-DRIVEN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60F85F-6CFA-4466-8AB2-190D723C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055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Do not jump to Level 5. Earn the context, process, and controls underneath it.</a:t>
            </a:r>
          </a:p>
        </p:txBody>
      </p:sp>
    </p:spTree>
    <p:extLst>
      <p:ext uri="{BB962C8B-B14F-4D97-AF65-F5344CB8AC3E}">
        <p14:creationId xmlns:p14="http://schemas.microsoft.com/office/powerpoint/2010/main" val="16820127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C4253-21BC-4B2C-A357-918D5E6A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63888"/>
                </a:solidFill>
              </a:defRPr>
            </a:pPr>
            <a:r>
              <a:rPr sz="1800" b="1">
                <a:solidFill>
                  <a:srgbClr val="E63888"/>
                </a:solidFill>
              </a:rPr>
              <a:t>ForgeX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ED4CD8-DC43-4C1A-B6C8-8737F523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61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1F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1875F8-553F-4EA4-B55E-08D4AF5B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6232A"/>
                </a:solidFill>
              </a:defRPr>
            </a:pPr>
            <a:r>
              <a:rPr sz="3150" b="1">
                <a:solidFill>
                  <a:srgbClr val="26232A"/>
                </a:solidFill>
              </a:rPr>
              <a:t>Level 0: Fancy 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C1E687-77E7-4D8B-B7B9-1E3EB436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E6873"/>
                </a:solidFill>
              </a:defRPr>
            </a:pPr>
            <a:r>
              <a:rPr sz="750" b="1">
                <a:solidFill>
                  <a:srgbClr val="6E6873"/>
                </a:solidFill>
              </a:rPr>
              <a:t>FORGEX  |  AI FOR ABM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FF2D9D-07CF-4369-BCE7-9976EF1B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63888"/>
                </a:solidFill>
              </a:defRPr>
            </a:pPr>
            <a:r>
              <a:rPr sz="825" b="1">
                <a:solidFill>
                  <a:srgbClr val="E63888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4C8DFD-AF97-4A74-AC48-032D9AB9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523875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A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E665BC-1186-47B2-BA75-D3EE10F9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288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63888"/>
                </a:solidFill>
              </a:defRPr>
            </a:pPr>
            <a:r>
              <a:rPr sz="975" b="1">
                <a:solidFill>
                  <a:srgbClr val="E63888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1C0661-7A10-4D9E-8ADE-0AC3D0C6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47815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232A"/>
                </a:solidFill>
              </a:defRPr>
            </a:pPr>
            <a:r>
              <a:rPr sz="1425" b="0">
                <a:solidFill>
                  <a:srgbClr val="26232A"/>
                </a:solidFill>
              </a:rPr>
              <a:t>Teach me about AI security for manufacturers. Give me five campaign ideas.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EDC94B-7417-4A15-9B87-79E76A19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38350"/>
            <a:ext cx="535305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3D1F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3EEF0F-E11C-4626-88A7-6CB12931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F25C"/>
                </a:solidFill>
              </a:defRPr>
            </a:pPr>
            <a:r>
              <a:rPr sz="975" b="1">
                <a:solidFill>
                  <a:srgbClr val="C7F25C"/>
                </a:solidFill>
              </a:rPr>
              <a:t>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91812C-E49F-486B-8B3D-4C9778C6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90800"/>
            <a:ext cx="48958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Generalized ideas you still have to sift, verify, and rebuild.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3337F9-DD18-4E1B-ADC5-7C7C6784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63888"/>
                </a:solidFill>
              </a:defRPr>
            </a:pPr>
            <a:r>
              <a:rPr sz="2400" b="1">
                <a:solidFill>
                  <a:srgbClr val="E63888"/>
                </a:solidFill>
              </a:rPr>
              <a:t>A fluent answer is not an account insight.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CCA819-495A-4884-887A-EC7B8EC3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8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FFD1EA-1BC9-4319-BFDE-AD99FC70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50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1F5C"/>
                </a:solidFill>
              </a:defRPr>
            </a:pPr>
            <a:r>
              <a:rPr sz="975" b="1">
                <a:solidFill>
                  <a:srgbClr val="3D1F5C"/>
                </a:solidFill>
              </a:rPr>
              <a:t>LAYER ADDED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831EF5-9200-4DE3-BFFA-CD2A7598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7690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1F5C"/>
                </a:solidFill>
              </a:defRPr>
            </a:pPr>
            <a:r>
              <a:rPr sz="1350" b="1">
                <a:solidFill>
                  <a:srgbClr val="3D1F5C"/>
                </a:solidFill>
              </a:rPr>
              <a:t>Model or search interface</a:t>
            </a:r>
          </a:p>
        </p:txBody>
      </p:sp>
    </p:spTree>
    <p:extLst>
      <p:ext uri="{BB962C8B-B14F-4D97-AF65-F5344CB8AC3E}">
        <p14:creationId xmlns:p14="http://schemas.microsoft.com/office/powerpoint/2010/main" val="20090021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12D1C2-A2A4-44B3-9D05-B8B469D5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63888"/>
                </a:solidFill>
              </a:defRPr>
            </a:pPr>
            <a:r>
              <a:rPr sz="1800" b="1">
                <a:solidFill>
                  <a:srgbClr val="E63888"/>
                </a:solidFill>
              </a:rPr>
              <a:t>ForgeX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C6887C-FD91-489E-AAC5-E83A9E64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61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1F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CCAB3D-B907-47BC-9EF3-5999DC7D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6232A"/>
                </a:solidFill>
              </a:defRPr>
            </a:pPr>
            <a:r>
              <a:rPr sz="3150" b="1">
                <a:solidFill>
                  <a:srgbClr val="26232A"/>
                </a:solidFill>
              </a:rPr>
              <a:t>Level 1: Contextual Copilot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C4D910-58BA-4341-B126-C9293D62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E6873"/>
                </a:solidFill>
              </a:defRPr>
            </a:pPr>
            <a:r>
              <a:rPr sz="750" b="1">
                <a:solidFill>
                  <a:srgbClr val="6E6873"/>
                </a:solidFill>
              </a:rPr>
              <a:t>FORGEX  |  AI FOR ABM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D94331-2219-4F35-9C3C-5C616B09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63888"/>
                </a:solidFill>
              </a:defRPr>
            </a:pPr>
            <a:r>
              <a:rPr sz="825" b="1">
                <a:solidFill>
                  <a:srgbClr val="E63888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51684A-A56C-463E-A15C-5BE8B459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60007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A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E29F17-A572-4CC7-84FB-506D1E18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63888"/>
                </a:solidFill>
              </a:defRPr>
            </a:pPr>
            <a:r>
              <a:rPr sz="975" b="1">
                <a:solidFill>
                  <a:srgbClr val="E63888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A815B1-E1BC-432B-AC28-A86877E2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55435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232A"/>
                </a:solidFill>
              </a:defRPr>
            </a:pPr>
            <a:r>
              <a:rPr sz="1425" b="0">
                <a:solidFill>
                  <a:srgbClr val="26232A"/>
                </a:solidFill>
              </a:rPr>
              <a:t>North Peak sells Discover, Protect, and Monitor. Alder is expanding industrial AI. Draft three campaign premises for a VP of Infrastructure. Separate facts from hypotheses.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2149BA-24A6-4D2B-A2C0-FFA8918F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43100"/>
            <a:ext cx="45910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3D1F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6FEABD-0E9E-42B9-9DE6-1FB648BA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336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F25C"/>
                </a:solidFill>
              </a:defRPr>
            </a:pPr>
            <a:r>
              <a:rPr sz="975" b="1">
                <a:solidFill>
                  <a:srgbClr val="C7F25C"/>
                </a:solidFill>
              </a:rPr>
              <a:t>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7F1028-816B-4BD1-85AC-3D8AF5E6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95550"/>
            <a:ext cx="41338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 more relevant one-off draft.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2C0902-D39D-4C21-A1CE-C0D6DF94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81450"/>
            <a:ext cx="4267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1F5C"/>
                </a:solidFill>
              </a:defRPr>
            </a:pPr>
            <a:r>
              <a:rPr sz="1650" b="1">
                <a:solidFill>
                  <a:srgbClr val="3D1F5C"/>
                </a:solidFill>
              </a:rPr>
              <a:t>The marketer still knows what to paste, what to ask, and what to correct.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384A95-8D5D-4318-8643-39C7B077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8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FBA3AF-A163-4ED2-B4B7-A675057A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50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1F5C"/>
                </a:solidFill>
              </a:defRPr>
            </a:pPr>
            <a:r>
              <a:rPr sz="975" b="1">
                <a:solidFill>
                  <a:srgbClr val="3D1F5C"/>
                </a:solidFill>
              </a:rPr>
              <a:t>LAYER ADDED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A7B713-7FDA-4CD9-8F82-0875B499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7690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1F5C"/>
                </a:solidFill>
              </a:defRPr>
            </a:pPr>
            <a:r>
              <a:rPr sz="1350" b="1">
                <a:solidFill>
                  <a:srgbClr val="3D1F5C"/>
                </a:solidFill>
              </a:rPr>
              <a:t>Structured prompt  +  supplied context  +  human iteration</a:t>
            </a:r>
          </a:p>
        </p:txBody>
      </p:sp>
    </p:spTree>
    <p:extLst>
      <p:ext uri="{BB962C8B-B14F-4D97-AF65-F5344CB8AC3E}">
        <p14:creationId xmlns:p14="http://schemas.microsoft.com/office/powerpoint/2010/main" val="8834847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9FA136-706D-4E43-AC3B-CF405674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63888"/>
                </a:solidFill>
              </a:defRPr>
            </a:pPr>
            <a:r>
              <a:rPr sz="1800" b="1">
                <a:solidFill>
                  <a:srgbClr val="E63888"/>
                </a:solidFill>
              </a:rPr>
              <a:t>ForgeX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DF9DBB-5127-400F-975D-1A654AD4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61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1F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7DBDD-9CF7-442B-9AE0-3E9FC4CE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6232A"/>
                </a:solidFill>
              </a:defRPr>
            </a:pPr>
            <a:r>
              <a:rPr sz="3150" b="1">
                <a:solidFill>
                  <a:srgbClr val="26232A"/>
                </a:solidFill>
              </a:rPr>
              <a:t>Level 2: Grounded Workspace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D1A2C0-CE10-411C-85E8-996B1962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E6873"/>
                </a:solidFill>
              </a:defRPr>
            </a:pPr>
            <a:r>
              <a:rPr sz="750" b="1">
                <a:solidFill>
                  <a:srgbClr val="6E6873"/>
                </a:solidFill>
              </a:rPr>
              <a:t>FORGEX  |  AI FOR ABM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4D7646-8FB3-494F-A43E-75732EF0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63888"/>
                </a:solidFill>
              </a:defRPr>
            </a:pPr>
            <a:r>
              <a:rPr sz="825" b="1">
                <a:solidFill>
                  <a:srgbClr val="E63888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505C87-C899-41EB-9282-6316527E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6000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A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9882E3-59F7-457F-B4D7-F106536D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63888"/>
                </a:solidFill>
              </a:defRPr>
            </a:pPr>
            <a:r>
              <a:rPr sz="975" b="1">
                <a:solidFill>
                  <a:srgbClr val="E63888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8DAE17-4A55-4E63-823B-A6C52E8E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55435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232A"/>
                </a:solidFill>
              </a:defRPr>
            </a:pPr>
            <a:r>
              <a:rPr sz="1425" b="0">
                <a:solidFill>
                  <a:srgbClr val="26232A"/>
                </a:solidFill>
              </a:rPr>
              <a:t>Use the North Peak company brain and Alder evidence pack. Recommend one campaign premise. Cite the source file for each material claim.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EEAA8D-ADF5-4403-8BEE-D4609825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43100"/>
            <a:ext cx="45910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3D1F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4AA1B7-7A6E-4013-98B0-07ADA6EC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336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F25C"/>
                </a:solidFill>
              </a:defRPr>
            </a:pPr>
            <a:r>
              <a:rPr sz="975" b="1">
                <a:solidFill>
                  <a:srgbClr val="C7F25C"/>
                </a:solidFill>
              </a:rPr>
              <a:t>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F5F8D8-7F22-48AA-8DA3-95E2ADD6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95550"/>
            <a:ext cx="41338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 grounded draft that uses the same brand, ICP, persona, product, and proof rules every time.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F17BDB-CDA6-4A32-8F23-D3047B9E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10058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63888"/>
                </a:solidFill>
              </a:defRPr>
            </a:pPr>
            <a:r>
              <a:rPr sz="2250" b="1">
                <a:solidFill>
                  <a:srgbClr val="E63888"/>
                </a:solidFill>
              </a:rPr>
              <a:t>Stop making the model relearn the company.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FF6A94-FFD3-4184-9DEB-A3CC5F74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8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1EBA80-0A28-4654-A875-ED9D4E10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50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1F5C"/>
                </a:solidFill>
              </a:defRPr>
            </a:pPr>
            <a:r>
              <a:rPr sz="975" b="1">
                <a:solidFill>
                  <a:srgbClr val="3D1F5C"/>
                </a:solidFill>
              </a:rPr>
              <a:t>LAYER ADDED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D6A4AD-3947-4376-AA67-AD0E4F8D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7690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1F5C"/>
                </a:solidFill>
              </a:defRPr>
            </a:pPr>
            <a:r>
              <a:rPr sz="1350" b="1">
                <a:solidFill>
                  <a:srgbClr val="3D1F5C"/>
                </a:solidFill>
              </a:rPr>
              <a:t>Persistent, approved context</a:t>
            </a:r>
          </a:p>
        </p:txBody>
      </p:sp>
    </p:spTree>
    <p:extLst>
      <p:ext uri="{BB962C8B-B14F-4D97-AF65-F5344CB8AC3E}">
        <p14:creationId xmlns:p14="http://schemas.microsoft.com/office/powerpoint/2010/main" val="16596017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F210E4-10EE-4441-85F4-954A5260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63888"/>
                </a:solidFill>
              </a:defRPr>
            </a:pPr>
            <a:r>
              <a:rPr sz="1800" b="1">
                <a:solidFill>
                  <a:srgbClr val="E63888"/>
                </a:solidFill>
              </a:rPr>
              <a:t>ForgeX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00F133-CB96-4B1C-A980-738282EB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61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1F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15A93E-493B-460A-8824-CF09FBEF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6232A"/>
                </a:solidFill>
              </a:defRPr>
            </a:pPr>
            <a:r>
              <a:rPr sz="3150" b="1">
                <a:solidFill>
                  <a:srgbClr val="26232A"/>
                </a:solidFill>
              </a:rPr>
              <a:t>Build a company brain, not a document dump.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1F8DB6-F82B-4C99-8688-A179CF70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E6873"/>
                </a:solidFill>
              </a:defRPr>
            </a:pPr>
            <a:r>
              <a:rPr sz="750" b="1">
                <a:solidFill>
                  <a:srgbClr val="6E6873"/>
                </a:solidFill>
              </a:rPr>
              <a:t>FORGEX  |  AI FOR ABM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8E241C-00C6-4276-BE0F-3DD46093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63888"/>
                </a:solidFill>
              </a:defRPr>
            </a:pPr>
            <a:r>
              <a:rPr sz="825" b="1">
                <a:solidFill>
                  <a:srgbClr val="E63888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F18B9-2E5F-431F-B237-EE7719DF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49530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0B0B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9F1D16-0FF3-44D6-A870-4667761F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F25C"/>
                </a:solidFill>
              </a:defRPr>
            </a:pPr>
            <a:r>
              <a:rPr sz="975" b="1">
                <a:solidFill>
                  <a:srgbClr val="C7F25C"/>
                </a:solidFill>
              </a:rPr>
              <a:t>NORTH PEAK /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8F923A-BF44-4B85-B143-3447366D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/brand-guidelines.md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24A5F6-F67A-41E0-9F76-8E4D3B14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861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/messaging-framework.md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6BA71C-E0CA-4959-B3E4-02848BDC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861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/icp.md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C7C8B9-BDE2-4862-87B2-C35256EF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862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/personas.md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C8A552-AEFC-481F-AACD-4FA4117C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/product-portfolio.md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ADE5CE-8CD4-4429-A34C-1B426256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863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/proof-and-claims.md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71ECEC-8742-488E-B3E6-0975BA80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863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F25C"/>
                </a:solidFill>
              </a:defRPr>
            </a:pPr>
            <a:r>
              <a:rPr sz="1350" b="1">
                <a:solidFill>
                  <a:srgbClr val="C7F25C"/>
                </a:solidFill>
              </a:rPr>
              <a:t>/source-manifest.md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0F053E-1B88-42BA-AE6C-445B125F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336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63888"/>
                </a:solidFill>
              </a:defRPr>
            </a:pPr>
            <a:r>
              <a:rPr sz="1275" b="1">
                <a:solidFill>
                  <a:srgbClr val="E63888"/>
                </a:solidFill>
              </a:rPr>
              <a:t>SCOPED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ADC7A0-FCD0-40A3-90CA-FF1D57B9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336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232A"/>
                </a:solidFill>
              </a:defRPr>
            </a:pPr>
            <a:r>
              <a:rPr sz="1350" b="0">
                <a:solidFill>
                  <a:srgbClr val="26232A"/>
                </a:solidFill>
              </a:rPr>
              <a:t>Only what this job needs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2A094A-4356-4B76-9597-FBC4521C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63888"/>
                </a:solidFill>
              </a:defRPr>
            </a:pPr>
            <a:r>
              <a:rPr sz="1275" b="1">
                <a:solidFill>
                  <a:srgbClr val="E63888"/>
                </a:solidFill>
              </a:rPr>
              <a:t>SOURCE-BACKED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5FC0BE-3861-41B2-AC54-0157B907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384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232A"/>
                </a:solidFill>
              </a:defRPr>
            </a:pPr>
            <a:r>
              <a:rPr sz="1350" b="0">
                <a:solidFill>
                  <a:srgbClr val="26232A"/>
                </a:solidFill>
              </a:rPr>
              <a:t>Claims retain provenance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F06A75-CCAA-4C20-9B72-513B04DD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63888"/>
                </a:solidFill>
              </a:defRPr>
            </a:pPr>
            <a:r>
              <a:rPr sz="1275" b="1">
                <a:solidFill>
                  <a:srgbClr val="E63888"/>
                </a:solidFill>
              </a:rPr>
              <a:t>FRESH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641B92-3634-4FD9-8E1B-7E4E1D39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433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232A"/>
                </a:solidFill>
              </a:defRPr>
            </a:pPr>
            <a:r>
              <a:rPr sz="1350" b="0">
                <a:solidFill>
                  <a:srgbClr val="26232A"/>
                </a:solidFill>
              </a:rPr>
              <a:t>Owners and review dates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66F4FE-0F3F-4D5C-9E0F-9505373F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481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63888"/>
                </a:solidFill>
              </a:defRPr>
            </a:pPr>
            <a:r>
              <a:rPr sz="1275" b="1">
                <a:solidFill>
                  <a:srgbClr val="E63888"/>
                </a:solidFill>
              </a:rPr>
              <a:t>PERMISSION-AWARE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FEA02E-AA19-405D-8568-5D9CC72B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481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232A"/>
                </a:solidFill>
              </a:defRPr>
            </a:pPr>
            <a:r>
              <a:rPr sz="1350" b="0">
                <a:solidFill>
                  <a:srgbClr val="26232A"/>
                </a:solidFill>
              </a:rPr>
              <a:t>Access follows policy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40237B-DEBB-4FE8-A198-C6E477D7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530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63888"/>
                </a:solidFill>
              </a:defRPr>
            </a:pPr>
            <a:r>
              <a:rPr sz="1275" b="1">
                <a:solidFill>
                  <a:srgbClr val="E63888"/>
                </a:solidFill>
              </a:rPr>
              <a:t>VERSIONED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40E210-C9A5-445F-A65D-D669FD7E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232A"/>
                </a:solidFill>
              </a:defRPr>
            </a:pPr>
            <a:r>
              <a:rPr sz="1350" b="0">
                <a:solidFill>
                  <a:srgbClr val="26232A"/>
                </a:solidFill>
              </a:rPr>
              <a:t>Changes stay inspectable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34C283-7AAD-44AE-9F0D-15420FAF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7690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1F5C"/>
                </a:solidFill>
              </a:defRPr>
            </a:pPr>
            <a:r>
              <a:rPr sz="1350" b="1">
                <a:solidFill>
                  <a:srgbClr val="3D1F5C"/>
                </a:solidFill>
              </a:rPr>
              <a:t>GitHub is one useful pattern. The rule is durable ownership and change history.</a:t>
            </a:r>
          </a:p>
        </p:txBody>
      </p:sp>
    </p:spTree>
    <p:extLst>
      <p:ext uri="{BB962C8B-B14F-4D97-AF65-F5344CB8AC3E}">
        <p14:creationId xmlns:p14="http://schemas.microsoft.com/office/powerpoint/2010/main" val="20971305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2B12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050DBF-86A9-4253-A14D-241EB1F8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63888"/>
                </a:solidFill>
              </a:defRPr>
            </a:pPr>
            <a:r>
              <a:rPr sz="1800" b="1">
                <a:solidFill>
                  <a:srgbClr val="E63888"/>
                </a:solidFill>
              </a:rPr>
              <a:t>ForgeX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950C46-BC0F-495A-9397-92F4C32A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61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EA2B0F-35AF-4091-A2A4-2AF26A54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Learn the plumbing. Keep the durable parts portable.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585F56-8D30-4517-A693-9E6D6935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AE3EC"/>
                </a:solidFill>
              </a:defRPr>
            </a:pPr>
            <a:r>
              <a:rPr sz="750" b="1">
                <a:solidFill>
                  <a:srgbClr val="EAE3EC"/>
                </a:solidFill>
              </a:rPr>
              <a:t>FORGEX  |  AI FOR ABM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45889B-C697-4D82-B72B-A2399150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7F25C"/>
                </a:solidFill>
              </a:defRPr>
            </a:pPr>
            <a:r>
              <a:rPr sz="825" b="1">
                <a:solidFill>
                  <a:srgbClr val="C7F25C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1E8142-3820-4B70-B31E-01255835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F25C"/>
                </a:solidFill>
              </a:defRPr>
            </a:pPr>
            <a:r>
              <a:rPr sz="975" b="1">
                <a:solidFill>
                  <a:srgbClr val="C7F25C"/>
                </a:solidFill>
              </a:rPr>
              <a:t>THE FIXTURES CHANGE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EDA6E8-04B4-4A3E-ABC7-A63BD00B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B0B0F"/>
          </a:solidFill>
          <a:ln xmlns:a="http://schemas.openxmlformats.org/drawingml/2006/main" w="19050">
            <a:solidFill>
              <a:srgbClr val="E6388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725B75-2E0D-46FB-B61C-017A373B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MODELS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7CF96-C2DB-4A20-8689-0D82CB43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00300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B0B0F"/>
          </a:solidFill>
          <a:ln xmlns:a="http://schemas.openxmlformats.org/drawingml/2006/main" w="19050">
            <a:solidFill>
              <a:srgbClr val="E6388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8E075F-0438-4C61-BC1F-F6BDB735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098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HARNESSES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32EB18-F79E-4CE6-BF96-C1FB70BE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00300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B0B0F"/>
          </a:solidFill>
          <a:ln xmlns:a="http://schemas.openxmlformats.org/drawingml/2006/main" w="19050">
            <a:solidFill>
              <a:srgbClr val="E6388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162E3-4476-4691-A7D7-15681143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98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CONNECTORS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279958-071A-4917-B654-FCCBD88C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00300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B0B0F"/>
          </a:solidFill>
          <a:ln xmlns:a="http://schemas.openxmlformats.org/drawingml/2006/main" w="19050">
            <a:solidFill>
              <a:srgbClr val="E6388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963049-18D3-4B48-B3B7-BE156437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98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EMPLOYERS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F2EC87-A3D4-4DA4-8AFC-2443F6FD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86150"/>
            <a:ext cx="9906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38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AD8C28-8C78-444F-BF59-8E53892A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124200"/>
            <a:ext cx="762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38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D71CDC-9E81-4094-9FB7-45F29383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24200"/>
            <a:ext cx="762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38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EBA0F7-AE63-4FFD-B5C1-655B154B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124200"/>
            <a:ext cx="762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38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9A3923-7468-46F2-8D74-7D767B73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124200"/>
            <a:ext cx="762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38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DC3542-995F-4FE9-9230-6A121146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F25C"/>
                </a:solidFill>
              </a:defRPr>
            </a:pPr>
            <a:r>
              <a:rPr sz="975" b="1">
                <a:solidFill>
                  <a:srgbClr val="C7F25C"/>
                </a:solidFill>
              </a:rPr>
              <a:t>THE CRAFT COMPOUNDS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98DB99-3BF4-4509-BED7-2597D943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3D1F5C"/>
          </a:solidFill>
          <a:ln xmlns:a="http://schemas.openxmlformats.org/drawingml/2006/main" w="19050">
            <a:solidFill>
              <a:srgbClr val="C7F25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96FFB7-63DC-4C13-A9F0-6D79B339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1390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CONTEXT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1804F2-00D7-4057-986B-3ED19B0F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38650"/>
            <a:ext cx="1428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3D1F5C"/>
          </a:solidFill>
          <a:ln xmlns:a="http://schemas.openxmlformats.org/drawingml/2006/main" w="19050">
            <a:solidFill>
              <a:srgbClr val="C7F25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C9ABB8-F228-429A-92E5-D990155C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686300"/>
            <a:ext cx="120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SKILLS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12CCB0-4D38-43F8-B67F-358B87CB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438650"/>
            <a:ext cx="1714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3D1F5C"/>
          </a:solidFill>
          <a:ln xmlns:a="http://schemas.openxmlformats.org/drawingml/2006/main" w="19050">
            <a:solidFill>
              <a:srgbClr val="C7F25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96A6A9-71CA-4C48-86FA-84B8E2BD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8630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TEMPLATES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903DAC-CF9B-42B7-95FB-18D23D52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38650"/>
            <a:ext cx="1238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3D1F5C"/>
          </a:solidFill>
          <a:ln xmlns:a="http://schemas.openxmlformats.org/drawingml/2006/main" w="19050">
            <a:solidFill>
              <a:srgbClr val="C7F25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B5BE97-E1B3-4631-8AE3-83D01ADB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86300"/>
            <a:ext cx="1009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TESTS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22F2B0-7773-49D1-9DC9-EE42D221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438650"/>
            <a:ext cx="2286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3D1F5C"/>
          </a:solidFill>
          <a:ln xmlns:a="http://schemas.openxmlformats.org/drawingml/2006/main" w="19050">
            <a:solidFill>
              <a:srgbClr val="C7F25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8E446C-101C-47C7-B342-5265E3AC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6863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DECISION HISTORY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1F086C-93B2-441D-891A-387CC646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34050"/>
            <a:ext cx="1043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7F25C"/>
                </a:solidFill>
              </a:defRPr>
            </a:pPr>
            <a:r>
              <a:rPr sz="1800" b="1">
                <a:solidFill>
                  <a:srgbClr val="C7F25C"/>
                </a:solidFill>
              </a:rPr>
              <a:t>Company tools are fixtures. Your ability to reconnect the system is the craft.</a:t>
            </a:r>
          </a:p>
        </p:txBody>
      </p:sp>
    </p:spTree>
    <p:extLst>
      <p:ext uri="{BB962C8B-B14F-4D97-AF65-F5344CB8AC3E}">
        <p14:creationId xmlns:p14="http://schemas.microsoft.com/office/powerpoint/2010/main" val="1939791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D3CAD7-C6EA-43D5-95DE-A1A07296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63888"/>
                </a:solidFill>
              </a:defRPr>
            </a:pPr>
            <a:r>
              <a:rPr sz="1800" b="1">
                <a:solidFill>
                  <a:srgbClr val="E63888"/>
                </a:solidFill>
              </a:rPr>
              <a:t>ForgeX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B2AFFD-1E96-4AD1-B63A-E76D1040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61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1F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8F20C7-0B59-456D-A51E-F0FF3444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6232A"/>
                </a:solidFill>
              </a:defRPr>
            </a:pPr>
            <a:r>
              <a:rPr sz="3150" b="1">
                <a:solidFill>
                  <a:srgbClr val="26232A"/>
                </a:solidFill>
              </a:rPr>
              <a:t>Level 3: Reusable Skill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FA9475-23FF-4CB3-BBC7-058D392B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E6873"/>
                </a:solidFill>
              </a:defRPr>
            </a:pPr>
            <a:r>
              <a:rPr sz="750" b="1">
                <a:solidFill>
                  <a:srgbClr val="6E6873"/>
                </a:solidFill>
              </a:rPr>
              <a:t>FORGEX  |  AI FOR ABM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DB4F99-F869-4AB6-8DBA-748AC659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63888"/>
                </a:solidFill>
              </a:defRPr>
            </a:pPr>
            <a:r>
              <a:rPr sz="825" b="1">
                <a:solidFill>
                  <a:srgbClr val="E63888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2A7AF4-884B-45D7-A50D-6BD44926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6873"/>
                </a:solidFill>
              </a:defRPr>
            </a:pPr>
            <a:r>
              <a:rPr sz="2100" b="1">
                <a:solidFill>
                  <a:srgbClr val="6E6873"/>
                </a:solidFill>
              </a:rPr>
              <a:t>TELL ME X ANSWER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36DE03-7A47-4409-86A8-9A663D47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431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E63888"/>
                </a:solidFill>
              </a:defRPr>
            </a:pPr>
            <a:r>
              <a:rPr sz="2850" b="1">
                <a:solidFill>
                  <a:srgbClr val="E63888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30B91C-3DF5-4E9A-8796-8630E45E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47850"/>
            <a:ext cx="5429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1F5C"/>
                </a:solidFill>
              </a:defRPr>
            </a:pPr>
            <a:r>
              <a:rPr sz="2400" b="1">
                <a:solidFill>
                  <a:srgbClr val="3D1F5C"/>
                </a:solidFill>
              </a:rPr>
              <a:t>PRODUCE Y OUTCOME</a:t>
            </a:r>
          </a:p>
          <a:p xmlns:a="http://schemas.openxmlformats.org/drawingml/2006/main">
            <a:pPr algn="l">
              <a:defRPr sz="2400" b="1">
                <a:solidFill>
                  <a:srgbClr val="3D1F5C"/>
                </a:solidFill>
              </a:defRPr>
            </a:pPr>
            <a:r>
              <a:rPr sz="2400" b="1">
                <a:solidFill>
                  <a:srgbClr val="3D1F5C"/>
                </a:solidFill>
              </a:rPr>
              <a:t>THROUGH THIS 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206F8-FF54-4186-AB49-C5AE376D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6286500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AE3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35FA64-9933-413F-B04C-703DCA1E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63888"/>
                </a:solidFill>
              </a:defRPr>
            </a:pPr>
            <a:r>
              <a:rPr sz="975" b="1">
                <a:solidFill>
                  <a:srgbClr val="E63888"/>
                </a:solidFill>
              </a:rPr>
              <a:t>INPUT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ADA090-74C0-4F3C-B098-6FC3C6B6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58293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232A"/>
                </a:solidFill>
              </a:defRPr>
            </a:pPr>
            <a:r>
              <a:rPr sz="1425" b="0">
                <a:solidFill>
                  <a:srgbClr val="26232A"/>
                </a:solidFill>
              </a:rPr>
              <a:t>Follow the ABM Strategist skill. Use the North Peak corpus and Alder evidence. Produce the required campaign brief. Apply the output contract and QA. Stop before creative or outreach.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089F7A-CEEB-42B6-9CD0-4CC0147B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28950"/>
            <a:ext cx="4362450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3D1F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FB651A-1EF4-4BC3-8830-8F8E9005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19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F25C"/>
                </a:solidFill>
              </a:defRPr>
            </a:pPr>
            <a:r>
              <a:rPr sz="975" b="1">
                <a:solidFill>
                  <a:srgbClr val="C7F25C"/>
                </a:solidFill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028BF0-B47A-4D63-ADDB-F4117F74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81400"/>
            <a:ext cx="3905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The same inspectable brief structure across accounts and users.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25BFF5-8021-441B-85AC-8CD2E2FD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8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F9F8DB-B9E1-4F9F-8E16-66ABF3C7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50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1F5C"/>
                </a:solidFill>
              </a:defRPr>
            </a:pPr>
            <a:r>
              <a:rPr sz="975" b="1">
                <a:solidFill>
                  <a:srgbClr val="3D1F5C"/>
                </a:solidFill>
              </a:rPr>
              <a:t>LAYER ADDED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1BECFA-38F0-45C6-9774-684A5F30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7690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1F5C"/>
                </a:solidFill>
              </a:defRPr>
            </a:pPr>
            <a:r>
              <a:rPr sz="1350" b="1">
                <a:solidFill>
                  <a:srgbClr val="3D1F5C"/>
                </a:solidFill>
              </a:rPr>
              <a:t>Skill  +  template  +  output contract  +  QA  +  stop conditions</a:t>
            </a:r>
          </a:p>
        </p:txBody>
      </p:sp>
    </p:spTree>
    <p:extLst>
      <p:ext uri="{BB962C8B-B14F-4D97-AF65-F5344CB8AC3E}">
        <p14:creationId xmlns:p14="http://schemas.microsoft.com/office/powerpoint/2010/main" val="2961138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2B12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A1881F-21D5-4699-A9B0-2C338350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63888"/>
                </a:solidFill>
              </a:defRPr>
            </a:pPr>
            <a:r>
              <a:rPr sz="1800" b="1">
                <a:solidFill>
                  <a:srgbClr val="E63888"/>
                </a:solidFill>
              </a:rPr>
              <a:t>ForgeX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9D2B76-E12A-44C5-B2EA-910ECBFD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61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9B838A-FA0F-4D34-B820-0D716E06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A skill is a small operating manual for an agent.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D9403C-6D86-4068-88F5-148FF76B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AE3EC"/>
                </a:solidFill>
              </a:defRPr>
            </a:pPr>
            <a:r>
              <a:rPr sz="750" b="1">
                <a:solidFill>
                  <a:srgbClr val="EAE3EC"/>
                </a:solidFill>
              </a:rPr>
              <a:t>FORGEX  |  AI FOR ABM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04EB77-ED83-49E0-8395-4250E6E4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7F25C"/>
                </a:solidFill>
              </a:defRPr>
            </a:pPr>
            <a:r>
              <a:rPr sz="825" b="1">
                <a:solidFill>
                  <a:srgbClr val="C7F25C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DEB3C5-E65E-483D-B556-CEFFFD12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1714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3D1F5C"/>
          </a:solidFill>
          <a:ln xmlns:a="http://schemas.openxmlformats.org/drawingml/2006/main" w="19050">
            <a:solidFill>
              <a:srgbClr val="C7F25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6BFF76-6C54-4809-833A-57828918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F25C"/>
                </a:solidFill>
              </a:defRPr>
            </a:pPr>
            <a:r>
              <a:rPr sz="1050" b="1">
                <a:solidFill>
                  <a:srgbClr val="C7F25C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95BDFF-1B55-4782-BCF4-B182B017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1409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WHEN TO USE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B4AA21-0419-4842-8766-E27D8AD1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9718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63888"/>
                </a:solidFill>
              </a:defRPr>
            </a:pPr>
            <a:r>
              <a:rPr sz="1650" b="1">
                <a:solidFill>
                  <a:srgbClr val="E63888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C848CE-1E9A-4A6A-9B99-3D60EAB5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362200"/>
            <a:ext cx="1714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3D1F5C"/>
          </a:solidFill>
          <a:ln xmlns:a="http://schemas.openxmlformats.org/drawingml/2006/main" w="19050">
            <a:solidFill>
              <a:srgbClr val="C7F25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75C8AA-18DA-44D4-813D-93C02E21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51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F25C"/>
                </a:solidFill>
              </a:defRPr>
            </a:pPr>
            <a:r>
              <a:rPr sz="1050" b="1">
                <a:solidFill>
                  <a:srgbClr val="C7F25C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D66431-B319-4F41-8119-9420060A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28950"/>
            <a:ext cx="1409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INPUTS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803A31-A8D6-4099-B2FC-E278AE6C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9718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63888"/>
                </a:solidFill>
              </a:defRPr>
            </a:pPr>
            <a:r>
              <a:rPr sz="1650" b="1">
                <a:solidFill>
                  <a:srgbClr val="E63888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DC3465-569F-424F-B923-54AF1AFC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62200"/>
            <a:ext cx="1714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3D1F5C"/>
          </a:solidFill>
          <a:ln xmlns:a="http://schemas.openxmlformats.org/drawingml/2006/main" w="19050">
            <a:solidFill>
              <a:srgbClr val="C7F25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B617FF-8E1D-4B8E-B4F2-D602B55D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1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F25C"/>
                </a:solidFill>
              </a:defRPr>
            </a:pPr>
            <a:r>
              <a:rPr sz="1050" b="1">
                <a:solidFill>
                  <a:srgbClr val="C7F25C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B3C7A2-817F-4A16-AB29-8D577AE9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28950"/>
            <a:ext cx="1409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PROCESS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C185C8-2F5F-491C-AB1B-E2DA9E8B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63888"/>
                </a:solidFill>
              </a:defRPr>
            </a:pPr>
            <a:r>
              <a:rPr sz="1650" b="1">
                <a:solidFill>
                  <a:srgbClr val="E63888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D949C0-F632-4255-9D98-7D76790B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62200"/>
            <a:ext cx="1714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3D1F5C"/>
          </a:solidFill>
          <a:ln xmlns:a="http://schemas.openxmlformats.org/drawingml/2006/main" w="19050">
            <a:solidFill>
              <a:srgbClr val="C7F25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41FA28-AA1B-4049-B84F-C8C8165A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1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F25C"/>
                </a:solidFill>
              </a:defRPr>
            </a:pPr>
            <a:r>
              <a:rPr sz="1050" b="1">
                <a:solidFill>
                  <a:srgbClr val="C7F25C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89B1FC-A700-4BEB-94A5-23B8E454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28950"/>
            <a:ext cx="1409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OUTPUT CONTRACT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58A9D6-0179-47A8-8E33-B7AA11D9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718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63888"/>
                </a:solidFill>
              </a:defRPr>
            </a:pPr>
            <a:r>
              <a:rPr sz="1650" b="1">
                <a:solidFill>
                  <a:srgbClr val="E63888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3942F5-6B23-42E6-A91D-CD49FBC5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62200"/>
            <a:ext cx="1714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3D1F5C"/>
          </a:solidFill>
          <a:ln xmlns:a="http://schemas.openxmlformats.org/drawingml/2006/main" w="19050">
            <a:solidFill>
              <a:srgbClr val="C7F25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B62549-75BC-4C15-BF25-D7C95BCF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1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F25C"/>
                </a:solidFill>
              </a:defRPr>
            </a:pPr>
            <a:r>
              <a:rPr sz="1050" b="1">
                <a:solidFill>
                  <a:srgbClr val="C7F25C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F0EC97-D107-4D57-9B1C-8C589374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28950"/>
            <a:ext cx="1409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QUALITY CHECKS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BF511A-9AAF-4AC8-801E-9A6110EB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9718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63888"/>
                </a:solidFill>
              </a:defRPr>
            </a:pPr>
            <a:r>
              <a:rPr sz="1650" b="1">
                <a:solidFill>
                  <a:srgbClr val="E63888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FC330B-6BA0-44F7-9C69-F419628C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362200"/>
            <a:ext cx="1714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63888"/>
          </a:solidFill>
          <a:ln xmlns:a="http://schemas.openxmlformats.org/drawingml/2006/main" w="19050">
            <a:solidFill>
              <a:srgbClr val="E6388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CCD1B9-A55E-44E6-A6A0-9E3A0B18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51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F25C"/>
                </a:solidFill>
              </a:defRPr>
            </a:pPr>
            <a:r>
              <a:rPr sz="1050" b="1">
                <a:solidFill>
                  <a:srgbClr val="C7F25C"/>
                </a:solidFill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F88E16-207D-4EAC-A520-1F443A82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28950"/>
            <a:ext cx="1409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STOP CONDITIONS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3D96D6-B38E-4FEF-98A8-7F7C29C9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ABM Strategist turns evidence into an approval-ready account campaign brief.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4A3305-6598-480F-96DB-5D2A103D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149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7F25C"/>
                </a:solidFill>
              </a:defRPr>
            </a:pPr>
            <a:r>
              <a:rPr sz="1575" b="1">
                <a:solidFill>
                  <a:srgbClr val="C7F25C"/>
                </a:solidFill>
              </a:rPr>
              <a:t>Fix the shared process once. Every future run starts stronger.</a:t>
            </a:r>
          </a:p>
        </p:txBody>
      </p:sp>
    </p:spTree>
    <p:extLst>
      <p:ext uri="{BB962C8B-B14F-4D97-AF65-F5344CB8AC3E}">
        <p14:creationId xmlns:p14="http://schemas.microsoft.com/office/powerpoint/2010/main" val="14922092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D44F0B-0225-4CE0-BC74-40A43F1B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63888"/>
                </a:solidFill>
              </a:defRPr>
            </a:pPr>
            <a:r>
              <a:rPr sz="1800" b="1">
                <a:solidFill>
                  <a:srgbClr val="E63888"/>
                </a:solidFill>
              </a:rPr>
              <a:t>ForgeX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CB3EBC-E827-46CF-8CE3-554DC9E7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61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1F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A148C6-7948-43C3-A2D1-A505C408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6232A"/>
                </a:solidFill>
              </a:defRPr>
            </a:pPr>
            <a:r>
              <a:rPr sz="3150" b="1">
                <a:solidFill>
                  <a:srgbClr val="26232A"/>
                </a:solidFill>
              </a:rPr>
              <a:t>Borrow the pattern. Keep the attribution.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2002F8-2AD8-416D-8147-8D29546C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E6873"/>
                </a:solidFill>
              </a:defRPr>
            </a:pPr>
            <a:r>
              <a:rPr sz="750" b="1">
                <a:solidFill>
                  <a:srgbClr val="6E6873"/>
                </a:solidFill>
              </a:rPr>
              <a:t>FORGEX  |  AI FOR ABM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BED357-0B15-4963-A0E3-794FF9B3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63888"/>
                </a:solidFill>
              </a:defRPr>
            </a:pPr>
            <a:r>
              <a:rPr sz="825" b="1">
                <a:solidFill>
                  <a:srgbClr val="E63888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5BD202-D2FB-45C0-87AD-D29F4F0A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109347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A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1A2EE8-720C-4F40-888B-1BC45F1B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526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1F5C"/>
                </a:solidFill>
              </a:defRPr>
            </a:pPr>
            <a:r>
              <a:rPr sz="1500" b="1">
                <a:solidFill>
                  <a:srgbClr val="3D1F5C"/>
                </a:solidFill>
              </a:rPr>
              <a:t>MULTICHANNEL CAMPAIGN BUILDER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AA2032-8738-47AB-AB7B-27E0A8D5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3888"/>
                </a:solidFill>
              </a:defRPr>
            </a:pPr>
            <a:r>
              <a:rPr sz="1050" b="1">
                <a:solidFill>
                  <a:srgbClr val="E63888"/>
                </a:solidFill>
              </a:rPr>
              <a:t>Erwann Lefevre  |  Level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0F07D3-0856-4561-B9D9-EBD013AE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47900"/>
            <a:ext cx="567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232A"/>
                </a:solidFill>
              </a:defRPr>
            </a:pPr>
            <a:r>
              <a:rPr sz="1275" b="0">
                <a:solidFill>
                  <a:srgbClr val="26232A"/>
                </a:solidFill>
              </a:rPr>
              <a:t>intake → 3 angles → correction → channel rules → output → QA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474EF7-84E9-4861-BD5F-1C0F471F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71850"/>
            <a:ext cx="109347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3D1F5C"/>
          </a:solidFill>
          <a:ln xmlns:a="http://schemas.openxmlformats.org/drawingml/2006/main" w="19050">
            <a:solidFill>
              <a:srgbClr val="3D1F5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54963B-2223-44F1-A1AF-FBFB8934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433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1:1 ABM ADS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274034-6686-4324-B81B-D91928A1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671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F25C"/>
                </a:solidFill>
              </a:defRPr>
            </a:pPr>
            <a:r>
              <a:rPr sz="1050" b="1">
                <a:solidFill>
                  <a:srgbClr val="C7F25C"/>
                </a:solidFill>
              </a:rPr>
              <a:t>Ivan Falco  |  Advanced Level 3 to 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5F6E66-1181-4F26-9154-7C5AC1E5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38550"/>
            <a:ext cx="567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SOPs → scripts → DRAFT creation → QA → explicit activation gate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539F22-85B9-4138-AF43-4F689C9A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958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63888"/>
                </a:solidFill>
              </a:defRPr>
            </a:pPr>
            <a:r>
              <a:rPr sz="975" b="1">
                <a:solidFill>
                  <a:srgbClr val="E63888"/>
                </a:solidFill>
              </a:rPr>
              <a:t>ADOPT OR PILOT PATTERNS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996B37-03CE-4E59-B9C4-C4345064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D1F5C"/>
                </a:solidFill>
              </a:defRPr>
            </a:pPr>
            <a:r>
              <a:rPr sz="1275" b="1">
                <a:solidFill>
                  <a:srgbClr val="3D1F5C"/>
                </a:solidFill>
              </a:rPr>
              <a:t>Hiring verification  •  Signal interpretation  •  ICP reconciliation  •  Dated company research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82B7FC-AC07-4071-A0E1-F30BBB56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00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8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D9AE8A-1D66-44E6-8523-C1A8E03A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500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D1F5C"/>
                </a:solidFill>
              </a:defRPr>
            </a:pPr>
            <a:r>
              <a:rPr sz="1050" b="1">
                <a:solidFill>
                  <a:srgbClr val="3D1F5C"/>
                </a:solidFill>
              </a:rPr>
              <a:t>AUDIENCE FILTER: 22 reconciled  |  9 semantic review  |  final 12 match, 1 review, 6 no match, 3 excluded  |  45/45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04F575-FF6C-4871-8245-0151B5B2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E6873"/>
                </a:solidFill>
              </a:defRPr>
            </a:pPr>
            <a:r>
              <a:rPr sz="825" b="0">
                <a:solidFill>
                  <a:srgbClr val="6E6873"/>
                </a:solidFill>
              </a:rPr>
              <a:t>Conditional pass for reviewed list classification only. No enrichment, sending, CRM writes, or sequence enrollment.</a:t>
            </a:r>
          </a:p>
        </p:txBody>
      </p:sp>
    </p:spTree>
    <p:extLst>
      <p:ext uri="{BB962C8B-B14F-4D97-AF65-F5344CB8AC3E}">
        <p14:creationId xmlns:p14="http://schemas.microsoft.com/office/powerpoint/2010/main" val="13664246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F13A57-2433-4EFE-A6FA-22527AFE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63888"/>
                </a:solidFill>
              </a:defRPr>
            </a:pPr>
            <a:r>
              <a:rPr sz="1800" b="1">
                <a:solidFill>
                  <a:srgbClr val="E63888"/>
                </a:solidFill>
              </a:rPr>
              <a:t>ForgeX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2C083F-536E-4E28-9CE9-F737CB0A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61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1F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78CE24-45FF-490D-BC49-E3196599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6232A"/>
                </a:solidFill>
              </a:defRPr>
            </a:pPr>
            <a:r>
              <a:rPr sz="3150" b="1">
                <a:solidFill>
                  <a:srgbClr val="26232A"/>
                </a:solidFill>
              </a:rPr>
              <a:t>Level 4: Governed Automation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5A30DC-22E9-4C9D-86BE-F8163369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E6873"/>
                </a:solidFill>
              </a:defRPr>
            </a:pPr>
            <a:r>
              <a:rPr sz="750" b="1">
                <a:solidFill>
                  <a:srgbClr val="6E6873"/>
                </a:solidFill>
              </a:rPr>
              <a:t>FORGEX  |  AI FOR ABM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2D6DF1-05E5-4894-9431-7E9B582D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63888"/>
                </a:solidFill>
              </a:defRPr>
            </a:pPr>
            <a:r>
              <a:rPr sz="825" b="1">
                <a:solidFill>
                  <a:srgbClr val="E63888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BF2306-78AD-464F-A4BA-CC2DCE6A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619125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A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6264B3-EB25-4A51-8BFA-995FF7B6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63888"/>
                </a:solidFill>
              </a:defRPr>
            </a:pPr>
            <a:r>
              <a:rPr sz="975" b="1">
                <a:solidFill>
                  <a:srgbClr val="E63888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A43F1E-9B06-4AE5-9D46-36727A2D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5734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232A"/>
                </a:solidFill>
              </a:defRPr>
            </a:pPr>
            <a:r>
              <a:rPr sz="1425" b="0">
                <a:solidFill>
                  <a:srgbClr val="26232A"/>
                </a:solidFill>
              </a:rPr>
              <a:t>Every Monday, check approved Alder sources. If material evidence changed, rerun the skills, update the brief, show the diff, and route exceptions. Do not publish or send.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E4C2B4-D40D-4BA1-926A-016B3C88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943100"/>
            <a:ext cx="440055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3D1F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48B5D9-1740-481D-9604-8E57C04B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336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F25C"/>
                </a:solidFill>
              </a:defRPr>
            </a:pPr>
            <a:r>
              <a:rPr sz="975" b="1">
                <a:solidFill>
                  <a:srgbClr val="C7F25C"/>
                </a:solidFill>
              </a:rPr>
              <a:t>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14A331-183C-46DC-902C-092EECBA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95550"/>
            <a:ext cx="39433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Updated brief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Diff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No-change record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Exception queue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Audit trail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71FFDE-503E-4C0E-B749-905D7C0E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0"/>
            <a:ext cx="1021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D1F5C"/>
                </a:solidFill>
              </a:defRPr>
            </a:pPr>
            <a:r>
              <a:rPr sz="1875" b="1">
                <a:solidFill>
                  <a:srgbClr val="3D1F5C"/>
                </a:solidFill>
              </a:rPr>
              <a:t>A good workflow records no change when the evidence does not justify a change.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E203C2-2839-4502-B5FA-BA1D3E64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8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D1280A-8515-4C36-A78B-9F1BAC2B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50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1F5C"/>
                </a:solidFill>
              </a:defRPr>
            </a:pPr>
            <a:r>
              <a:rPr sz="975" b="1">
                <a:solidFill>
                  <a:srgbClr val="3D1F5C"/>
                </a:solidFill>
              </a:rPr>
              <a:t>LAYER ADDED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59C147-19B5-4822-B50F-A33145A4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7690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1F5C"/>
                </a:solidFill>
              </a:defRPr>
            </a:pPr>
            <a:r>
              <a:rPr sz="1350" b="1">
                <a:solidFill>
                  <a:srgbClr val="3D1F5C"/>
                </a:solidFill>
              </a:rPr>
              <a:t>Trigger  +  state  +  routing  +  retries  +  monitoring</a:t>
            </a:r>
          </a:p>
        </p:txBody>
      </p:sp>
    </p:spTree>
    <p:extLst>
      <p:ext uri="{BB962C8B-B14F-4D97-AF65-F5344CB8AC3E}">
        <p14:creationId xmlns:p14="http://schemas.microsoft.com/office/powerpoint/2010/main" val="50615275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2B12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5C6A61-53DC-4755-8BFD-B4FF63B8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63888"/>
                </a:solidFill>
              </a:defRPr>
            </a:pPr>
            <a:r>
              <a:rPr sz="1800" b="1">
                <a:solidFill>
                  <a:srgbClr val="E63888"/>
                </a:solidFill>
              </a:rPr>
              <a:t>ForgeX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EA8BC4-9B08-4F85-8761-216A5143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61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953A41-D44E-49D1-B795-058459C8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A cron job IN a trench coat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864564-AAA7-4C9A-AA1F-1E2912F5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AE3EC"/>
                </a:solidFill>
              </a:defRPr>
            </a:pPr>
            <a:r>
              <a:rPr sz="750" b="1">
                <a:solidFill>
                  <a:srgbClr val="EAE3EC"/>
                </a:solidFill>
              </a:rPr>
              <a:t>FORGEX  |  AI FOR ABM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DD4602-41CC-4863-BB42-93ADCC9F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7F25C"/>
                </a:solidFill>
              </a:defRPr>
            </a:pPr>
            <a:r>
              <a:rPr sz="825" b="1">
                <a:solidFill>
                  <a:srgbClr val="C7F25C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620EBC-E447-465A-87FF-2D4FA2CB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581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Do not dress up a brittle automation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and call it an agent.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8F42A3-FFA4-496D-A729-015E5FCD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F25C"/>
                </a:solidFill>
              </a:defRPr>
            </a:pPr>
            <a:r>
              <a:rPr sz="975" b="1">
                <a:solidFill>
                  <a:srgbClr val="C7F25C"/>
                </a:solidFill>
              </a:rPr>
              <a:t>AUTOMATION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194B35-974A-4F4D-B2E8-326B6785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AE3EC"/>
                </a:solidFill>
              </a:defRPr>
            </a:pPr>
            <a:r>
              <a:rPr sz="1650" b="0">
                <a:solidFill>
                  <a:srgbClr val="EAE3EC"/>
                </a:solidFill>
              </a:rPr>
              <a:t>Predetermined path and tools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038EDB-6A7F-48DC-8262-17117CE3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F25C"/>
                </a:solidFill>
              </a:defRPr>
            </a:pPr>
            <a:r>
              <a:rPr sz="975" b="1">
                <a:solidFill>
                  <a:srgbClr val="C7F25C"/>
                </a:solidFill>
              </a:rPr>
              <a:t>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DFEE8D-64C2-4B44-808F-8324CCD9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Goal, dynamic planning, and tool choice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60931C-C461-4192-AD43-68FC4E89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561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F25C"/>
                </a:solidFill>
              </a:defRPr>
            </a:pPr>
            <a:r>
              <a:rPr sz="1500" b="1">
                <a:solidFill>
                  <a:srgbClr val="C7F25C"/>
                </a:solidFill>
              </a:rPr>
              <a:t>Useful automation is still useful. Fake sophistication is the problem.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bfc8904f52442d"/>
          <a:stretch xmlns:a="http://schemas.openxmlformats.org/drawingml/2006/main"/>
        </p:blipFill>
        <p:spPr>
          <a:xfrm xmlns:a="http://schemas.openxmlformats.org/drawingml/2006/main">
            <a:off x="7575550" y="1562100"/>
            <a:ext cx="3175000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6676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2A7D6D-B9EA-4A9D-BD25-03EF8E45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63888"/>
                </a:solidFill>
              </a:defRPr>
            </a:pPr>
            <a:r>
              <a:rPr sz="1800" b="1">
                <a:solidFill>
                  <a:srgbClr val="E63888"/>
                </a:solidFill>
              </a:rPr>
              <a:t>ForgeX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5B88C8-0F86-47A9-B60F-364C7B13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61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1F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01FAEB-44F5-4535-8579-FE7868E6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6232A"/>
                </a:solidFill>
              </a:defRPr>
            </a:pPr>
            <a:r>
              <a:rPr sz="3150" b="1">
                <a:solidFill>
                  <a:srgbClr val="26232A"/>
                </a:solidFill>
              </a:rPr>
              <a:t>Workflow, agent, MCP, and governance solve different problems.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6DEC60-AEAF-4339-A8A2-8D201E6D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E6873"/>
                </a:solidFill>
              </a:defRPr>
            </a:pPr>
            <a:r>
              <a:rPr sz="750" b="1">
                <a:solidFill>
                  <a:srgbClr val="6E6873"/>
                </a:solidFill>
              </a:rPr>
              <a:t>FORGEX  |  AI FOR ABM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C229CD-67A9-428C-9B23-601F7846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63888"/>
                </a:solidFill>
              </a:defRPr>
            </a:pPr>
            <a:r>
              <a:rPr sz="825" b="1">
                <a:solidFill>
                  <a:srgbClr val="E63888"/>
                </a:solidFill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811E66-2A5D-4233-8C57-7F2F9DD0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9906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95F378-5E32-49EE-984B-027E056F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432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B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CFAB9B-17FF-4A60-9AEC-FFDB5F3A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95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260BB6-84C5-47FF-8BBC-48E0F955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71900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D1F5C"/>
                </a:solidFill>
              </a:defRPr>
            </a:pPr>
            <a:r>
              <a:rPr sz="1575" b="1">
                <a:solidFill>
                  <a:srgbClr val="3D1F5C"/>
                </a:solidFill>
              </a:rPr>
              <a:t>WORKFLOW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28AB3F-C4E4-4DC6-BB06-A47220A9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2209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6232A"/>
                </a:solidFill>
              </a:defRPr>
            </a:pPr>
            <a:r>
              <a:rPr sz="1275" b="0">
                <a:solidFill>
                  <a:srgbClr val="26232A"/>
                </a:solidFill>
              </a:rPr>
              <a:t>defines a known route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EB59A4-6813-4416-B0C7-B8E9C77D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7432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1F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7C1ED6-F538-46C9-9977-A35C6C93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95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0C096A-DDAE-4FC1-91D4-540E98C4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771900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D1F5C"/>
                </a:solidFill>
              </a:defRPr>
            </a:pPr>
            <a:r>
              <a:rPr sz="1575" b="1">
                <a:solidFill>
                  <a:srgbClr val="3D1F5C"/>
                </a:solidFill>
              </a:rPr>
              <a:t>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37347A-A946-41D7-8B37-CBE0CE9F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229100"/>
            <a:ext cx="2209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6232A"/>
                </a:solidFill>
              </a:defRPr>
            </a:pPr>
            <a:r>
              <a:rPr sz="1275" b="0">
                <a:solidFill>
                  <a:srgbClr val="26232A"/>
                </a:solidFill>
              </a:rPr>
              <a:t>chooses the route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962FBE-9714-41D8-9627-6A660F4F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8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503C8A-7EE4-458A-9620-BA2C534E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95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D8BF3-74D7-4347-992B-94AE57FE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71900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D1F5C"/>
                </a:solidFill>
              </a:defRPr>
            </a:pPr>
            <a:r>
              <a:rPr sz="1575" b="1">
                <a:solidFill>
                  <a:srgbClr val="3D1F5C"/>
                </a:solidFill>
              </a:rPr>
              <a:t>MCP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D6A8E3-77DD-4FE1-A900-4525BE42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29100"/>
            <a:ext cx="2209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6232A"/>
                </a:solidFill>
              </a:defRPr>
            </a:pPr>
            <a:r>
              <a:rPr sz="1275" b="0">
                <a:solidFill>
                  <a:srgbClr val="26232A"/>
                </a:solidFill>
              </a:rPr>
              <a:t>connects approved resources and tools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AB0A91-C1F7-4CFC-B17A-A9D7AF91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7432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D5A440-FC1B-45D7-AC81-4C0BFBED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895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1F5C"/>
                </a:solidFill>
              </a:defRPr>
            </a:pPr>
            <a:r>
              <a:rPr sz="1350" b="1">
                <a:solidFill>
                  <a:srgbClr val="3D1F5C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36E8B6-72C9-45AF-99CB-F28F76DF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771900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D1F5C"/>
                </a:solidFill>
              </a:defRPr>
            </a:pPr>
            <a:r>
              <a:rPr sz="1575" b="1">
                <a:solidFill>
                  <a:srgbClr val="3D1F5C"/>
                </a:solidFill>
              </a:rPr>
              <a:t>GOVERNANCE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25ED5B-333A-4BDB-881D-1083CC77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229100"/>
            <a:ext cx="2209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6232A"/>
                </a:solidFill>
              </a:defRPr>
            </a:pPr>
            <a:r>
              <a:rPr sz="1275" b="0">
                <a:solidFill>
                  <a:srgbClr val="26232A"/>
                </a:solidFill>
              </a:rPr>
              <a:t>defines authority and human decisions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A086F0-E63E-4B5A-AB38-0C038CAB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29250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63888"/>
                </a:solidFill>
              </a:defRPr>
            </a:pPr>
            <a:r>
              <a:rPr sz="2100" b="1">
                <a:solidFill>
                  <a:srgbClr val="E63888"/>
                </a:solidFill>
              </a:rPr>
              <a:t>MCP gives access. It does not give judgment or permission.</a:t>
            </a:r>
          </a:p>
        </p:txBody>
      </p:sp>
    </p:spTree>
    <p:extLst>
      <p:ext uri="{BB962C8B-B14F-4D97-AF65-F5344CB8AC3E}">
        <p14:creationId xmlns:p14="http://schemas.microsoft.com/office/powerpoint/2010/main" val="7060537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2B12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5CDB12-2336-47EB-91BB-656B3F3F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63888"/>
                </a:solidFill>
              </a:defRPr>
            </a:pPr>
            <a:r>
              <a:rPr sz="1800" b="1">
                <a:solidFill>
                  <a:srgbClr val="E63888"/>
                </a:solidFill>
              </a:rPr>
              <a:t>ForgeX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727A8E-BCDB-46A2-9562-2DCD7562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61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BAF49F-CAFD-4972-BA68-E3ADBA8B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Level 5: Goal-Driven Agent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EA5427-38C2-46C6-9D3E-9DE10876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AE3EC"/>
                </a:solidFill>
              </a:defRPr>
            </a:pPr>
            <a:r>
              <a:rPr sz="750" b="1">
                <a:solidFill>
                  <a:srgbClr val="EAE3EC"/>
                </a:solidFill>
              </a:rPr>
              <a:t>FORGEX  |  AI FOR ABM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3CB36D-799F-4463-AB51-5851C921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7F25C"/>
                </a:solidFill>
              </a:defRPr>
            </a:pPr>
            <a:r>
              <a:rPr sz="825" b="1">
                <a:solidFill>
                  <a:srgbClr val="C7F25C"/>
                </a:solidFill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7BB3B8-37F7-47CE-BFF8-3706CC87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AE3EC"/>
                </a:solidFill>
              </a:defRPr>
            </a:pPr>
            <a:r>
              <a:rPr sz="2100" b="1">
                <a:solidFill>
                  <a:srgbClr val="EAE3EC"/>
                </a:solidFill>
              </a:rPr>
              <a:t>I GIVE YOU TEXT,</a:t>
            </a:r>
          </a:p>
          <a:p xmlns:a="http://schemas.openxmlformats.org/drawingml/2006/main">
            <a:pPr algn="l">
              <a:defRPr sz="2100" b="1">
                <a:solidFill>
                  <a:srgbClr val="EAE3EC"/>
                </a:solidFill>
              </a:defRPr>
            </a:pPr>
            <a:r>
              <a:rPr sz="2100" b="1">
                <a:solidFill>
                  <a:srgbClr val="EAE3EC"/>
                </a:solidFill>
              </a:rPr>
              <a:t>YOU GIVE ME AN ANSWER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EA87F3-9479-468D-A6CB-4107AB60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717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E63888"/>
                </a:solidFill>
              </a:defRPr>
            </a:pPr>
            <a:r>
              <a:rPr sz="2850" b="1">
                <a:solidFill>
                  <a:srgbClr val="E63888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69307B-5F98-419F-A148-503E7AF6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62150"/>
            <a:ext cx="523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I GIVE YOU A GOAL,</a:t>
            </a:r>
          </a:p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YOU PRODUCE THE OUTCOME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3B633D-92AC-4B8A-A109-3768BADF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64770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3D1F5C"/>
          </a:solidFill>
          <a:ln xmlns:a="http://schemas.openxmlformats.org/drawingml/2006/main" w="19050">
            <a:solidFill>
              <a:srgbClr val="E6388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5E4B35-2D9D-416C-BB5F-4FDBAF8D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F25C"/>
                </a:solidFill>
              </a:defRPr>
            </a:pPr>
            <a:r>
              <a:rPr sz="975" b="1">
                <a:solidFill>
                  <a:srgbClr val="C7F25C"/>
                </a:solidFill>
              </a:rPr>
              <a:t>INPUT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4A8216-3D23-4B7F-AB32-9B101DD1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5700"/>
            <a:ext cx="60198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Increase qualified engagement across North Peak's top industrial AI accounts. Decide which accounts need research, a refreshed brief, a personalized experience, or no action. Request approval before activation.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411F8E-2DBC-49FB-95A8-72357A51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81350"/>
            <a:ext cx="40005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0B0B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1A849A-5F71-4675-A601-3FD6A98F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71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F25C"/>
                </a:solidFill>
              </a:defRPr>
            </a:pPr>
            <a:r>
              <a:rPr sz="975" b="1">
                <a:solidFill>
                  <a:srgbClr val="C7F25C"/>
                </a:solidFill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FED068-9921-4D2D-8A03-3ACBB045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33800"/>
            <a:ext cx="3543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 prioritized plan and the right mix of research, briefs, experiences, and next actions.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239476-2F4C-4167-A057-01192E73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C7F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E2B4F1-D240-4A03-A057-BDB34224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50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1F5C"/>
                </a:solidFill>
              </a:defRPr>
            </a:pPr>
            <a:r>
              <a:rPr sz="975" b="1">
                <a:solidFill>
                  <a:srgbClr val="3D1F5C"/>
                </a:solidFill>
              </a:rPr>
              <a:t>LAYER ADDED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C21339-C4E5-4921-A000-4E4C1208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7690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1F5C"/>
                </a:solidFill>
              </a:defRPr>
            </a:pPr>
            <a:r>
              <a:rPr sz="1350" b="1">
                <a:solidFill>
                  <a:srgbClr val="3D1F5C"/>
                </a:solidFill>
              </a:rPr>
              <a:t>Goals  +  planning  +  tool choice  +  evaluation  +  interrupt controls</a:t>
            </a:r>
          </a:p>
        </p:txBody>
      </p:sp>
    </p:spTree>
    <p:extLst>
      <p:ext uri="{BB962C8B-B14F-4D97-AF65-F5344CB8AC3E}">
        <p14:creationId xmlns:p14="http://schemas.microsoft.com/office/powerpoint/2010/main" val="144678167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91065D-1B43-479A-8158-045CBD9D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63888"/>
                </a:solidFill>
              </a:defRPr>
            </a:pPr>
            <a:r>
              <a:rPr sz="1800" b="1">
                <a:solidFill>
                  <a:srgbClr val="E63888"/>
                </a:solidFill>
              </a:rPr>
              <a:t>ForgeX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20FE96-8D7D-460C-8E09-14C37336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61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1F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1ADD6C-5385-4FDE-96DD-FDE55D82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6232A"/>
                </a:solidFill>
              </a:defRPr>
            </a:pPr>
            <a:r>
              <a:rPr sz="3150" b="1">
                <a:solidFill>
                  <a:srgbClr val="26232A"/>
                </a:solidFill>
              </a:rPr>
              <a:t>Keep one ABM campaign current across all six levels.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132526-511A-41C4-9CE3-7E62AA52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E6873"/>
                </a:solidFill>
              </a:defRPr>
            </a:pPr>
            <a:r>
              <a:rPr sz="750" b="1">
                <a:solidFill>
                  <a:srgbClr val="6E6873"/>
                </a:solidFill>
              </a:rPr>
              <a:t>FORGEX  |  AI FOR ABM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2C4CD9-CF34-44C5-A79A-8C929000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63888"/>
                </a:solidFill>
              </a:defRPr>
            </a:pPr>
            <a:r>
              <a:rPr sz="825" b="1">
                <a:solidFill>
                  <a:srgbClr val="E63888"/>
                </a:solidFill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79D4E3-7716-464E-BEB4-E9916AA1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619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9D6E8"/>
          </a:solidFill>
          <a:ln xmlns:a="http://schemas.openxmlformats.org/drawingml/2006/main" w="19050">
            <a:solidFill>
              <a:srgbClr val="EA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D347CE-1DCB-4678-9977-C5622BDB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863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63888"/>
                </a:solidFill>
              </a:defRPr>
            </a:pPr>
            <a:r>
              <a:rPr sz="1500" b="1">
                <a:solidFill>
                  <a:srgbClr val="E63888"/>
                </a:solidFill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9B33AE-F7EE-43A9-B335-1D8694B3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86400"/>
            <a:ext cx="1314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232A"/>
                </a:solidFill>
              </a:defRPr>
            </a:pPr>
            <a:r>
              <a:rPr sz="1200" b="1">
                <a:solidFill>
                  <a:srgbClr val="26232A"/>
                </a:solidFill>
              </a:rPr>
              <a:t>Generic ideas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1BC67F-CFDB-46E8-A0B3-1036B040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495800"/>
            <a:ext cx="16192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9D6E8"/>
          </a:solidFill>
          <a:ln xmlns:a="http://schemas.openxmlformats.org/drawingml/2006/main" w="19050">
            <a:solidFill>
              <a:srgbClr val="EAE3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5CDFD0-202F-4F8A-8BC7-A4023F4E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6291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63888"/>
                </a:solidFill>
              </a:defRPr>
            </a:pPr>
            <a:r>
              <a:rPr sz="1500" b="1">
                <a:solidFill>
                  <a:srgbClr val="E63888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FDC4EC-4BC6-4372-B571-01E12D2A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029200"/>
            <a:ext cx="1314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232A"/>
                </a:solidFill>
              </a:defRPr>
            </a:pPr>
            <a:r>
              <a:rPr sz="1200" b="1">
                <a:solidFill>
                  <a:srgbClr val="26232A"/>
                </a:solidFill>
              </a:rPr>
              <a:t>One-off tailored draft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25CFFD-688E-43A6-BA62-D438B8AF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38600"/>
            <a:ext cx="16192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AE3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FE496B-C134-45A7-9E23-E33D7099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719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63888"/>
                </a:solidFill>
              </a:defRPr>
            </a:pPr>
            <a:r>
              <a:rPr sz="1500" b="1">
                <a:solidFill>
                  <a:srgbClr val="E6388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3F4E09-B349-4D68-8973-A7910ED2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72000"/>
            <a:ext cx="1314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232A"/>
                </a:solidFill>
              </a:defRPr>
            </a:pPr>
            <a:r>
              <a:rPr sz="1200" b="1">
                <a:solidFill>
                  <a:srgbClr val="26232A"/>
                </a:solidFill>
              </a:rPr>
              <a:t>Grounded draft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12685E-6F0E-4219-944D-91A7FB1F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81400"/>
            <a:ext cx="1619250" cy="16764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AE3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C6BE37-12DB-44FB-A24C-7D53AF37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147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63888"/>
                </a:solidFill>
              </a:defRPr>
            </a:pPr>
            <a:r>
              <a:rPr sz="1500" b="1">
                <a:solidFill>
                  <a:srgbClr val="E63888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10CE64-62E4-4026-898D-646C792F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14800"/>
            <a:ext cx="1314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232A"/>
                </a:solidFill>
              </a:defRPr>
            </a:pPr>
            <a:r>
              <a:rPr sz="1200" b="1">
                <a:solidFill>
                  <a:srgbClr val="26232A"/>
                </a:solidFill>
              </a:rPr>
              <a:t>Repeatable approval-ready brief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EEFC99-7470-44E3-8149-40D8D0E1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24200"/>
            <a:ext cx="1619250" cy="18669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3D1F5C"/>
          </a:solidFill>
          <a:ln xmlns:a="http://schemas.openxmlformats.org/drawingml/2006/main" w="19050">
            <a:solidFill>
              <a:srgbClr val="3D1F5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BF31E0-0780-4AEF-92AB-91B3678C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575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F25C"/>
                </a:solidFill>
              </a:defRPr>
            </a:pPr>
            <a:r>
              <a:rPr sz="1500" b="1">
                <a:solidFill>
                  <a:srgbClr val="C7F25C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C31E6B-5CF4-49CB-B38C-5AAD32F8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57600"/>
            <a:ext cx="1314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Refreshed brief, diff, exceptions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340E85-B9C8-4BE5-B6DA-D14D40A4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667000"/>
            <a:ext cx="1619250" cy="20574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3D1F5C"/>
          </a:solidFill>
          <a:ln xmlns:a="http://schemas.openxmlformats.org/drawingml/2006/main" w="19050">
            <a:solidFill>
              <a:srgbClr val="3D1F5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2C5338-D95A-4D8C-97A7-AB757653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8003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F25C"/>
                </a:solidFill>
              </a:defRPr>
            </a:pPr>
            <a:r>
              <a:rPr sz="1500" b="1">
                <a:solidFill>
                  <a:srgbClr val="C7F25C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57AECE-AD4E-49BC-A054-F126268C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200400"/>
            <a:ext cx="1314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Prioritized plan and required artifacts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275628-632A-4026-963C-9445CCB0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674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1F5C"/>
                </a:solidFill>
              </a:defRPr>
            </a:pPr>
            <a:r>
              <a:rPr sz="1650" b="1">
                <a:solidFill>
                  <a:srgbClr val="3D1F5C"/>
                </a:solidFill>
              </a:rPr>
              <a:t>The artifact becomes grounded and repeatable before it becomes autonomous.</a:t>
            </a:r>
          </a:p>
        </p:txBody>
      </p:sp>
    </p:spTree>
    <p:extLst>
      <p:ext uri="{BB962C8B-B14F-4D97-AF65-F5344CB8AC3E}">
        <p14:creationId xmlns:p14="http://schemas.microsoft.com/office/powerpoint/2010/main" val="7077835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2B12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D91164-3F31-467A-A31E-D48DD822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63888"/>
                </a:solidFill>
              </a:defRPr>
            </a:pPr>
            <a:r>
              <a:rPr sz="1800" b="1">
                <a:solidFill>
                  <a:srgbClr val="E63888"/>
                </a:solidFill>
              </a:rPr>
              <a:t>ForgeX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091ACB-D162-43E4-BD73-2013D638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61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10B6C8-CCF0-4036-87CF-F1A19A2F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Measure outcomes, not AI activity.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4F2440-1605-4070-8E70-2B2D506E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AE3EC"/>
                </a:solidFill>
              </a:defRPr>
            </a:pPr>
            <a:r>
              <a:rPr sz="750" b="1">
                <a:solidFill>
                  <a:srgbClr val="EAE3EC"/>
                </a:solidFill>
              </a:rPr>
              <a:t>FORGEX  |  AI FOR ABM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B719D-E2DB-470A-8979-34F20687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7F25C"/>
                </a:solidFill>
              </a:defRPr>
            </a:pPr>
            <a:r>
              <a:rPr sz="825" b="1">
                <a:solidFill>
                  <a:srgbClr val="C7F25C"/>
                </a:solidFill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F62717-F218-483F-9D8E-85F2E42F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63888"/>
                </a:solidFill>
              </a:defRPr>
            </a:pPr>
            <a:r>
              <a:rPr sz="2850" b="1">
                <a:solidFill>
                  <a:srgbClr val="E63888"/>
                </a:solidFill>
              </a:rPr>
              <a:t>SPEED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6508A0-E117-4016-BB9C-FC3926CA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9550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QUALITY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1D6C9A-B6D1-45F0-BBB2-08E33E0B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C7F25C"/>
                </a:solidFill>
              </a:defRPr>
            </a:pPr>
            <a:r>
              <a:rPr sz="2850" b="1">
                <a:solidFill>
                  <a:srgbClr val="C7F25C"/>
                </a:solidFill>
              </a:rPr>
              <a:t>CONSISTENCY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0FF1BE-9FE0-4E75-871F-1DFFDAF1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861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CAMPAIGN VOLUME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A63EE1-8EF6-4E83-BB29-682524FD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861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63888"/>
                </a:solidFill>
              </a:defRPr>
            </a:pPr>
            <a:r>
              <a:rPr sz="2850" b="1">
                <a:solidFill>
                  <a:srgbClr val="E63888"/>
                </a:solidFill>
              </a:rPr>
              <a:t>PERSONALIZATION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406927-91B4-49EF-BD6D-70D944D0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8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0AB4CE-79C8-4C6A-9BEA-D466D6EF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E3EC"/>
                </a:solidFill>
              </a:defRPr>
            </a:pPr>
            <a:r>
              <a:rPr sz="1350" b="0">
                <a:solidFill>
                  <a:srgbClr val="EAE3EC"/>
                </a:solidFill>
              </a:rPr>
              <a:t>When the system runs without direct supervision, also track corrections, exceptions, failed runs, stale sources, unsupported claims, overrides, and cost per approved outcome.</a:t>
            </a:r>
          </a:p>
        </p:txBody>
      </p:sp>
    </p:spTree>
    <p:extLst>
      <p:ext uri="{BB962C8B-B14F-4D97-AF65-F5344CB8AC3E}">
        <p14:creationId xmlns:p14="http://schemas.microsoft.com/office/powerpoint/2010/main" val="130708895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A782E4-DA57-4801-AB48-E53A5025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63888"/>
                </a:solidFill>
              </a:defRPr>
            </a:pPr>
            <a:r>
              <a:rPr sz="1800" b="1">
                <a:solidFill>
                  <a:srgbClr val="E63888"/>
                </a:solidFill>
              </a:rPr>
              <a:t>ForgeX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82F4C8-D197-4D29-95F8-E17798E6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61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1F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AB06FB-9CCB-41F8-B724-ED4AC0E6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6232A"/>
                </a:solidFill>
              </a:defRPr>
            </a:pPr>
            <a:r>
              <a:rPr sz="3150" b="1">
                <a:solidFill>
                  <a:srgbClr val="26232A"/>
                </a:solidFill>
              </a:rPr>
              <a:t>Most teams should focus here.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25A5AB-D0E8-404A-9D64-F277001E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E6873"/>
                </a:solidFill>
              </a:defRPr>
            </a:pPr>
            <a:r>
              <a:rPr sz="750" b="1">
                <a:solidFill>
                  <a:srgbClr val="6E6873"/>
                </a:solidFill>
              </a:rPr>
              <a:t>FORGEX  |  AI FOR ABM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23BD64-3C90-4B9D-AE0C-02426B0A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63888"/>
                </a:solidFill>
              </a:defRPr>
            </a:pPr>
            <a:r>
              <a:rPr sz="825" b="1">
                <a:solidFill>
                  <a:srgbClr val="E63888"/>
                </a:solidFill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8610CA-BE21-4A95-9EF3-4C5DB92E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142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450" b="1">
                <a:solidFill>
                  <a:srgbClr val="3D1F5C"/>
                </a:solidFill>
              </a:defRPr>
            </a:pPr>
            <a:r>
              <a:rPr sz="6450" b="1">
                <a:solidFill>
                  <a:srgbClr val="3D1F5C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3573A7-99DA-42CC-B6AC-E88F9DBC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590800"/>
            <a:ext cx="819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E63888"/>
                </a:solidFill>
              </a:defRPr>
            </a:pPr>
            <a:r>
              <a:rPr sz="3450" b="1">
                <a:solidFill>
                  <a:srgbClr val="E63888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42D00A-E597-49F6-9198-DC710547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24100"/>
            <a:ext cx="142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450" b="1">
                <a:solidFill>
                  <a:srgbClr val="3D1F5C"/>
                </a:solidFill>
              </a:defRPr>
            </a:pPr>
            <a:r>
              <a:rPr sz="6450" b="1">
                <a:solidFill>
                  <a:srgbClr val="3D1F5C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46214D-7305-4FEC-831E-3A518977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90800"/>
            <a:ext cx="819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E63888"/>
                </a:solidFill>
              </a:defRPr>
            </a:pPr>
            <a:r>
              <a:rPr sz="3450" b="1">
                <a:solidFill>
                  <a:srgbClr val="E63888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9654AD-FB28-4DDC-90E1-4F789ABC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324100"/>
            <a:ext cx="142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450" b="1">
                <a:solidFill>
                  <a:srgbClr val="3D1F5C"/>
                </a:solidFill>
              </a:defRPr>
            </a:pPr>
            <a:r>
              <a:rPr sz="6450" b="1">
                <a:solidFill>
                  <a:srgbClr val="3D1F5C"/>
                </a:solidFill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909282-FCED-49A3-84B9-D82FE2BE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E6873"/>
                </a:solidFill>
              </a:defRPr>
            </a:pPr>
            <a:r>
              <a:rPr sz="1200" b="1">
                <a:solidFill>
                  <a:srgbClr val="6E6873"/>
                </a:solidFill>
              </a:rPr>
              <a:t>Ground the 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BE0456-51F4-45A4-A802-7D8DE0A5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861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E6873"/>
                </a:solidFill>
              </a:defRPr>
            </a:pPr>
            <a:r>
              <a:rPr sz="1200" b="1">
                <a:solidFill>
                  <a:srgbClr val="6E6873"/>
                </a:solidFill>
              </a:rPr>
              <a:t>Package the process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6A8B00-7A8F-4192-BED2-F2B7022A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4861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E6873"/>
                </a:solidFill>
              </a:defRPr>
            </a:pPr>
            <a:r>
              <a:rPr sz="1200" b="1">
                <a:solidFill>
                  <a:srgbClr val="6E6873"/>
                </a:solidFill>
              </a:rPr>
              <a:t>Run it safely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58616-3807-4863-A1F3-272A9443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00250"/>
            <a:ext cx="36766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3D1F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F425B7-65A2-4083-8E59-7D55EBE8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66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F25C"/>
                </a:solidFill>
              </a:defRPr>
            </a:pPr>
            <a:r>
              <a:rPr sz="975" b="1">
                <a:solidFill>
                  <a:srgbClr val="C7F25C"/>
                </a:solidFill>
              </a:rPr>
              <a:t>YOUR STARTER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D7C32D-FFDE-44B2-96C6-40B88682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24150"/>
            <a:ext cx="30099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North Peak company brain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Context Corpus Builder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ABM Strategist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30-day upgrade plans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B50A7B-078D-4985-ACF7-8AD92183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054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63888"/>
                </a:solidFill>
              </a:defRPr>
            </a:pPr>
            <a:r>
              <a:rPr sz="1650" b="1">
                <a:solidFill>
                  <a:srgbClr val="E63888"/>
                </a:solidFill>
              </a:rPr>
              <a:t>Level 4 to 5 needs a one-to-one architecture session around your systems, data, permissions, and failure tolerance.</a:t>
            </a:r>
          </a:p>
        </p:txBody>
      </p:sp>
    </p:spTree>
    <p:extLst>
      <p:ext uri="{BB962C8B-B14F-4D97-AF65-F5344CB8AC3E}">
        <p14:creationId xmlns:p14="http://schemas.microsoft.com/office/powerpoint/2010/main" val="43514051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2B12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C2B1FB-48F4-49F0-910A-D2458139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63888"/>
                </a:solidFill>
              </a:defRPr>
            </a:pPr>
            <a:r>
              <a:rPr sz="1800" b="1">
                <a:solidFill>
                  <a:srgbClr val="E63888"/>
                </a:solidFill>
              </a:rPr>
              <a:t>ForgeX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2A5266-DC7E-4A8C-845B-518AEB4D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61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F4537E-0E90-40D5-A3A5-38DE48B1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Live build: fresh workspace to grounded ABM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9CDD24-B54C-40D7-80BB-B38DAA9E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AE3EC"/>
                </a:solidFill>
              </a:defRPr>
            </a:pPr>
            <a:r>
              <a:rPr sz="750" b="1">
                <a:solidFill>
                  <a:srgbClr val="EAE3EC"/>
                </a:solidFill>
              </a:rPr>
              <a:t>FORGEX  |  AI FOR ABM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0E3F22-9879-475F-81E2-6866D166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7F25C"/>
                </a:solidFill>
              </a:defRPr>
            </a:pPr>
            <a:r>
              <a:rPr sz="825" b="1">
                <a:solidFill>
                  <a:srgbClr val="C7F25C"/>
                </a:solidFill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24D341-28C7-42E9-946D-63C1A111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62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8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D674BE-76F1-4C81-A120-1B2B7ABB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4787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155BFE-221E-4A97-BDAB-B5CBA89D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71675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Open a fresh Claude Code workspace through ForgeX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707B65-19CC-4249-9344-B95F414B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8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C2CEB9-2BAA-415C-AD24-A6B5BB0A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79082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1784CA-0418-40B0-A373-7D2DEF85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14625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Bring in the ForgeX repository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6A5656-C405-421B-846C-31A5BE45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8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38536F-0B6F-45CF-8FD0-C17C2AE9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53377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D451AC-90C1-4257-B3BC-64A919EA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57575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Inspect safety, North Peak context, and ABM Strategist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CF75BD-6DFD-45F7-9E9A-67AE7599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8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003C51-38F1-4E03-96F5-82700E78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27672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075C0B-16F4-4B88-9EE9-75C58F7C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00525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Run the Level 3 Alder prompt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3EB7EB-F0D7-4C06-B373-CC2AA118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E932F4-9E8F-47C1-80F1-952DD0B3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01967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1F5C"/>
                </a:solidFill>
              </a:defRPr>
            </a:pPr>
            <a:r>
              <a:rPr sz="1200" b="1">
                <a:solidFill>
                  <a:srgbClr val="3D1F5C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8089DD-966E-4FCD-B7D6-39115CA7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43475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Review evidence, gaps, approvals, and the Level 4 extension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5A6A5A-491F-4FF6-929A-B62B2F13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24100"/>
            <a:ext cx="2133600" cy="213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8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3C55EB-1FBE-473C-A8C5-61533E8E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3365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12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A11346-ABA6-42EA-8166-20D0372D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00350"/>
            <a:ext cx="1200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C7F25C"/>
                </a:solidFill>
              </a:defRPr>
            </a:pPr>
            <a:r>
              <a:rPr sz="4800" b="1">
                <a:solidFill>
                  <a:srgbClr val="C7F25C"/>
                </a:solidFill>
              </a:rPr>
              <a:t>15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0288B3-5359-4C2D-8045-514BACD2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81400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MINUTES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BDA6B2-AE47-4FF3-9663-BAD8D966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02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7F25C"/>
                </a:solidFill>
              </a:defRPr>
            </a:pPr>
            <a:r>
              <a:rPr sz="1725" b="1">
                <a:solidFill>
                  <a:srgbClr val="C7F25C"/>
                </a:solidFill>
              </a:rPr>
              <a:t>Leave with one repeated job you are ready to move up one level.</a:t>
            </a:r>
          </a:p>
        </p:txBody>
      </p:sp>
    </p:spTree>
    <p:extLst>
      <p:ext uri="{BB962C8B-B14F-4D97-AF65-F5344CB8AC3E}">
        <p14:creationId xmlns:p14="http://schemas.microsoft.com/office/powerpoint/2010/main" val="20947633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2026-08-26T21:59:24.4130000Z</dcterms:created>
  <dcterms:modified xsi:type="dcterms:W3CDTF">2026-08-26T21:59:24.4130000Z</dcterms:modified>
</coreProperties>
</file>