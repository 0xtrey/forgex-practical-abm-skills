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3dc5427b6c4323" /><Relationship Type="http://schemas.openxmlformats.org/officeDocument/2006/relationships/extended-properties" Target="/docProps/app.xml" Id="R9fae8f44e5834b68" /><Relationship Type="http://schemas.openxmlformats.org/officeDocument/2006/relationships/officeDocument" Target="/ppt/presentation.xml" Id="Rd2c92fe2655642d4" /></Relationships>
</file>

<file path=ppt/presentation.xml><?xml version="1.0" encoding="utf-8"?>
<p:presentation xmlns:p="http://schemas.openxmlformats.org/presentationml/2006/main">
  <p:sldMasterIdLst>
    <p:sldMasterId xmlns:r="http://schemas.openxmlformats.org/officeDocument/2006/relationships" id="2147483648" r:id="Rfe00e59b654c40d5"/>
  </p:sldMasterIdLst>
  <p:notesMasterIdLst>
    <p:notesMasterId xmlns:r="http://schemas.openxmlformats.org/officeDocument/2006/relationships" r:id="R7aeee596bf224c9a"/>
  </p:notesMasterIdLst>
  <p:sldIdLst>
    <p:sldId xmlns:r="http://schemas.openxmlformats.org/officeDocument/2006/relationships" id="256" r:id="R24600793459e4bd4"/>
    <p:sldId xmlns:r="http://schemas.openxmlformats.org/officeDocument/2006/relationships" id="257" r:id="R0e83dc2283ae4a55"/>
    <p:sldId xmlns:r="http://schemas.openxmlformats.org/officeDocument/2006/relationships" id="258" r:id="R1c29110686ba493f"/>
    <p:sldId xmlns:r="http://schemas.openxmlformats.org/officeDocument/2006/relationships" id="259" r:id="R5d75a4c89299465f"/>
    <p:sldId xmlns:r="http://schemas.openxmlformats.org/officeDocument/2006/relationships" id="260" r:id="R4974d41e5f924b7d"/>
    <p:sldId xmlns:r="http://schemas.openxmlformats.org/officeDocument/2006/relationships" id="261" r:id="Re7ea8a45ee0d42e0"/>
    <p:sldId xmlns:r="http://schemas.openxmlformats.org/officeDocument/2006/relationships" id="262" r:id="R223fda62538f4328"/>
    <p:sldId xmlns:r="http://schemas.openxmlformats.org/officeDocument/2006/relationships" id="263" r:id="Rca64699d0f61454f"/>
    <p:sldId xmlns:r="http://schemas.openxmlformats.org/officeDocument/2006/relationships" id="264" r:id="R982b889915714eae"/>
    <p:sldId xmlns:r="http://schemas.openxmlformats.org/officeDocument/2006/relationships" id="265" r:id="Rdbefd637f5f7449e"/>
    <p:sldId xmlns:r="http://schemas.openxmlformats.org/officeDocument/2006/relationships" id="266" r:id="R0246762f5de54fb4"/>
    <p:sldId xmlns:r="http://schemas.openxmlformats.org/officeDocument/2006/relationships" id="267" r:id="Ra808485261c544c4"/>
    <p:sldId xmlns:r="http://schemas.openxmlformats.org/officeDocument/2006/relationships" id="268" r:id="R9f4ad4df31694980"/>
    <p:sldId xmlns:r="http://schemas.openxmlformats.org/officeDocument/2006/relationships" id="269" r:id="R5cf6ab838f014cc4"/>
    <p:sldId xmlns:r="http://schemas.openxmlformats.org/officeDocument/2006/relationships" id="270" r:id="Ra14d20e8c6044212"/>
    <p:sldId xmlns:r="http://schemas.openxmlformats.org/officeDocument/2006/relationships" id="271" r:id="Ra59cc42121a64bd4"/>
    <p:sldId xmlns:r="http://schemas.openxmlformats.org/officeDocument/2006/relationships" id="272" r:id="Rd9d80430a4ac4b50"/>
    <p:sldId xmlns:r="http://schemas.openxmlformats.org/officeDocument/2006/relationships" id="273" r:id="R63ca8427868741c4"/>
    <p:sldId xmlns:r="http://schemas.openxmlformats.org/officeDocument/2006/relationships" id="274" r:id="Rfea7b80b489f432e"/>
    <p:sldId xmlns:r="http://schemas.openxmlformats.org/officeDocument/2006/relationships" id="275" r:id="Rad18f98718aa42b1"/>
    <p:sldId xmlns:r="http://schemas.openxmlformats.org/officeDocument/2006/relationships" id="276" r:id="R3a81fd69046149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73c4a35c47422a" /><Relationship Type="http://schemas.openxmlformats.org/officeDocument/2006/relationships/slideMaster" Target="/ppt/slideMasters/slideMaster1.xml" Id="Rfe00e59b654c40d5" /><Relationship Type="http://schemas.openxmlformats.org/officeDocument/2006/relationships/notesMaster" Target="/ppt/notesMasters/notesMaster1.xml" Id="R7aeee596bf224c9a" /><Relationship Type="http://schemas.openxmlformats.org/officeDocument/2006/relationships/presProps" Target="/ppt/presProps.xml" Id="R9f101a5be3004776" /><Relationship Type="http://schemas.openxmlformats.org/officeDocument/2006/relationships/tableStyles" Target="/ppt/tableStyles.xml" Id="Rc96d136b59da4b14" /><Relationship Type="http://schemas.openxmlformats.org/officeDocument/2006/relationships/slide" Target="/ppt/slides/slide1.xml" Id="R24600793459e4bd4" /><Relationship Type="http://schemas.openxmlformats.org/officeDocument/2006/relationships/slide" Target="/ppt/slides/slide2.xml" Id="R0e83dc2283ae4a55" /><Relationship Type="http://schemas.openxmlformats.org/officeDocument/2006/relationships/slide" Target="/ppt/slides/slide3.xml" Id="R1c29110686ba493f" /><Relationship Type="http://schemas.openxmlformats.org/officeDocument/2006/relationships/slide" Target="/ppt/slides/slide4.xml" Id="R5d75a4c89299465f" /><Relationship Type="http://schemas.openxmlformats.org/officeDocument/2006/relationships/slide" Target="/ppt/slides/slide5.xml" Id="R4974d41e5f924b7d" /><Relationship Type="http://schemas.openxmlformats.org/officeDocument/2006/relationships/slide" Target="/ppt/slides/slide6.xml" Id="Re7ea8a45ee0d42e0" /><Relationship Type="http://schemas.openxmlformats.org/officeDocument/2006/relationships/slide" Target="/ppt/slides/slide7.xml" Id="R223fda62538f4328" /><Relationship Type="http://schemas.openxmlformats.org/officeDocument/2006/relationships/slide" Target="/ppt/slides/slide8.xml" Id="Rca64699d0f61454f" /><Relationship Type="http://schemas.openxmlformats.org/officeDocument/2006/relationships/slide" Target="/ppt/slides/slide9.xml" Id="R982b889915714eae" /><Relationship Type="http://schemas.openxmlformats.org/officeDocument/2006/relationships/slide" Target="/ppt/slides/slide10.xml" Id="Rdbefd637f5f7449e" /><Relationship Type="http://schemas.openxmlformats.org/officeDocument/2006/relationships/slide" Target="/ppt/slides/slide11.xml" Id="R0246762f5de54fb4" /><Relationship Type="http://schemas.openxmlformats.org/officeDocument/2006/relationships/slide" Target="/ppt/slides/slide12.xml" Id="Ra808485261c544c4" /><Relationship Type="http://schemas.openxmlformats.org/officeDocument/2006/relationships/slide" Target="/ppt/slides/slide13.xml" Id="R9f4ad4df31694980" /><Relationship Type="http://schemas.openxmlformats.org/officeDocument/2006/relationships/slide" Target="/ppt/slides/slide14.xml" Id="R5cf6ab838f014cc4" /><Relationship Type="http://schemas.openxmlformats.org/officeDocument/2006/relationships/slide" Target="/ppt/slides/slide15.xml" Id="Ra14d20e8c6044212" /><Relationship Type="http://schemas.openxmlformats.org/officeDocument/2006/relationships/slide" Target="/ppt/slides/slide16.xml" Id="Ra59cc42121a64bd4" /><Relationship Type="http://schemas.openxmlformats.org/officeDocument/2006/relationships/slide" Target="/ppt/slides/slide17.xml" Id="Rd9d80430a4ac4b50" /><Relationship Type="http://schemas.openxmlformats.org/officeDocument/2006/relationships/slide" Target="/ppt/slides/slide18.xml" Id="R63ca8427868741c4" /><Relationship Type="http://schemas.openxmlformats.org/officeDocument/2006/relationships/slide" Target="/ppt/slides/slide19.xml" Id="Rfea7b80b489f432e" /><Relationship Type="http://schemas.openxmlformats.org/officeDocument/2006/relationships/slide" Target="/ppt/slides/slide20.xml" Id="Rad18f98718aa42b1" /><Relationship Type="http://schemas.openxmlformats.org/officeDocument/2006/relationships/slide" Target="/ppt/slides/slide21.xml" Id="R3a81fd69046149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9929ce6aef4f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50c134e569484e" /><Relationship Type="http://schemas.openxmlformats.org/officeDocument/2006/relationships/notesMaster" Target="/ppt/notesMasters/notesMaster1.xml" Id="R1c14e4e60b684e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7e0af6986a4ba3" /><Relationship Type="http://schemas.openxmlformats.org/officeDocument/2006/relationships/notesMaster" Target="/ppt/notesMasters/notesMaster1.xml" Id="Rc926107138594b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d42b347c904483" /><Relationship Type="http://schemas.openxmlformats.org/officeDocument/2006/relationships/notesMaster" Target="/ppt/notesMasters/notesMaster1.xml" Id="Rc5aa1eb1af814a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227815b2e64c9a" /><Relationship Type="http://schemas.openxmlformats.org/officeDocument/2006/relationships/notesMaster" Target="/ppt/notesMasters/notesMaster1.xml" Id="R352c089008e84f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6eab419c594321" /><Relationship Type="http://schemas.openxmlformats.org/officeDocument/2006/relationships/notesMaster" Target="/ppt/notesMasters/notesMaster1.xml" Id="R20cf2f35b1cd43a6" /></Relationships>
</file>

<file path=ppt/notesSlides/_rels/notesSlide6.xml.rels>&#65279;<?xml version="1.0" encoding="utf-8"?><Relationships xmlns="http://schemas.openxmlformats.org/package/2006/relationships"><Relationship Type="http://schemas.openxmlformats.org/officeDocument/2006/relationships/slide" Target="/ppt/slides/slide6.xml" Id="Rc9bc3b53d45f4aae" /><Relationship Type="http://schemas.openxmlformats.org/officeDocument/2006/relationships/notesMaster" Target="/ppt/notesMasters/notesMaster1.xml" Id="Rd09e50452a744b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540a355b2340e6" /><Relationship Type="http://schemas.openxmlformats.org/officeDocument/2006/relationships/notesMaster" Target="/ppt/notesMasters/notesMaster1.xml" Id="Rba9d79bb7ca74b8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95b2e619fa44e21" /><Relationship Type="http://schemas.openxmlformats.org/officeDocument/2006/relationships/notesMaster" Target="/ppt/notesMasters/notesMaster1.xml" Id="R8eb35760c4ba4a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a2b0b6d05624853" /><Relationship Type="http://schemas.openxmlformats.org/officeDocument/2006/relationships/notesMaster" Target="/ppt/notesMasters/notesMaster1.xml" Id="R700299bb44054c2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683bf5a6f14582" /><Relationship Type="http://schemas.openxmlformats.org/officeDocument/2006/relationships/notesMaster" Target="/ppt/notesMasters/notesMaster1.xml" Id="R0f5a3d6f3fae40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db2ca6e00a45a0" /><Relationship Type="http://schemas.openxmlformats.org/officeDocument/2006/relationships/notesMaster" Target="/ppt/notesMasters/notesMaster1.xml" Id="R5f32ed9a2a5c4a7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cd975fe1a054c1b" /><Relationship Type="http://schemas.openxmlformats.org/officeDocument/2006/relationships/notesMaster" Target="/ppt/notesMasters/notesMaster1.xml" Id="R6d4b95986e19472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348de50e79b4c6d" /><Relationship Type="http://schemas.openxmlformats.org/officeDocument/2006/relationships/notesMaster" Target="/ppt/notesMasters/notesMaster1.xml" Id="R1a20785e5d9340b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ef06666318a4e30" /><Relationship Type="http://schemas.openxmlformats.org/officeDocument/2006/relationships/notesMaster" Target="/ppt/notesMasters/notesMaster1.xml" Id="R350c9ff579e94cf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01b836b4f5448fd" /><Relationship Type="http://schemas.openxmlformats.org/officeDocument/2006/relationships/notesMaster" Target="/ppt/notesMasters/notesMaster1.xml" Id="Rccca8898d10340a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91decd48bf0409a" /><Relationship Type="http://schemas.openxmlformats.org/officeDocument/2006/relationships/notesMaster" Target="/ppt/notesMasters/notesMaster1.xml" Id="R095cc11cee85411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5b18c2715d04eae" /><Relationship Type="http://schemas.openxmlformats.org/officeDocument/2006/relationships/notesMaster" Target="/ppt/notesMasters/notesMaster1.xml" Id="Rc55c6c1912124c3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ca9164e14e04aaf" /><Relationship Type="http://schemas.openxmlformats.org/officeDocument/2006/relationships/notesMaster" Target="/ppt/notesMasters/notesMaster1.xml" Id="Rb4acc6ee156147d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c5e832ec0f741a0" /><Relationship Type="http://schemas.openxmlformats.org/officeDocument/2006/relationships/notesMaster" Target="/ppt/notesMasters/notesMaster1.xml" Id="Rc9a206737b54488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dfb3773b3064846" /><Relationship Type="http://schemas.openxmlformats.org/officeDocument/2006/relationships/notesMaster" Target="/ppt/notesMasters/notesMaster1.xml" Id="Rd9a49dad7d12483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f024683a94347c8" /><Relationship Type="http://schemas.openxmlformats.org/officeDocument/2006/relationships/notesMaster" Target="/ppt/notesMasters/notesMaster1.xml" Id="Rcd3aa3dceed84b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 Hard stop at 0:01.</a:t>
            </a:r>
          </a:p>
          <a:p xmlns:a="http://schemas.openxmlformats.org/drawingml/2006/main">
            <a:r>
              <a:t/>
            </a:r>
          </a:p>
          <a:p xmlns:a="http://schemas.openxmlformats.org/drawingml/2006/main">
            <a:r>
              <a:t>Open with the outcome: attendees will identify their current level, see what it takes to move up one level, and leave with the assets to start.</a:t>
            </a:r>
          </a:p>
          <a:p xmlns:a="http://schemas.openxmlformats.org/drawingml/2006/main">
            <a:r>
              <a:t/>
            </a:r>
          </a:p>
          <a:p xmlns:a="http://schemas.openxmlformats.org/drawingml/2006/main">
            <a:r>
              <a:t>[Sources]</a:t>
            </a:r>
          </a:p>
          <a:p xmlns:a="http://schemas.openxmlformats.org/drawingml/2006/main">
            <a:r>
              <a:t>- ForgeX promo creative supplied by Trey</a:t>
            </a:r>
          </a:p>
          <a:p xmlns:a="http://schemas.openxmlformats.org/drawingml/2006/main">
            <a:r>
              <a:t>- /Users/treyharnden/Projects/forgex-practical-abm-skills/webinar/2026-09-17-ai-for-abm-foundations/slide-outline.md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Hard stop at 0:03.</a:t>
            </a:r>
          </a:p>
          <a:p xmlns:a="http://schemas.openxmlformats.org/drawingml/2006/main">
            <a:r>
              <a:t/>
            </a:r>
          </a:p>
          <a:p xmlns:a="http://schemas.openxmlformats.org/drawingml/2006/main">
            <a:r>
              <a:t>Set the contract for the hour. We are building the operating system beneath ABM work, not reviewing another collection of AI features.</a:t>
            </a:r>
          </a:p>
          <a:p xmlns:a="http://schemas.openxmlformats.org/drawingml/2006/main">
            <a:r>
              <a:t>Walk left to right: ground the work with a company brain, package the process as reusable skills, connect approved tools through MCP, then run the system with state, evaluation, permissions, and human approval.</a:t>
            </a:r>
          </a:p>
          <a:p xmlns:a="http://schemas.openxmlformats.org/drawingml/2006/main">
            <a:r>
              <a:t>Ask attendees which layer is missing from their current setup.</a:t>
            </a:r>
          </a:p>
          <a:p xmlns:a="http://schemas.openxmlformats.org/drawingml/2006/main">
            <a:r>
              <a:t/>
            </a:r>
          </a:p>
          <a:p xmlns:a="http://schemas.openxmlformats.org/drawingml/2006/main">
            <a:r>
              <a:t>[Sources]</a:t>
            </a:r>
          </a:p>
          <a:p xmlns:a="http://schemas.openxmlformats.org/drawingml/2006/main">
            <a:r>
              <a:t>- /Users/treyharnden/Projects/forgex-practical-abm-skills/webinar/2026-09-17-ai-for-abm-foundations/slide-outline.md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Hard stop at 0:07.</a:t>
            </a:r>
          </a:p>
          <a:p xmlns:a="http://schemas.openxmlformats.org/drawingml/2006/main">
            <a:r>
              <a:t/>
            </a:r>
          </a:p>
          <a:p xmlns:a="http://schemas.openxmlformats.org/drawingml/2006/main">
            <a:r>
              <a:t>Tell the room why this slide exists: we need one shared vocabulary before we can talk about maturity.</a:t>
            </a:r>
          </a:p>
          <a:p xmlns:a="http://schemas.openxmlformats.org/drawingml/2006/main">
            <a:r>
              <a:t>Pair the terms. The model generates. The harness runs and governs the work. The prompt gives one instruction. Context supplies what the system can use right now.</a:t>
            </a:r>
          </a:p>
          <a:p xmlns:a="http://schemas.openxmlformats.org/drawingml/2006/main">
            <a:r>
              <a:t>A skill captures the reusable process. A tool performs an action. MCP is the approved connection that makes data, resources, or tools available.</a:t>
            </a:r>
          </a:p>
          <a:p xmlns:a="http://schemas.openxmlformats.org/drawingml/2006/main">
            <a:r>
              <a:t>An automation follows a predefined route. An agent can choose and evaluate its next step while pursuing a goal within boundaries.</a:t>
            </a:r>
          </a:p>
          <a:p xmlns:a="http://schemas.openxmlformats.org/drawingml/2006/main">
            <a:r>
              <a:t>Ask which term is the most overloaded on their team.</a:t>
            </a:r>
          </a:p>
          <a:p xmlns:a="http://schemas.openxmlformats.org/drawingml/2006/main">
            <a:r>
              <a:t/>
            </a:r>
          </a:p>
          <a:p xmlns:a="http://schemas.openxmlformats.org/drawingml/2006/main">
            <a:r>
              <a:t>[Sources]</a:t>
            </a:r>
          </a:p>
          <a:p xmlns:a="http://schemas.openxmlformats.org/drawingml/2006/main">
            <a:r>
              <a:t>- /Users/treyharnden/Projects/forgex-practical-abm-skills/webinar/2026-09-17-ai-for-abm-foundations/slide-outline.md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 Hard stop at 0:10.</a:t>
            </a:r>
          </a:p>
          <a:p xmlns:a="http://schemas.openxmlformats.org/drawingml/2006/main">
            <a:r>
              <a:t/>
            </a:r>
          </a:p>
          <a:p xmlns:a="http://schemas.openxmlformats.org/drawingml/2006/main">
            <a:r>
              <a:t>Walk the seven visible steps from zero through six. Every level can produce value when the architecture matches the job.</a:t>
            </a:r>
          </a:p>
          <a:p xmlns:a="http://schemas.openxmlformats.org/drawingml/2006/main">
            <a:r>
              <a:t>Ask for a private zero-to-six self-rating. The point is orientation, not competition.</a:t>
            </a:r>
          </a:p>
          <a:p xmlns:a="http://schemas.openxmlformats.org/drawingml/2006/main">
            <a:r>
              <a:t>The taller Level 6 step represents broader coordination across agents, systems, memory, triggers, and reliability loops. It does not represent unchecked autonomy.</a:t>
            </a:r>
          </a:p>
          <a:p xmlns:a="http://schemas.openxmlformats.org/drawingml/2006/main">
            <a:r>
              <a:t>A well-run Level 3 process can outperform a poorly governed Level 5 or Level 6 experiment.</a:t>
            </a:r>
          </a:p>
          <a:p xmlns:a="http://schemas.openxmlformats.org/drawingml/2006/main">
            <a:r>
              <a:t>[Sources]</a:t>
            </a:r>
          </a:p>
          <a:p xmlns:a="http://schemas.openxmlformats.org/drawingml/2006/main">
            <a:r>
              <a:t>- /Users/treyharnden/Projects/forgex-practical-abm-skills/webinar/2026-09-17-ai-for-abm-foundations/maturity-rubric.md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Hard stop at 0:12.</a:t>
            </a:r>
          </a:p>
          <a:p xmlns:a="http://schemas.openxmlformats.org/drawingml/2006/main">
            <a:r>
              <a:t/>
            </a:r>
          </a:p>
          <a:p xmlns:a="http://schemas.openxmlformats.org/drawingml/2006/main">
            <a:r>
              <a:t>Fancy Search is useful for learning and orientation. The trap is mistaking fluency for seller or account specificity.</a:t>
            </a:r>
          </a:p>
          <a:p xmlns:a="http://schemas.openxmlformats.org/drawingml/2006/main">
            <a:r>
              <a:t/>
            </a:r>
          </a:p>
          <a:p xmlns:a="http://schemas.openxmlformats.org/drawingml/2006/main">
            <a:r>
              <a:t>[Sources]</a:t>
            </a:r>
          </a:p>
          <a:p xmlns:a="http://schemas.openxmlformats.org/drawingml/2006/main">
            <a:r>
              <a:t>- /Users/treyharnden/Projects/forgex-practical-abm-skills/webinar/2026-09-17-ai-for-abm-foundations/maturity-rubric.md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 Hard stop at 0:15.</a:t>
            </a:r>
          </a:p>
          <a:p xmlns:a="http://schemas.openxmlformats.org/drawingml/2006/main">
            <a:r>
              <a:t/>
            </a:r>
          </a:p>
          <a:p xmlns:a="http://schemas.openxmlformats.org/drawingml/2006/main">
            <a:r>
              <a:t>Show the five parts of the stronger request: seller, target, job, output, and guardrail. Quality still lives in the operator who knows what to paste.</a:t>
            </a:r>
          </a:p>
          <a:p xmlns:a="http://schemas.openxmlformats.org/drawingml/2006/main">
            <a:r>
              <a:t/>
            </a:r>
          </a:p>
          <a:p xmlns:a="http://schemas.openxmlformats.org/drawingml/2006/main">
            <a:r>
              <a:t>[Sources]</a:t>
            </a:r>
          </a:p>
          <a:p xmlns:a="http://schemas.openxmlformats.org/drawingml/2006/main">
            <a:r>
              <a:t>- /Users/treyharnden/Projects/forgex-practical-abm-skills/webinar/2026-09-17-ai-for-abm-foundations/maturity-rubric.md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 Hard stop at 0:18.</a:t>
            </a:r>
          </a:p>
          <a:p xmlns:a="http://schemas.openxmlformats.org/drawingml/2006/main">
            <a:r>
              <a:t/>
            </a:r>
          </a:p>
          <a:p xmlns:a="http://schemas.openxmlformats.org/drawingml/2006/main">
            <a:r>
              <a:t>Distinguish the context window from the company brain. More files are not automatically better. Scope, ownership, and freshness matter.</a:t>
            </a:r>
          </a:p>
          <a:p xmlns:a="http://schemas.openxmlformats.org/drawingml/2006/main">
            <a:r>
              <a:t/>
            </a:r>
          </a:p>
          <a:p xmlns:a="http://schemas.openxmlformats.org/drawingml/2006/main">
            <a:r>
              <a:t>[Sources]</a:t>
            </a:r>
          </a:p>
          <a:p xmlns:a="http://schemas.openxmlformats.org/drawingml/2006/main">
            <a:r>
              <a:t>- /Users/treyharnden/Projects/forgex-practical-abm-skills/webinar/2026-09-17-ai-for-abm-foundations/maturity-rubric.md</a:t>
            </a:r>
          </a:p>
          <a:p xmlns:a="http://schemas.openxmlformats.org/drawingml/2006/main">
            <a:r>
              <a:t>- /Users/treyharnden/Projects/forgex-practical-abm-skills/webinar/2026-09-17-ai-for-abm-foundations/northpeak/README.md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 Hard stop at 0:21.</a:t>
            </a:r>
          </a:p>
          <a:p xmlns:a="http://schemas.openxmlformats.org/drawingml/2006/main">
            <a:r>
              <a:t/>
            </a:r>
          </a:p>
          <a:p xmlns:a="http://schemas.openxmlformats.org/drawingml/2006/main">
            <a:r>
              <a:t>Separate four things people often collapse into one: approved company knowledge, the versioned repository, durable memory across runs, and the state of the current job.</a:t>
            </a:r>
          </a:p>
          <a:p xmlns:a="http://schemas.openxmlformats.org/drawingml/2006/main">
            <a:r>
              <a:t>GitHub is useful for plain text, review, portability, and history. A shared memory or vault carries operating knowledge. Neither implies blanket access.</a:t>
            </a:r>
          </a:p>
          <a:p xmlns:a="http://schemas.openxmlformats.org/drawingml/2006/main">
            <a:r>
              <a:t/>
            </a:r>
          </a:p>
          <a:p xmlns:a="http://schemas.openxmlformats.org/drawingml/2006/main">
            <a:r>
              <a:t>[Sources]</a:t>
            </a:r>
          </a:p>
          <a:p xmlns:a="http://schemas.openxmlformats.org/drawingml/2006/main">
            <a:r>
              <a:t>- https://www.cerebras.ai/blog/how-we-built-our-knowledge-base</a:t>
            </a:r>
          </a:p>
          <a:p xmlns:a="http://schemas.openxmlformats.org/drawingml/2006/main">
            <a:r>
              <a:t>- https://www.stellarwork.com/captains-log/how-cerebras-built-their-company-brain</a:t>
            </a:r>
          </a:p>
          <a:p xmlns:a="http://schemas.openxmlformats.org/drawingml/2006/main">
            <a:r>
              <a:t>- https://docs.github.com/en/repositories/creating-and-managing-repositories/about-repositories</a:t>
            </a:r>
          </a:p>
          <a:p xmlns:a="http://schemas.openxmlformats.org/drawingml/2006/main">
            <a:r>
              <a:t>- Granola AI notes, AI for ABM Webinar: Prep Session, September 1, 2026: https://notes.granola.ai/t/b6f1889a-9099-417e-93ed-6b2ca799cdf6-008umkv4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 Hard stop at 0:24.</a:t>
            </a:r>
          </a:p>
          <a:p xmlns:a="http://schemas.openxmlformats.org/drawingml/2006/main">
            <a:r>
              <a:t/>
            </a:r>
          </a:p>
          <a:p xmlns:a="http://schemas.openxmlformats.org/drawingml/2006/main">
            <a:r>
              <a:t>Use the plumber analogy respectfully. A company may provide the van and many standard tools. The marketer still needs the craft to connect systems and build fit-for-purpose tools.</a:t>
            </a:r>
          </a:p>
          <a:p xmlns:a="http://schemas.openxmlformats.org/drawingml/2006/main">
            <a:r>
              <a:t>Methods, connection patterns, blank templates, and tests can travel. Confidential employer data, credentials, and intellectual property do not.</a:t>
            </a:r>
          </a:p>
          <a:p xmlns:a="http://schemas.openxmlformats.org/drawingml/2006/main">
            <a:r>
              <a:t/>
            </a:r>
          </a:p>
          <a:p xmlns:a="http://schemas.openxmlformats.org/drawingml/2006/main">
            <a:r>
              <a:t>[Sources]</a:t>
            </a:r>
          </a:p>
          <a:p xmlns:a="http://schemas.openxmlformats.org/drawingml/2006/main">
            <a:r>
              <a:t>- /Users/treyharnden/Projects/forgex-practical-abm-skills/webinar/2026-09-17-ai-for-abm-foundations/slide-outline.md</a:t>
            </a:r>
          </a:p>
          <a:p xmlns:a="http://schemas.openxmlformats.org/drawingml/2006/main">
            <a:r>
              <a:t>- Granola AI notes, AI for ABM Webinar: Prep Session, September 1, 2026: https://notes.granola.ai/t/b6f1889a-9099-417e-93ed-6b2ca799cdf6-008umkv4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 Hard stop at 0:27.</a:t>
            </a:r>
          </a:p>
          <a:p xmlns:a="http://schemas.openxmlformats.org/drawingml/2006/main">
            <a:r>
              <a:t/>
            </a:r>
          </a:p>
          <a:p xmlns:a="http://schemas.openxmlformats.org/drawingml/2006/main">
            <a:r>
              <a:t>Deliver the key mental shift slowly. A skill packages the judgment that usually hides in the best operator's head.</a:t>
            </a:r>
          </a:p>
          <a:p xmlns:a="http://schemas.openxmlformats.org/drawingml/2006/main">
            <a:r>
              <a:t/>
            </a:r>
          </a:p>
          <a:p xmlns:a="http://schemas.openxmlformats.org/drawingml/2006/main">
            <a:r>
              <a:t>[Sources]</a:t>
            </a:r>
          </a:p>
          <a:p xmlns:a="http://schemas.openxmlformats.org/drawingml/2006/main">
            <a:r>
              <a:t>- /Users/treyharnden/Projects/forgex-practical-abm-skills/skills/abm-strategist/SKILL.md</a:t>
            </a:r>
          </a:p>
          <a:p xmlns:a="http://schemas.openxmlformats.org/drawingml/2006/main">
            <a:r>
              <a:t>- /Users/treyharnden/Projects/forgex-practical-abm-skills/webinar/2026-09-17-ai-for-abm-foundations/maturity-rubric.md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 Hard stop at 0:30.</a:t>
            </a:r>
          </a:p>
          <a:p xmlns:a="http://schemas.openxmlformats.org/drawingml/2006/main">
            <a:r>
              <a:t/>
            </a:r>
          </a:p>
          <a:p xmlns:a="http://schemas.openxmlformats.org/drawingml/2006/main">
            <a:r>
              <a:t>This is the anatomy of the harness. Context and memory ground the work. Skills define reusable process. Tools and MCP perform approved capabilities. State lets the loop continue. Evaluation checks the result. Permissions and humans bound the work.</a:t>
            </a:r>
          </a:p>
          <a:p xmlns:a="http://schemas.openxmlformats.org/drawingml/2006/main">
            <a:r>
              <a:t>The model is the brain. The harness is the operating body. Do not let the robot metaphor replace the architecture.</a:t>
            </a:r>
          </a:p>
          <a:p xmlns:a="http://schemas.openxmlformats.org/drawingml/2006/main">
            <a:r>
              <a:t/>
            </a:r>
          </a:p>
          <a:p xmlns:a="http://schemas.openxmlformats.org/drawingml/2006/main">
            <a:r>
              <a:t>[Sources]</a:t>
            </a:r>
          </a:p>
          <a:p xmlns:a="http://schemas.openxmlformats.org/drawingml/2006/main">
            <a:r>
              <a:t>- https://www.anthropic.com/engineering/building-effective-agents</a:t>
            </a:r>
          </a:p>
          <a:p xmlns:a="http://schemas.openxmlformats.org/drawingml/2006/main">
            <a:r>
              <a:t>- https://modelcontextprotocol.io/docs/getting-started/intro</a:t>
            </a:r>
          </a:p>
          <a:p xmlns:a="http://schemas.openxmlformats.org/drawingml/2006/main">
            <a:r>
              <a:t>- Granola AI notes, AI for ABM Webinar: Prep Session, September 1, 2026: https://notes.granola.ai/t/b6f1889a-9099-417e-93ed-6b2ca799cdf6-008umkv4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Hard stop at 0:32.</a:t>
            </a:r>
          </a:p>
          <a:p xmlns:a="http://schemas.openxmlformats.org/drawingml/2006/main">
            <a:r>
              <a:t/>
            </a:r>
          </a:p>
          <a:p xmlns:a="http://schemas.openxmlformats.org/drawingml/2006/main">
            <a:r>
              <a:t>Treat the GTM community as a pattern library, not an app store.</a:t>
            </a:r>
          </a:p>
          <a:p xmlns:a="http://schemas.openxmlformats.org/drawingml/2006/main">
            <a:r>
              <a:t>Read the Level 3 sequence left to right: verify evidence, interpret meaning, qualify the audience, then generate a draft.</a:t>
            </a:r>
          </a:p>
          <a:p xmlns:a="http://schemas.openxmlformats.org/drawingml/2006/main">
            <a:r>
              <a:t>Hiring Signal Verification is the evidence gate. The local evaluation passed six adversarial synthetic cases. A live read-only audit of 11 labels accepted 2, narrowed 4, and dropped 5. Verification belongs before scoring or messaging.</a:t>
            </a:r>
          </a:p>
          <a:p xmlns:a="http://schemas.openxmlformats.org/drawingml/2006/main">
            <a:r>
              <a:t>Signal Interpreter is a pure interpretation gate. It returns meaning, strength, confidence, why-now, limits, and open questions without routing or writing.</a:t>
            </a:r>
          </a:p>
          <a:p xmlns:a="http://schemas.openxmlformats.org/drawingml/2006/main">
            <a:r>
              <a:t>Audience ICP Filter is the qualification gate. A 22-person synthetic fixture reconciled every record into Keep, Exclude, or Review, and the bundled suite passed 45 of 45 checks.</a:t>
            </a:r>
          </a:p>
          <a:p xmlns:a="http://schemas.openxmlformats.org/drawingml/2006/main">
            <a:r>
              <a:t>Multichannel Campaign Builder is a conditional draft-generation example. One synthetic brief produced three distinct angles and a five-touch sequence. Require source-backed inputs and human copy QA before any send or activation.</a:t>
            </a:r>
          </a:p>
          <a:p xmlns:a="http://schemas.openxmlformats.org/drawingml/2006/main">
            <a:r>
              <a:t>Company Deep Dive is only a Level 2-to-3 source-hierarchy concept. Its evidence is T1 static review, so do not call the package operationally verified.</a:t>
            </a:r>
          </a:p>
          <a:p xmlns:a="http://schemas.openxmlformats.org/drawingml/2006/main">
            <a:r>
              <a:t>Do not install or run Swan GTM packages in the live build. Keep the North Peak and Alder path unchanged.</a:t>
            </a:r>
          </a:p>
          <a:p xmlns:a="http://schemas.openxmlformats.org/drawingml/2006/main">
            <a:r>
              <a:t>[Sources]</a:t>
            </a:r>
          </a:p>
          <a:p xmlns:a="http://schemas.openxmlformats.org/drawingml/2006/main">
            <a:r>
              <a:t>Swan GTM Skills license: https://github.com/swan-gtm/gtm-skills/blob/d378356a2668095d71e8dfb0661155255cf6776b/LICENSE</a:t>
            </a:r>
          </a:p>
          <a:p xmlns:a="http://schemas.openxmlformats.org/drawingml/2006/main">
            <a:r>
              <a:t>Hiring Signal Verification, Peter S. Borkovich: https://github.com/swan-gtm/gtm-skills/tree/d378356a2668095d71e8dfb0661155255cf6776b/skills/peter-borkovich/hiring-signal-verification</a:t>
            </a:r>
          </a:p>
          <a:p xmlns:a="http://schemas.openxmlformats.org/drawingml/2006/main">
            <a:r>
              <a:t>Signal Interpreter, Din Arbel: https://github.com/swan-gtm/gtm-skills/tree/d378356a2668095d71e8dfb0661155255cf6776b/skills/din-arbel/signal-interpreter</a:t>
            </a:r>
          </a:p>
          <a:p xmlns:a="http://schemas.openxmlformats.org/drawingml/2006/main">
            <a:r>
              <a:t>Audience ICP Filter, Erwann Lefevre: https://github.com/swan-gtm/gtm-skills/tree/d378356a2668095d71e8dfb0661155255cf6776b/skills/erwann-lefevre/audience-icp-filter</a:t>
            </a:r>
          </a:p>
          <a:p xmlns:a="http://schemas.openxmlformats.org/drawingml/2006/main">
            <a:r>
              <a:t>Multichannel Campaign Builder, Erwann Lefevre: https://github.com/swan-gtm/gtm-skills/tree/d378356a2668095d71e8dfb0661155255cf6776b/skills/erwann-lefevre/multichannel-campaign-builder</a:t>
            </a:r>
          </a:p>
          <a:p xmlns:a="http://schemas.openxmlformats.org/drawingml/2006/main">
            <a:r>
              <a:t>Company Deep Dive, Uriel Knorovich: https://github.com/swan-gtm/gtm-skills/tree/d378356a2668095d71e8dfb0661155255cf6776b/skills/uri-knorovich/company-deep-dive</a:t>
            </a:r>
          </a:p>
          <a:p xmlns:a="http://schemas.openxmlformats.org/drawingml/2006/main">
            <a:r>
              <a:t>Local evaluation evidence: /Users/treyharnden/Projects/Folloze-Skills-swan-eval/evaluations/swan-gtm at commit 8dd94e1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Hard stop at 0:34.</a:t>
            </a:r>
          </a:p>
          <a:p xmlns:a="http://schemas.openxmlformats.org/drawingml/2006/main">
            <a:r>
              <a:t/>
            </a:r>
          </a:p>
          <a:p xmlns:a="http://schemas.openxmlformats.org/drawingml/2006/main">
            <a:r>
              <a:t>Level 4 adds time and state. The workflow must understand the current artifact, what changed, and what no change looks like.</a:t>
            </a:r>
          </a:p>
          <a:p xmlns:a="http://schemas.openxmlformats.org/drawingml/2006/main">
            <a:r>
              <a:t/>
            </a:r>
          </a:p>
          <a:p xmlns:a="http://schemas.openxmlformats.org/drawingml/2006/main">
            <a:r>
              <a:t>[Sources]</a:t>
            </a:r>
          </a:p>
          <a:p xmlns:a="http://schemas.openxmlformats.org/drawingml/2006/main">
            <a:r>
              <a:t>- /Users/treyharnden/Projects/forgex-practical-abm-skills/webinar/2026-09-17-ai-for-abm-foundations/maturity-rubric.md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Hard stop at 0:36.</a:t>
            </a:r>
          </a:p>
          <a:p xmlns:a="http://schemas.openxmlformats.org/drawingml/2006/main">
            <a:r>
              <a:t/>
            </a:r>
          </a:p>
          <a:p xmlns:a="http://schemas.openxmlformats.org/drawingml/2006/main">
            <a:r>
              <a:t>Get the wording right: a cron job IN a trench coat. Respect deterministic workflows. The warning is about claiming judgment that the system does not have.</a:t>
            </a:r>
          </a:p>
          <a:p xmlns:a="http://schemas.openxmlformats.org/drawingml/2006/main">
            <a:r>
              <a:t/>
            </a:r>
          </a:p>
          <a:p xmlns:a="http://schemas.openxmlformats.org/drawingml/2006/main">
            <a:r>
              <a:t>[Sources]</a:t>
            </a:r>
          </a:p>
          <a:p xmlns:a="http://schemas.openxmlformats.org/drawingml/2006/main">
            <a:r>
              <a:t>- /Users/treyharnden/Projects/forgex-practical-abm-skills/webinar/2026-09-17-ai-for-abm-foundations/assets/cron-job-in-a-trench-coat.png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 Hard stop at 0:39.</a:t>
            </a:r>
          </a:p>
          <a:p xmlns:a="http://schemas.openxmlformats.org/drawingml/2006/main">
            <a:r>
              <a:t/>
            </a:r>
          </a:p>
          <a:p xmlns:a="http://schemas.openxmlformats.org/drawingml/2006/main">
            <a:r>
              <a:t>Trace the loop in plain language: load the evidence and current state, choose the next step, use a skill or approved tool, observe the result, then finish, revise, or ask a human.</a:t>
            </a:r>
          </a:p>
          <a:p xmlns:a="http://schemas.openxmlformats.org/drawingml/2006/main">
            <a:r>
              <a:t>Level 3 makes the process explicit. Level 4 runs the known loop on a trigger. Level 5 can choose the next step within bounded authority.</a:t>
            </a:r>
          </a:p>
          <a:p xmlns:a="http://schemas.openxmlformats.org/drawingml/2006/main">
            <a:r>
              <a:t/>
            </a:r>
          </a:p>
          <a:p xmlns:a="http://schemas.openxmlformats.org/drawingml/2006/main">
            <a:r>
              <a:t>[Sources]</a:t>
            </a:r>
          </a:p>
          <a:p xmlns:a="http://schemas.openxmlformats.org/drawingml/2006/main">
            <a:r>
              <a:t>- https://www.anthropic.com/engineering/building-effective-agents</a:t>
            </a:r>
          </a:p>
          <a:p xmlns:a="http://schemas.openxmlformats.org/drawingml/2006/main">
            <a:r>
              <a:t>- https://modelcontextprotocol.io/docs/getting-started/intro</a:t>
            </a:r>
          </a:p>
          <a:p xmlns:a="http://schemas.openxmlformats.org/drawingml/2006/main">
            <a:r>
              <a:t>- Granola AI notes, AI for ABM Webinar: Prep Session, September 1, 2026: https://notes.granola.ai/t/b6f1889a-9099-417e-93ed-6b2ca799cdf6-008umkv4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Hard stop at 0:41.</a:t>
            </a:r>
          </a:p>
          <a:p xmlns:a="http://schemas.openxmlformats.org/drawingml/2006/main">
            <a:r>
              <a:t/>
            </a:r>
          </a:p>
          <a:p xmlns:a="http://schemas.openxmlformats.org/drawingml/2006/main">
            <a:r>
              <a:t>Agency does not remove the human. The human owns the goal, authority, evaluation standard, and consequential decisions.</a:t>
            </a:r>
          </a:p>
          <a:p xmlns:a="http://schemas.openxmlformats.org/drawingml/2006/main">
            <a:r>
              <a:t>The agent receives a goal and can choose the next useful artifact or action from approved options. It still operates through context, skills, tools, state, evaluation, and interrupt controls.</a:t>
            </a:r>
          </a:p>
          <a:p xmlns:a="http://schemas.openxmlformats.org/drawingml/2006/main">
            <a:r>
              <a:t/>
            </a:r>
          </a:p>
          <a:p xmlns:a="http://schemas.openxmlformats.org/drawingml/2006/main">
            <a:r>
              <a:t>[Sources]</a:t>
            </a:r>
          </a:p>
          <a:p xmlns:a="http://schemas.openxmlformats.org/drawingml/2006/main">
            <a:r>
              <a:t>- /Users/treyharnden/Projects/forgex-practical-abm-skills/webinar/2026-09-17-ai-for-abm-foundations/maturity-rubric.md</a:t>
            </a:r>
          </a:p>
          <a:p xmlns:a="http://schemas.openxmlformats.org/drawingml/2006/main">
            <a:r>
              <a:t>- https://www.anthropic.com/engineering/building-effective-agents</a:t>
            </a:r>
          </a:p>
          <a:p xmlns:a="http://schemas.openxmlformats.org/drawingml/2006/main">
            <a:r>
              <a:t>- Granola AI notes, AI for ABM Webinar: Prep Session, September 1, 2026: https://notes.granola.ai/t/b6f1889a-9099-417e-93ed-6b2ca799cdf6-008umkv4</a:t>
            </a:r>
          </a:p>
          <a:p xmlns:a="http://schemas.openxmlformats.org/drawingml/2006/main">
            <a:r>
              <a:t/>
            </a:r>
          </a:p>
          <a:p xmlns:a="http://schemas.openxmlformats.org/drawingml/2006/main">
            <a:r>
              <a:t>Level 5 is one bounded agent system deciding which work is needed. Level 6 coordinates multiple agents, systems, memory stores, triggers, and reliability loops.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 Hard stop at 0:44.</a:t>
            </a:r>
          </a:p>
          <a:p xmlns:a="http://schemas.openxmlformats.org/drawingml/2006/main">
            <a:r>
              <a:t/>
            </a:r>
          </a:p>
          <a:p xmlns:a="http://schemas.openxmlformats.org/drawingml/2006/main">
            <a:r>
              <a:t>Level 6 is broader coordination, not simply more autonomy.</a:t>
            </a:r>
          </a:p>
          <a:p xmlns:a="http://schemas.openxmlformats.org/drawingml/2006/main">
            <a:r>
              <a:t>Codex is the primary interface. It routes a goal to bounded sub-agents, coding agents, and approved systems.</a:t>
            </a:r>
          </a:p>
          <a:p xmlns:a="http://schemas.openxmlformats.org/drawingml/2006/main">
            <a:r>
              <a:t>Cursor, Hermes, OpenClaw, and Grokbot are examples of specialist execution environments. They are not one giant agent.</a:t>
            </a:r>
          </a:p>
          <a:p xmlns:a="http://schemas.openxmlformats.org/drawingml/2006/main">
            <a:r>
              <a:t>The Obsidian Vault carries durable shared memory. GitHub versions the shared skills and context repository.</a:t>
            </a:r>
          </a:p>
          <a:p xmlns:a="http://schemas.openxmlformats.org/drawingml/2006/main">
            <a:r>
              <a:t>Time-bound automations and trigger-bound workflows start known work automatically.</a:t>
            </a:r>
          </a:p>
          <a:p xmlns:a="http://schemas.openxmlformats.org/drawingml/2006/main">
            <a:r>
              <a:t>Canaries exercise critical paths. Failed checks become hardening work for the shared skill or workflow.</a:t>
            </a:r>
          </a:p>
          <a:p xmlns:a="http://schemas.openxmlformats.org/drawingml/2006/main">
            <a:r>
              <a:t>Human approval still owns consequential actions, including send, publish, spend, and system-of-record writes.</a:t>
            </a:r>
          </a:p>
          <a:p xmlns:a="http://schemas.openxmlformats.org/drawingml/2006/main">
            <a:r>
              <a:t>[Sources]</a:t>
            </a:r>
          </a:p>
          <a:p xmlns:a="http://schemas.openxmlformats.org/drawingml/2006/main">
            <a:r>
              <a:t>- User-provided operating model and tool list, September 1,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 seconds. Do not stop for questions. Hard stop at 0:44:20.</a:t>
            </a:r>
          </a:p>
          <a:p xmlns:a="http://schemas.openxmlformats.org/drawingml/2006/main">
            <a:r>
              <a:t/>
            </a:r>
          </a:p>
          <a:p xmlns:a="http://schemas.openxmlformats.org/drawingml/2006/main">
            <a:r>
              <a:t>Use the Age of Empires analogy briefly. Each capability depends on the economy, rules, and defenses underneath it.</a:t>
            </a:r>
          </a:p>
          <a:p xmlns:a="http://schemas.openxmlformats.org/drawingml/2006/main">
            <a:r>
              <a:t>Walk all seven visible blocks: search, prompt, company brain, skill, trigger and state, goal and planning, then operating-system coordination.</a:t>
            </a:r>
          </a:p>
          <a:p xmlns:a="http://schemas.openxmlformats.org/drawingml/2006/main">
            <a:r>
              <a:t>Level 6 coordinates the prior layers through shared memory, time and event triggers, canaries, and hardening.</a:t>
            </a:r>
          </a:p>
          <a:p xmlns:a="http://schemas.openxmlformats.org/drawingml/2006/main">
            <a:r>
              <a:t>[Sources]</a:t>
            </a:r>
          </a:p>
          <a:p xmlns:a="http://schemas.openxmlformats.org/drawingml/2006/main">
            <a:r>
              <a:t>- /Users/treyharnden/Projects/forgex-practical-abm-skills/webinar/2026-09-17-ai-for-abm-foundations/maturity-rubric.md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 seconds. Do not stop for questions. Hard stop at 0:44:40.</a:t>
            </a:r>
          </a:p>
          <a:p xmlns:a="http://schemas.openxmlformats.org/drawingml/2006/main">
            <a:r>
              <a:t/>
            </a:r>
          </a:p>
          <a:p xmlns:a="http://schemas.openxmlformats.org/drawingml/2006/main">
            <a:r>
              <a:t>Avoid vanity metrics such as prompt count or number of tools purchased. Add operational measures when the system begins running without direct supervision.</a:t>
            </a:r>
          </a:p>
          <a:p xmlns:a="http://schemas.openxmlformats.org/drawingml/2006/main">
            <a:r>
              <a:t/>
            </a:r>
          </a:p>
          <a:p xmlns:a="http://schemas.openxmlformats.org/drawingml/2006/main">
            <a:r>
              <a:t>[Sources]</a:t>
            </a:r>
          </a:p>
          <a:p xmlns:a="http://schemas.openxmlformats.org/drawingml/2006/main">
            <a:r>
              <a:t>- /Users/treyharnden/Projects/forgex-practical-abm-skills/webinar/2026-09-17-ai-for-abm-foundations/maturity-rubric.md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 seconds. Switch to the demo at 0:45.</a:t>
            </a:r>
          </a:p>
          <a:p xmlns:a="http://schemas.openxmlformats.org/drawingml/2006/main">
            <a:r>
              <a:t/>
            </a:r>
          </a:p>
          <a:p xmlns:a="http://schemas.openxmlformats.org/drawingml/2006/main">
            <a:r>
              <a:t>Ask attendees to choose Level 2 to 3 or Level 3 to 4.</a:t>
            </a:r>
          </a:p>
          <a:p xmlns:a="http://schemas.openxmlformats.org/drawingml/2006/main">
            <a:r>
              <a:t>Be direct that moving beyond Level 4 is not a generic checklist. Level 5 and Level 6 depend on internal systems, data, permissions, shared memory, triggers, goals, and failure tolerance.</a:t>
            </a:r>
          </a:p>
          <a:p xmlns:a="http://schemas.openxmlformats.org/drawingml/2006/main">
            <a:r>
              <a:t>The starter kit should help attendees build the company brain, skills repository, shared memory, and practical ABM skills before advanced agent architecture.</a:t>
            </a:r>
          </a:p>
          <a:p xmlns:a="http://schemas.openxmlformats.org/drawingml/2006/main">
            <a:r>
              <a:t>[Sources]</a:t>
            </a:r>
          </a:p>
          <a:p xmlns:a="http://schemas.openxmlformats.org/drawingml/2006/main">
            <a:r>
              <a:t>- /Users/treyharnden/Projects/forgex-practical-abm-skills/webinar/2026-09-17-ai-for-abm-foundations/attendee-resource-guide.md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Open by 0:47, run by 0:52, review by 0:57, explain Level 4 by 0:59, and close at 1:00.</a:t>
            </a:r>
          </a:p>
          <a:p xmlns:a="http://schemas.openxmlformats.org/drawingml/2006/main">
            <a:r>
              <a:t/>
            </a:r>
          </a:p>
          <a:p xmlns:a="http://schemas.openxmlformats.org/drawingml/2006/main">
            <a:r>
              <a:t>Switch screens only after orienting the audience. Keep the existing North Peak and Alder path.</a:t>
            </a:r>
          </a:p>
          <a:p xmlns:a="http://schemas.openxmlformats.org/drawingml/2006/main">
            <a:r>
              <a:t>Narrate the harness loop as you work: permissions, context, skill, tool use, observation, evaluation, and approval.</a:t>
            </a:r>
          </a:p>
          <a:p xmlns:a="http://schemas.openxmlformats.org/drawingml/2006/main">
            <a:r>
              <a:t>Run the Level 3 prompt, inspect the output, then explain Level 4 without activating a schedule, installing community packages, authorizing connectors, sending, publishing, or spending.</a:t>
            </a:r>
          </a:p>
          <a:p xmlns:a="http://schemas.openxmlformats.org/drawingml/2006/main">
            <a:r>
              <a:t/>
            </a:r>
          </a:p>
          <a:p xmlns:a="http://schemas.openxmlformats.org/drawingml/2006/main">
            <a:r>
              <a:t>[Sources]</a:t>
            </a:r>
          </a:p>
          <a:p xmlns:a="http://schemas.openxmlformats.org/drawingml/2006/main">
            <a:r>
              <a:t>- /Users/treyharnden/Projects/forgex-practical-abm-skills/webinar/2026-09-17-ai-for-abm-foundations/live-demo-runbook.md</a:t>
            </a:r>
          </a:p>
          <a:p xmlns:a="http://schemas.openxmlformats.org/drawingml/2006/main">
            <a:r>
              <a:t>- /Users/treyharnden/Projects/forgex-practical-abm-skills/webinar/2026-09-17-ai-for-abm-foundations/demo/demo-prompts.md</a:t>
            </a:r>
          </a:p>
          <a:p xmlns:a="http://schemas.openxmlformats.org/drawingml/2006/main">
            <a:r>
              <a:t>- Granola AI notes, AI for ABM Webinar: Prep Session, September 1, 2026: https://notes.granola.ai/t/b6f1889a-9099-417e-93ed-6b2ca799cdf6-008umkv4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eac9f09f6f4b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b1bd31075e4538" /><Relationship Type="http://schemas.openxmlformats.org/officeDocument/2006/relationships/slideLayout" Target="/ppt/slideLayouts/slideLayout1.xml" Id="R17c2a51a22664c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c2a51a22664c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0c2005c9c254fff" /><Relationship Type="http://schemas.openxmlformats.org/officeDocument/2006/relationships/notesSlide" Target="/ppt/notesSlides/notesSlide1.xml" Id="Rc20adca54aab4a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e4e2d327546469d" /><Relationship Type="http://schemas.openxmlformats.org/officeDocument/2006/relationships/notesSlide" Target="/ppt/notesSlides/notesSlide2.xml" Id="Rad29d76f398445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8d5c70f0c134891" /><Relationship Type="http://schemas.openxmlformats.org/officeDocument/2006/relationships/notesSlide" Target="/ppt/notesSlides/notesSlide3.xml" Id="R5a0ce4dd1e2a44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c70f5ccd9845c9" /><Relationship Type="http://schemas.openxmlformats.org/officeDocument/2006/relationships/notesSlide" Target="/ppt/notesSlides/notesSlide4.xml" Id="R2b3b1d99407846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8bb65aa81f24b54" /><Relationship Type="http://schemas.openxmlformats.org/officeDocument/2006/relationships/notesSlide" Target="/ppt/notesSlides/notesSlide5.xml" Id="R8c33b5a324494a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efcf778eda14916" /><Relationship Type="http://schemas.openxmlformats.org/officeDocument/2006/relationships/notesSlide" Target="/ppt/notesSlides/notesSlide6.xml" Id="R1c3da50e45a445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ef5782d6eb4d00" /><Relationship Type="http://schemas.openxmlformats.org/officeDocument/2006/relationships/notesSlide" Target="/ppt/notesSlides/notesSlide7.xml" Id="Rf28f7dcf3cf4434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1e78890dafc408d" /><Relationship Type="http://schemas.openxmlformats.org/officeDocument/2006/relationships/notesSlide" Target="/ppt/notesSlides/notesSlide8.xml" Id="Rdcb6ca7c0979415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bb9c17e72e74196" /><Relationship Type="http://schemas.openxmlformats.org/officeDocument/2006/relationships/notesSlide" Target="/ppt/notesSlides/notesSlide9.xml" Id="Rfcf01adc124d478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df155c2d37f4b8e" /><Relationship Type="http://schemas.openxmlformats.org/officeDocument/2006/relationships/notesSlide" Target="/ppt/notesSlides/notesSlide10.xml" Id="Rc6aeaa7fdf7846b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55f863752fc4952" /><Relationship Type="http://schemas.openxmlformats.org/officeDocument/2006/relationships/notesSlide" Target="/ppt/notesSlides/notesSlide11.xml" Id="Rdd02b961661044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7487400fdd24a05" /><Relationship Type="http://schemas.openxmlformats.org/officeDocument/2006/relationships/notesSlide" Target="/ppt/notesSlides/notesSlide12.xml" Id="R2d5a7f651a2e408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517183bf71d4513" /><Relationship Type="http://schemas.openxmlformats.org/officeDocument/2006/relationships/notesSlide" Target="/ppt/notesSlides/notesSlide13.xml" Id="R2e4e51fc70944d3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f6e05a22cde417e" /><Relationship Type="http://schemas.openxmlformats.org/officeDocument/2006/relationships/image" Target="/ppt/media/image.png" Id="R639e55ab95aa406c" /><Relationship Type="http://schemas.openxmlformats.org/officeDocument/2006/relationships/notesSlide" Target="/ppt/notesSlides/notesSlide14.xml" Id="R5923879cfa7d4d0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89e03ee70b1474d" /><Relationship Type="http://schemas.openxmlformats.org/officeDocument/2006/relationships/notesSlide" Target="/ppt/notesSlides/notesSlide15.xml" Id="Rdb5a6e34b58849e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c2f3bc32c1b4a61" /><Relationship Type="http://schemas.openxmlformats.org/officeDocument/2006/relationships/notesSlide" Target="/ppt/notesSlides/notesSlide16.xml" Id="Rf246197dd83f423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bbed9bb00754f68" /><Relationship Type="http://schemas.openxmlformats.org/officeDocument/2006/relationships/notesSlide" Target="/ppt/notesSlides/notesSlide17.xml" Id="R2c1bf9ed9248472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89c73ccdfd14278" /><Relationship Type="http://schemas.openxmlformats.org/officeDocument/2006/relationships/notesSlide" Target="/ppt/notesSlides/notesSlide18.xml" Id="R1fdd722d53ce40f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20944cc5c3d423a" /><Relationship Type="http://schemas.openxmlformats.org/officeDocument/2006/relationships/notesSlide" Target="/ppt/notesSlides/notesSlide19.xml" Id="R88e00db8d12c495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9426d7485c24ad9" /><Relationship Type="http://schemas.openxmlformats.org/officeDocument/2006/relationships/notesSlide" Target="/ppt/notesSlides/notesSlide20.xml" Id="R97a6916d23b2421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77cb1286cdc4cd6" /><Relationship Type="http://schemas.openxmlformats.org/officeDocument/2006/relationships/notesSlide" Target="/ppt/notesSlides/notesSlide21.xml" Id="Rbd9a4f0ff8ca401a" /></Relationships>
</file>

<file path=ppt/slides/slide1.xml><?xml version="1.0" encoding="utf-8"?>
<p:sld xmlns:p="http://schemas.openxmlformats.org/presentationml/2006/main">
  <p:cSld>
    <p:bg>
      <p:bgPr>
        <a:solidFill xmlns:a="http://schemas.openxmlformats.org/drawingml/2006/main">
          <a:srgbClr val="2B123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5CC90880-50A6-4676-9C66-EB51572387DA}"/>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F6219C74-E617-407D-9B50-8DB1DF18F2FE}"/>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E097024-16E6-4A09-8B4C-6650D441A99F}"/>
              </a:ext>
            </a:extLst>
          </p:cNvPr>
          <p:cNvSpPr>
            <a:spLocks xmlns:a="http://schemas.openxmlformats.org/drawingml/2006/main" noGrp="1"/>
          </p:cNvSpPr>
          <p:nvPr/>
        </p:nvSpPr>
        <p:spPr>
          <a:xfrm xmlns:a="http://schemas.openxmlformats.org/drawingml/2006/main">
            <a:off x="9667875" y="3810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819432B-0BEB-48DE-8134-A71BA772B327}"/>
              </a:ext>
            </a:extLst>
          </p:cNvPr>
          <p:cNvSpPr>
            <a:spLocks xmlns:a="http://schemas.openxmlformats.org/drawingml/2006/main" noGrp="1"/>
          </p:cNvSpPr>
          <p:nvPr/>
        </p:nvSpPr>
        <p:spPr>
          <a:xfrm xmlns:a="http://schemas.openxmlformats.org/drawingml/2006/main">
            <a:off x="9877425" y="3810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9117274-DE39-46C0-913D-F2E60E3D1E76}"/>
              </a:ext>
            </a:extLst>
          </p:cNvPr>
          <p:cNvSpPr>
            <a:spLocks xmlns:a="http://schemas.openxmlformats.org/drawingml/2006/main" noGrp="1"/>
          </p:cNvSpPr>
          <p:nvPr/>
        </p:nvSpPr>
        <p:spPr>
          <a:xfrm xmlns:a="http://schemas.openxmlformats.org/drawingml/2006/main">
            <a:off x="10086975" y="3810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9160732-9D38-4C71-80A8-D5B2356B6E3A}"/>
              </a:ext>
            </a:extLst>
          </p:cNvPr>
          <p:cNvSpPr>
            <a:spLocks xmlns:a="http://schemas.openxmlformats.org/drawingml/2006/main" noGrp="1"/>
          </p:cNvSpPr>
          <p:nvPr/>
        </p:nvSpPr>
        <p:spPr>
          <a:xfrm xmlns:a="http://schemas.openxmlformats.org/drawingml/2006/main">
            <a:off x="10296525" y="3810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1B7A4CD-9731-412A-B822-EE262134CB06}"/>
              </a:ext>
            </a:extLst>
          </p:cNvPr>
          <p:cNvSpPr>
            <a:spLocks xmlns:a="http://schemas.openxmlformats.org/drawingml/2006/main" noGrp="1"/>
          </p:cNvSpPr>
          <p:nvPr/>
        </p:nvSpPr>
        <p:spPr>
          <a:xfrm xmlns:a="http://schemas.openxmlformats.org/drawingml/2006/main">
            <a:off x="10506075" y="3810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A7491E7-D455-4A30-B6CF-1ACF86A077B5}"/>
              </a:ext>
            </a:extLst>
          </p:cNvPr>
          <p:cNvSpPr>
            <a:spLocks xmlns:a="http://schemas.openxmlformats.org/drawingml/2006/main" noGrp="1"/>
          </p:cNvSpPr>
          <p:nvPr/>
        </p:nvSpPr>
        <p:spPr>
          <a:xfrm xmlns:a="http://schemas.openxmlformats.org/drawingml/2006/main">
            <a:off x="10715625" y="3810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248C23A-1CB5-4CFD-9EB2-D6A25062FB70}"/>
              </a:ext>
            </a:extLst>
          </p:cNvPr>
          <p:cNvSpPr>
            <a:spLocks xmlns:a="http://schemas.openxmlformats.org/drawingml/2006/main" noGrp="1"/>
          </p:cNvSpPr>
          <p:nvPr/>
        </p:nvSpPr>
        <p:spPr>
          <a:xfrm xmlns:a="http://schemas.openxmlformats.org/drawingml/2006/main">
            <a:off x="10925175" y="3810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9BD8509-EAE6-4D55-9B1D-76F56DB3A7CE}"/>
              </a:ext>
            </a:extLst>
          </p:cNvPr>
          <p:cNvSpPr>
            <a:spLocks xmlns:a="http://schemas.openxmlformats.org/drawingml/2006/main" noGrp="1"/>
          </p:cNvSpPr>
          <p:nvPr/>
        </p:nvSpPr>
        <p:spPr>
          <a:xfrm xmlns:a="http://schemas.openxmlformats.org/drawingml/2006/main">
            <a:off x="11134725" y="3810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FB1F397-9E2E-4F2C-89C1-A04305AB94BE}"/>
              </a:ext>
            </a:extLst>
          </p:cNvPr>
          <p:cNvSpPr>
            <a:spLocks xmlns:a="http://schemas.openxmlformats.org/drawingml/2006/main" noGrp="1"/>
          </p:cNvSpPr>
          <p:nvPr/>
        </p:nvSpPr>
        <p:spPr>
          <a:xfrm xmlns:a="http://schemas.openxmlformats.org/drawingml/2006/main">
            <a:off x="9667875" y="5905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C11AC28-2EE8-498C-BF80-11897A279D69}"/>
              </a:ext>
            </a:extLst>
          </p:cNvPr>
          <p:cNvSpPr>
            <a:spLocks xmlns:a="http://schemas.openxmlformats.org/drawingml/2006/main" noGrp="1"/>
          </p:cNvSpPr>
          <p:nvPr/>
        </p:nvSpPr>
        <p:spPr>
          <a:xfrm xmlns:a="http://schemas.openxmlformats.org/drawingml/2006/main">
            <a:off x="9877425" y="5905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00DF64B-722E-493D-ABFC-440BEF7DFF5C}"/>
              </a:ext>
            </a:extLst>
          </p:cNvPr>
          <p:cNvSpPr>
            <a:spLocks xmlns:a="http://schemas.openxmlformats.org/drawingml/2006/main" noGrp="1"/>
          </p:cNvSpPr>
          <p:nvPr/>
        </p:nvSpPr>
        <p:spPr>
          <a:xfrm xmlns:a="http://schemas.openxmlformats.org/drawingml/2006/main">
            <a:off x="10086975" y="5905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2BF2A37-AA4B-4ADD-BE3C-37A6DFE13C98}"/>
              </a:ext>
            </a:extLst>
          </p:cNvPr>
          <p:cNvSpPr>
            <a:spLocks xmlns:a="http://schemas.openxmlformats.org/drawingml/2006/main" noGrp="1"/>
          </p:cNvSpPr>
          <p:nvPr/>
        </p:nvSpPr>
        <p:spPr>
          <a:xfrm xmlns:a="http://schemas.openxmlformats.org/drawingml/2006/main">
            <a:off x="10296525" y="5905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FE447DD-C726-4EB0-BD73-0ABC4B242A27}"/>
              </a:ext>
            </a:extLst>
          </p:cNvPr>
          <p:cNvSpPr>
            <a:spLocks xmlns:a="http://schemas.openxmlformats.org/drawingml/2006/main" noGrp="1"/>
          </p:cNvSpPr>
          <p:nvPr/>
        </p:nvSpPr>
        <p:spPr>
          <a:xfrm xmlns:a="http://schemas.openxmlformats.org/drawingml/2006/main">
            <a:off x="10506075" y="5905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3B5F2E1-4BE0-4001-9B76-9A32AB626E00}"/>
              </a:ext>
            </a:extLst>
          </p:cNvPr>
          <p:cNvSpPr>
            <a:spLocks xmlns:a="http://schemas.openxmlformats.org/drawingml/2006/main" noGrp="1"/>
          </p:cNvSpPr>
          <p:nvPr/>
        </p:nvSpPr>
        <p:spPr>
          <a:xfrm xmlns:a="http://schemas.openxmlformats.org/drawingml/2006/main">
            <a:off x="10715625" y="5905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5B90EE6-F70B-4177-BDE8-F8C238A6BC4C}"/>
              </a:ext>
            </a:extLst>
          </p:cNvPr>
          <p:cNvSpPr>
            <a:spLocks xmlns:a="http://schemas.openxmlformats.org/drawingml/2006/main" noGrp="1"/>
          </p:cNvSpPr>
          <p:nvPr/>
        </p:nvSpPr>
        <p:spPr>
          <a:xfrm xmlns:a="http://schemas.openxmlformats.org/drawingml/2006/main">
            <a:off x="10925175" y="5905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429FEA4-2881-4872-89CE-D7BA4146D58E}"/>
              </a:ext>
            </a:extLst>
          </p:cNvPr>
          <p:cNvSpPr>
            <a:spLocks xmlns:a="http://schemas.openxmlformats.org/drawingml/2006/main" noGrp="1"/>
          </p:cNvSpPr>
          <p:nvPr/>
        </p:nvSpPr>
        <p:spPr>
          <a:xfrm xmlns:a="http://schemas.openxmlformats.org/drawingml/2006/main">
            <a:off x="11134725" y="5905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9B4307D-494A-4B55-91E2-39297874B944}"/>
              </a:ext>
            </a:extLst>
          </p:cNvPr>
          <p:cNvSpPr>
            <a:spLocks xmlns:a="http://schemas.openxmlformats.org/drawingml/2006/main" noGrp="1"/>
          </p:cNvSpPr>
          <p:nvPr/>
        </p:nvSpPr>
        <p:spPr>
          <a:xfrm xmlns:a="http://schemas.openxmlformats.org/drawingml/2006/main">
            <a:off x="9667875" y="8001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635B29F-D343-490B-9FA8-4A4038DF2165}"/>
              </a:ext>
            </a:extLst>
          </p:cNvPr>
          <p:cNvSpPr>
            <a:spLocks xmlns:a="http://schemas.openxmlformats.org/drawingml/2006/main" noGrp="1"/>
          </p:cNvSpPr>
          <p:nvPr/>
        </p:nvSpPr>
        <p:spPr>
          <a:xfrm xmlns:a="http://schemas.openxmlformats.org/drawingml/2006/main">
            <a:off x="9877425" y="8001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A47DB96-699E-4E36-B08B-5584F44BCCD1}"/>
              </a:ext>
            </a:extLst>
          </p:cNvPr>
          <p:cNvSpPr>
            <a:spLocks xmlns:a="http://schemas.openxmlformats.org/drawingml/2006/main" noGrp="1"/>
          </p:cNvSpPr>
          <p:nvPr/>
        </p:nvSpPr>
        <p:spPr>
          <a:xfrm xmlns:a="http://schemas.openxmlformats.org/drawingml/2006/main">
            <a:off x="10086975" y="8001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F7F8230-BFBC-48A9-8342-84EAA6F72C0A}"/>
              </a:ext>
            </a:extLst>
          </p:cNvPr>
          <p:cNvSpPr>
            <a:spLocks xmlns:a="http://schemas.openxmlformats.org/drawingml/2006/main" noGrp="1"/>
          </p:cNvSpPr>
          <p:nvPr/>
        </p:nvSpPr>
        <p:spPr>
          <a:xfrm xmlns:a="http://schemas.openxmlformats.org/drawingml/2006/main">
            <a:off x="10296525" y="8001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01BD5F7-5F0C-4DD9-B214-7C77487D01D1}"/>
              </a:ext>
            </a:extLst>
          </p:cNvPr>
          <p:cNvSpPr>
            <a:spLocks xmlns:a="http://schemas.openxmlformats.org/drawingml/2006/main" noGrp="1"/>
          </p:cNvSpPr>
          <p:nvPr/>
        </p:nvSpPr>
        <p:spPr>
          <a:xfrm xmlns:a="http://schemas.openxmlformats.org/drawingml/2006/main">
            <a:off x="10506075" y="8001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122F1B4-2B24-4652-AC98-3F6267D953C2}"/>
              </a:ext>
            </a:extLst>
          </p:cNvPr>
          <p:cNvSpPr>
            <a:spLocks xmlns:a="http://schemas.openxmlformats.org/drawingml/2006/main" noGrp="1"/>
          </p:cNvSpPr>
          <p:nvPr/>
        </p:nvSpPr>
        <p:spPr>
          <a:xfrm xmlns:a="http://schemas.openxmlformats.org/drawingml/2006/main">
            <a:off x="10715625" y="8001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4F58CD2-15D9-4DBF-8626-D229D8188A93}"/>
              </a:ext>
            </a:extLst>
          </p:cNvPr>
          <p:cNvSpPr>
            <a:spLocks xmlns:a="http://schemas.openxmlformats.org/drawingml/2006/main" noGrp="1"/>
          </p:cNvSpPr>
          <p:nvPr/>
        </p:nvSpPr>
        <p:spPr>
          <a:xfrm xmlns:a="http://schemas.openxmlformats.org/drawingml/2006/main">
            <a:off x="10925175" y="8001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7997DAC-3922-41CA-BA91-9AC3091BF32B}"/>
              </a:ext>
            </a:extLst>
          </p:cNvPr>
          <p:cNvSpPr>
            <a:spLocks xmlns:a="http://schemas.openxmlformats.org/drawingml/2006/main" noGrp="1"/>
          </p:cNvSpPr>
          <p:nvPr/>
        </p:nvSpPr>
        <p:spPr>
          <a:xfrm xmlns:a="http://schemas.openxmlformats.org/drawingml/2006/main">
            <a:off x="11134725" y="8001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60C2D7E-B145-4E41-8507-EC4A88106CDC}"/>
              </a:ext>
            </a:extLst>
          </p:cNvPr>
          <p:cNvSpPr>
            <a:spLocks xmlns:a="http://schemas.openxmlformats.org/drawingml/2006/main" noGrp="1"/>
          </p:cNvSpPr>
          <p:nvPr/>
        </p:nvSpPr>
        <p:spPr>
          <a:xfrm xmlns:a="http://schemas.openxmlformats.org/drawingml/2006/main">
            <a:off x="9667875" y="10096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ACF0158-CC28-4824-8E88-A6474A2C4E95}"/>
              </a:ext>
            </a:extLst>
          </p:cNvPr>
          <p:cNvSpPr>
            <a:spLocks xmlns:a="http://schemas.openxmlformats.org/drawingml/2006/main" noGrp="1"/>
          </p:cNvSpPr>
          <p:nvPr/>
        </p:nvSpPr>
        <p:spPr>
          <a:xfrm xmlns:a="http://schemas.openxmlformats.org/drawingml/2006/main">
            <a:off x="9877425" y="10096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8FB33B2-CA16-4185-A94E-054B2A6BC0D6}"/>
              </a:ext>
            </a:extLst>
          </p:cNvPr>
          <p:cNvSpPr>
            <a:spLocks xmlns:a="http://schemas.openxmlformats.org/drawingml/2006/main" noGrp="1"/>
          </p:cNvSpPr>
          <p:nvPr/>
        </p:nvSpPr>
        <p:spPr>
          <a:xfrm xmlns:a="http://schemas.openxmlformats.org/drawingml/2006/main">
            <a:off x="10086975" y="10096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537DE66-329E-4233-AFD3-989FFDC7EF13}"/>
              </a:ext>
            </a:extLst>
          </p:cNvPr>
          <p:cNvSpPr>
            <a:spLocks xmlns:a="http://schemas.openxmlformats.org/drawingml/2006/main" noGrp="1"/>
          </p:cNvSpPr>
          <p:nvPr/>
        </p:nvSpPr>
        <p:spPr>
          <a:xfrm xmlns:a="http://schemas.openxmlformats.org/drawingml/2006/main">
            <a:off x="10296525" y="10096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DAED9A6-79FD-4FB5-B813-E1E9FD3DDB62}"/>
              </a:ext>
            </a:extLst>
          </p:cNvPr>
          <p:cNvSpPr>
            <a:spLocks xmlns:a="http://schemas.openxmlformats.org/drawingml/2006/main" noGrp="1"/>
          </p:cNvSpPr>
          <p:nvPr/>
        </p:nvSpPr>
        <p:spPr>
          <a:xfrm xmlns:a="http://schemas.openxmlformats.org/drawingml/2006/main">
            <a:off x="10506075" y="10096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9354246-6097-45B4-992F-F90CCABD5407}"/>
              </a:ext>
            </a:extLst>
          </p:cNvPr>
          <p:cNvSpPr>
            <a:spLocks xmlns:a="http://schemas.openxmlformats.org/drawingml/2006/main" noGrp="1"/>
          </p:cNvSpPr>
          <p:nvPr/>
        </p:nvSpPr>
        <p:spPr>
          <a:xfrm xmlns:a="http://schemas.openxmlformats.org/drawingml/2006/main">
            <a:off x="10715625" y="10096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A9471B5-A306-495C-97F7-77E89C481272}"/>
              </a:ext>
            </a:extLst>
          </p:cNvPr>
          <p:cNvSpPr>
            <a:spLocks xmlns:a="http://schemas.openxmlformats.org/drawingml/2006/main" noGrp="1"/>
          </p:cNvSpPr>
          <p:nvPr/>
        </p:nvSpPr>
        <p:spPr>
          <a:xfrm xmlns:a="http://schemas.openxmlformats.org/drawingml/2006/main">
            <a:off x="10925175" y="10096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F88B05C-87C2-4A6C-A403-C84B0B01EEB3}"/>
              </a:ext>
            </a:extLst>
          </p:cNvPr>
          <p:cNvSpPr>
            <a:spLocks xmlns:a="http://schemas.openxmlformats.org/drawingml/2006/main" noGrp="1"/>
          </p:cNvSpPr>
          <p:nvPr/>
        </p:nvSpPr>
        <p:spPr>
          <a:xfrm xmlns:a="http://schemas.openxmlformats.org/drawingml/2006/main">
            <a:off x="11134725" y="10096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5DE4D3F-EDDF-44FE-B15C-D5107368BD9E}"/>
              </a:ext>
            </a:extLst>
          </p:cNvPr>
          <p:cNvSpPr>
            <a:spLocks xmlns:a="http://schemas.openxmlformats.org/drawingml/2006/main" noGrp="1"/>
          </p:cNvSpPr>
          <p:nvPr/>
        </p:nvSpPr>
        <p:spPr>
          <a:xfrm xmlns:a="http://schemas.openxmlformats.org/drawingml/2006/main">
            <a:off x="9667875" y="12192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5EA583B1-B2FB-43FE-A907-12A405B64A6F}"/>
              </a:ext>
            </a:extLst>
          </p:cNvPr>
          <p:cNvSpPr>
            <a:spLocks xmlns:a="http://schemas.openxmlformats.org/drawingml/2006/main" noGrp="1"/>
          </p:cNvSpPr>
          <p:nvPr/>
        </p:nvSpPr>
        <p:spPr>
          <a:xfrm xmlns:a="http://schemas.openxmlformats.org/drawingml/2006/main">
            <a:off x="9877425" y="12192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863B4EB-1C52-43FA-9C92-542350E46CC9}"/>
              </a:ext>
            </a:extLst>
          </p:cNvPr>
          <p:cNvSpPr>
            <a:spLocks xmlns:a="http://schemas.openxmlformats.org/drawingml/2006/main" noGrp="1"/>
          </p:cNvSpPr>
          <p:nvPr/>
        </p:nvSpPr>
        <p:spPr>
          <a:xfrm xmlns:a="http://schemas.openxmlformats.org/drawingml/2006/main">
            <a:off x="10086975" y="12192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8F49BBC-ADDF-4F6F-A9F1-3D6010963FDF}"/>
              </a:ext>
            </a:extLst>
          </p:cNvPr>
          <p:cNvSpPr>
            <a:spLocks xmlns:a="http://schemas.openxmlformats.org/drawingml/2006/main" noGrp="1"/>
          </p:cNvSpPr>
          <p:nvPr/>
        </p:nvSpPr>
        <p:spPr>
          <a:xfrm xmlns:a="http://schemas.openxmlformats.org/drawingml/2006/main">
            <a:off x="10296525" y="12192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BA127C15-BBAB-4047-ACA5-B2772E3A80B4}"/>
              </a:ext>
            </a:extLst>
          </p:cNvPr>
          <p:cNvSpPr>
            <a:spLocks xmlns:a="http://schemas.openxmlformats.org/drawingml/2006/main" noGrp="1"/>
          </p:cNvSpPr>
          <p:nvPr/>
        </p:nvSpPr>
        <p:spPr>
          <a:xfrm xmlns:a="http://schemas.openxmlformats.org/drawingml/2006/main">
            <a:off x="10506075" y="12192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E7659E24-7F7F-4871-BC82-1DFF402F34D2}"/>
              </a:ext>
            </a:extLst>
          </p:cNvPr>
          <p:cNvSpPr>
            <a:spLocks xmlns:a="http://schemas.openxmlformats.org/drawingml/2006/main" noGrp="1"/>
          </p:cNvSpPr>
          <p:nvPr/>
        </p:nvSpPr>
        <p:spPr>
          <a:xfrm xmlns:a="http://schemas.openxmlformats.org/drawingml/2006/main">
            <a:off x="10715625" y="12192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A48B945B-C201-427A-AE87-7EC42DE04354}"/>
              </a:ext>
            </a:extLst>
          </p:cNvPr>
          <p:cNvSpPr>
            <a:spLocks xmlns:a="http://schemas.openxmlformats.org/drawingml/2006/main" noGrp="1"/>
          </p:cNvSpPr>
          <p:nvPr/>
        </p:nvSpPr>
        <p:spPr>
          <a:xfrm xmlns:a="http://schemas.openxmlformats.org/drawingml/2006/main">
            <a:off x="10925175" y="12192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5955E8F9-9C04-454C-A2DA-B14739651FC7}"/>
              </a:ext>
            </a:extLst>
          </p:cNvPr>
          <p:cNvSpPr>
            <a:spLocks xmlns:a="http://schemas.openxmlformats.org/drawingml/2006/main" noGrp="1"/>
          </p:cNvSpPr>
          <p:nvPr/>
        </p:nvSpPr>
        <p:spPr>
          <a:xfrm xmlns:a="http://schemas.openxmlformats.org/drawingml/2006/main">
            <a:off x="11134725" y="12192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A45C468A-A5EA-4997-A418-2ADB2B4E3C39}"/>
              </a:ext>
            </a:extLst>
          </p:cNvPr>
          <p:cNvSpPr>
            <a:spLocks xmlns:a="http://schemas.openxmlformats.org/drawingml/2006/main" noGrp="1"/>
          </p:cNvSpPr>
          <p:nvPr/>
        </p:nvSpPr>
        <p:spPr>
          <a:xfrm xmlns:a="http://schemas.openxmlformats.org/drawingml/2006/main">
            <a:off x="666750" y="1809750"/>
            <a:ext cx="685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E63888"/>
                </a:solidFill>
              </a:defRPr>
            </a:pPr>
            <a:r>
              <a:rPr sz="3600" b="1">
                <a:solidFill>
                  <a:srgbClr val="E63888"/>
                </a:solidFill>
              </a:rPr>
              <a:t>AI for ABM:</a:t>
            </a:r>
          </a:p>
        </p:txBody>
      </p:sp>
      <p:sp>
        <p:nvSpPr>
          <p:cNvPr id="44" name="">
            <a:extLst xmlns:a="http://schemas.openxmlformats.org/drawingml/2006/main">
              <a:ext uri="{FF2B5EF4-FFF2-40B4-BE49-F238E27FC236}">
                <a16:creationId xmlns:a16="http://schemas.microsoft.com/office/drawing/2014/main" id="{B3C1F76A-40A7-4B3C-9075-9FC4433DB217}"/>
              </a:ext>
            </a:extLst>
          </p:cNvPr>
          <p:cNvSpPr>
            <a:spLocks xmlns:a="http://schemas.openxmlformats.org/drawingml/2006/main" noGrp="1"/>
          </p:cNvSpPr>
          <p:nvPr/>
        </p:nvSpPr>
        <p:spPr>
          <a:xfrm xmlns:a="http://schemas.openxmlformats.org/drawingml/2006/main">
            <a:off x="666750" y="2343150"/>
            <a:ext cx="78105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200" b="1">
                <a:solidFill>
                  <a:srgbClr val="FFFFFF"/>
                </a:solidFill>
              </a:defRPr>
            </a:pPr>
            <a:r>
              <a:rPr sz="4200" b="1">
                <a:solidFill>
                  <a:srgbClr val="FFFFFF"/>
                </a:solidFill>
              </a:rPr>
              <a:t>What You Need to Know</a:t>
            </a:r>
          </a:p>
          <a:p xmlns:a="http://schemas.openxmlformats.org/drawingml/2006/main">
            <a:pPr algn="l">
              <a:buNone/>
              <a:defRPr sz="4200" b="1">
                <a:solidFill>
                  <a:srgbClr val="FFFFFF"/>
                </a:solidFill>
              </a:defRPr>
            </a:pPr>
            <a:r>
              <a:rPr sz="4200" b="1">
                <a:solidFill>
                  <a:srgbClr val="FFFFFF"/>
                </a:solidFill>
              </a:rPr>
              <a:t>About MCPs, Agents &amp; Prompts</a:t>
            </a:r>
          </a:p>
        </p:txBody>
      </p:sp>
      <p:sp>
        <p:nvSpPr>
          <p:cNvPr id="45" name="">
            <a:extLst xmlns:a="http://schemas.openxmlformats.org/drawingml/2006/main">
              <a:ext uri="{FF2B5EF4-FFF2-40B4-BE49-F238E27FC236}">
                <a16:creationId xmlns:a16="http://schemas.microsoft.com/office/drawing/2014/main" id="{E819732E-3C00-4517-98AB-6FFD80791F2E}"/>
              </a:ext>
            </a:extLst>
          </p:cNvPr>
          <p:cNvSpPr>
            <a:spLocks xmlns:a="http://schemas.openxmlformats.org/drawingml/2006/main" noGrp="1"/>
          </p:cNvSpPr>
          <p:nvPr/>
        </p:nvSpPr>
        <p:spPr>
          <a:xfrm xmlns:a="http://schemas.openxmlformats.org/drawingml/2006/main">
            <a:off x="685800" y="5505450"/>
            <a:ext cx="4381500" cy="38100"/>
          </a:xfrm>
          <a:prstGeom xmlns:a="http://schemas.openxmlformats.org/drawingml/2006/main" prst="rect">
            <a:avLst/>
          </a:prstGeom>
          <a:solidFill xmlns:a="http://schemas.openxmlformats.org/drawingml/2006/main">
            <a:srgbClr val="E63888"/>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38AB49F1-CFCB-4ADE-BFB3-2BAA917C6AC1}"/>
              </a:ext>
            </a:extLst>
          </p:cNvPr>
          <p:cNvSpPr>
            <a:spLocks xmlns:a="http://schemas.openxmlformats.org/drawingml/2006/main" noGrp="1"/>
          </p:cNvSpPr>
          <p:nvPr/>
        </p:nvSpPr>
        <p:spPr>
          <a:xfrm xmlns:a="http://schemas.openxmlformats.org/drawingml/2006/main">
            <a:off x="685800" y="57340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FFFFFF"/>
                </a:solidFill>
              </a:defRPr>
            </a:pPr>
            <a:r>
              <a:rPr sz="1200" b="1">
                <a:solidFill>
                  <a:srgbClr val="FFFFFF"/>
                </a:solidFill>
              </a:rPr>
              <a:t>TREY HARNDEN  |  FORGEX</a:t>
            </a:r>
          </a:p>
        </p:txBody>
      </p:sp>
      <p:sp>
        <p:nvSpPr>
          <p:cNvPr id="47" name="">
            <a:extLst xmlns:a="http://schemas.openxmlformats.org/drawingml/2006/main">
              <a:ext uri="{FF2B5EF4-FFF2-40B4-BE49-F238E27FC236}">
                <a16:creationId xmlns:a16="http://schemas.microsoft.com/office/drawing/2014/main" id="{F97F82AE-601A-4D3C-9798-3E37374EF672}"/>
              </a:ext>
            </a:extLst>
          </p:cNvPr>
          <p:cNvSpPr>
            <a:spLocks xmlns:a="http://schemas.openxmlformats.org/drawingml/2006/main" noGrp="1"/>
          </p:cNvSpPr>
          <p:nvPr/>
        </p:nvSpPr>
        <p:spPr>
          <a:xfrm xmlns:a="http://schemas.openxmlformats.org/drawingml/2006/main">
            <a:off x="685800" y="6038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7F25C"/>
                </a:solidFill>
              </a:defRPr>
            </a:pPr>
            <a:r>
              <a:rPr sz="1050" b="1">
                <a:solidFill>
                  <a:srgbClr val="C7F25C"/>
                </a:solidFill>
              </a:rPr>
              <a:t>SEPTEMBER 17, 2026  |  12 PM ET  |  LIVE WORKSPACE BUILD</a:t>
            </a:r>
          </a:p>
        </p:txBody>
      </p:sp>
      <p:sp>
        <p:nvSpPr>
          <p:cNvPr id="48" name="">
            <a:extLst xmlns:a="http://schemas.openxmlformats.org/drawingml/2006/main">
              <a:ext uri="{FF2B5EF4-FFF2-40B4-BE49-F238E27FC236}">
                <a16:creationId xmlns:a16="http://schemas.microsoft.com/office/drawing/2014/main" id="{58BFB66C-2270-4D16-BEDE-4ED1C0542520}"/>
              </a:ext>
            </a:extLst>
          </p:cNvPr>
          <p:cNvSpPr>
            <a:spLocks xmlns:a="http://schemas.openxmlformats.org/drawingml/2006/main" noGrp="1"/>
          </p:cNvSpPr>
          <p:nvPr/>
        </p:nvSpPr>
        <p:spPr>
          <a:xfrm xmlns:a="http://schemas.openxmlformats.org/drawingml/2006/main">
            <a:off x="9848850" y="4476750"/>
            <a:ext cx="1219200" cy="1219200"/>
          </a:xfrm>
          <a:prstGeom xmlns:a="http://schemas.openxmlformats.org/drawingml/2006/main" prst="ellipse">
            <a:avLst/>
          </a:prstGeom>
          <a:solidFill xmlns:a="http://schemas.openxmlformats.org/drawingml/2006/main">
            <a:srgbClr val="E63888"/>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EF36AF4A-0552-4B8D-9ACC-6F083D187B97}"/>
              </a:ext>
            </a:extLst>
          </p:cNvPr>
          <p:cNvSpPr>
            <a:spLocks xmlns:a="http://schemas.openxmlformats.org/drawingml/2006/main" noGrp="1"/>
          </p:cNvSpPr>
          <p:nvPr/>
        </p:nvSpPr>
        <p:spPr>
          <a:xfrm xmlns:a="http://schemas.openxmlformats.org/drawingml/2006/main">
            <a:off x="10020300" y="4648200"/>
            <a:ext cx="876300" cy="876300"/>
          </a:xfrm>
          <a:prstGeom xmlns:a="http://schemas.openxmlformats.org/drawingml/2006/main" prst="ellipse">
            <a:avLst/>
          </a:prstGeom>
          <a:solidFill xmlns:a="http://schemas.openxmlformats.org/drawingml/2006/main">
            <a:srgbClr val="2B123F"/>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8728D426-ABFB-4239-8BD0-C1792A45B994}"/>
              </a:ext>
            </a:extLst>
          </p:cNvPr>
          <p:cNvSpPr>
            <a:spLocks xmlns:a="http://schemas.openxmlformats.org/drawingml/2006/main" noGrp="1"/>
          </p:cNvSpPr>
          <p:nvPr/>
        </p:nvSpPr>
        <p:spPr>
          <a:xfrm xmlns:a="http://schemas.openxmlformats.org/drawingml/2006/main">
            <a:off x="9696450" y="5600700"/>
            <a:ext cx="228600" cy="228600"/>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Tree>
    <p:extLst>
      <p:ext uri="{BB962C8B-B14F-4D97-AF65-F5344CB8AC3E}">
        <p14:creationId xmlns:p14="http://schemas.microsoft.com/office/powerpoint/2010/main" val="150010095"/>
      </p:ext>
    </p:extLst>
  </p:cSld>
</p:sld>
</file>

<file path=ppt/slides/slide2.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CC5231C-3FAD-4EEF-9854-D4AF328F2531}"/>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C1230601-DBBA-4579-8C62-7DE0B999CAE7}"/>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5B21675-F0DD-4778-84CD-E2DAFA74C11C}"/>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26232A"/>
                </a:solidFill>
              </a:defRPr>
            </a:pPr>
            <a:r>
              <a:rPr sz="3150" b="1">
                <a:solidFill>
                  <a:srgbClr val="26232A"/>
                </a:solidFill>
              </a:rPr>
              <a:t>What you will learn today</a:t>
            </a:r>
          </a:p>
        </p:txBody>
      </p:sp>
      <p:sp>
        <p:nvSpPr>
          <p:cNvPr id="4" name="">
            <a:extLst xmlns:a="http://schemas.openxmlformats.org/drawingml/2006/main">
              <a:ext uri="{FF2B5EF4-FFF2-40B4-BE49-F238E27FC236}">
                <a16:creationId xmlns:a16="http://schemas.microsoft.com/office/drawing/2014/main" id="{368D3BC4-236E-4D93-BF6E-44033FFA6240}"/>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6E6873"/>
                </a:solidFill>
              </a:defRPr>
            </a:pPr>
            <a:r>
              <a:rPr sz="750" b="1">
                <a:solidFill>
                  <a:srgbClr val="6E6873"/>
                </a:solidFill>
              </a:rPr>
              <a:t>FORGEX  |  AI FOR ABM</a:t>
            </a:r>
          </a:p>
        </p:txBody>
      </p:sp>
      <p:sp>
        <p:nvSpPr>
          <p:cNvPr id="5" name="">
            <a:extLst xmlns:a="http://schemas.openxmlformats.org/drawingml/2006/main">
              <a:ext uri="{FF2B5EF4-FFF2-40B4-BE49-F238E27FC236}">
                <a16:creationId xmlns:a16="http://schemas.microsoft.com/office/drawing/2014/main" id="{047DA1B2-A30E-4E7F-BEF0-633A4817998B}"/>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E63888"/>
                </a:solidFill>
              </a:defRPr>
            </a:pPr>
            <a:r>
              <a:rPr sz="825" b="1">
                <a:solidFill>
                  <a:srgbClr val="E63888"/>
                </a:solidFill>
              </a:rPr>
              <a:t>2</a:t>
            </a:r>
          </a:p>
        </p:txBody>
      </p:sp>
      <p:sp>
        <p:nvSpPr>
          <p:cNvPr id="6" name="">
            <a:extLst xmlns:a="http://schemas.openxmlformats.org/drawingml/2006/main">
              <a:ext uri="{FF2B5EF4-FFF2-40B4-BE49-F238E27FC236}">
                <a16:creationId xmlns:a16="http://schemas.microsoft.com/office/drawing/2014/main" id="{91809788-FF30-4083-A930-8E01E2FB1E19}"/>
              </a:ext>
            </a:extLst>
          </p:cNvPr>
          <p:cNvSpPr>
            <a:spLocks xmlns:a="http://schemas.openxmlformats.org/drawingml/2006/main" noGrp="1"/>
          </p:cNvSpPr>
          <p:nvPr/>
        </p:nvSpPr>
        <p:spPr>
          <a:xfrm xmlns:a="http://schemas.openxmlformats.org/drawingml/2006/main">
            <a:off x="742950" y="2381250"/>
            <a:ext cx="213360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19050">
            <a:solidFill>
              <a:srgbClr val="EAE3EC"/>
            </a:solidFill>
            <a:prstDash val="solid"/>
          </a:ln>
        </p:spPr>
      </p:sp>
      <p:sp>
        <p:nvSpPr>
          <p:cNvPr id="7" name="">
            <a:extLst xmlns:a="http://schemas.openxmlformats.org/drawingml/2006/main">
              <a:ext uri="{FF2B5EF4-FFF2-40B4-BE49-F238E27FC236}">
                <a16:creationId xmlns:a16="http://schemas.microsoft.com/office/drawing/2014/main" id="{F093385F-B2FB-4BD1-BFDD-A95C426E602B}"/>
              </a:ext>
            </a:extLst>
          </p:cNvPr>
          <p:cNvSpPr>
            <a:spLocks xmlns:a="http://schemas.openxmlformats.org/drawingml/2006/main" noGrp="1"/>
          </p:cNvSpPr>
          <p:nvPr/>
        </p:nvSpPr>
        <p:spPr>
          <a:xfrm xmlns:a="http://schemas.openxmlformats.org/drawingml/2006/main">
            <a:off x="914400" y="25527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E63888"/>
                </a:solidFill>
              </a:defRPr>
            </a:pPr>
            <a:r>
              <a:rPr sz="1050" b="1">
                <a:solidFill>
                  <a:srgbClr val="E63888"/>
                </a:solidFill>
              </a:rPr>
              <a:t>1</a:t>
            </a:r>
          </a:p>
        </p:txBody>
      </p:sp>
      <p:sp>
        <p:nvSpPr>
          <p:cNvPr id="8" name="">
            <a:extLst xmlns:a="http://schemas.openxmlformats.org/drawingml/2006/main">
              <a:ext uri="{FF2B5EF4-FFF2-40B4-BE49-F238E27FC236}">
                <a16:creationId xmlns:a16="http://schemas.microsoft.com/office/drawing/2014/main" id="{B82C1F34-BA47-4902-B037-57962E894A78}"/>
              </a:ext>
            </a:extLst>
          </p:cNvPr>
          <p:cNvSpPr>
            <a:spLocks xmlns:a="http://schemas.openxmlformats.org/drawingml/2006/main" noGrp="1"/>
          </p:cNvSpPr>
          <p:nvPr/>
        </p:nvSpPr>
        <p:spPr>
          <a:xfrm xmlns:a="http://schemas.openxmlformats.org/drawingml/2006/main">
            <a:off x="914400" y="2952750"/>
            <a:ext cx="179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6232A"/>
                </a:solidFill>
              </a:defRPr>
            </a:pPr>
            <a:r>
              <a:rPr sz="1500" b="1">
                <a:solidFill>
                  <a:srgbClr val="26232A"/>
                </a:solidFill>
              </a:rPr>
              <a:t>GROUND THE WORK</a:t>
            </a:r>
          </a:p>
        </p:txBody>
      </p:sp>
      <p:sp>
        <p:nvSpPr>
          <p:cNvPr id="9" name="">
            <a:extLst xmlns:a="http://schemas.openxmlformats.org/drawingml/2006/main">
              <a:ext uri="{FF2B5EF4-FFF2-40B4-BE49-F238E27FC236}">
                <a16:creationId xmlns:a16="http://schemas.microsoft.com/office/drawing/2014/main" id="{94C4E7A8-3187-4490-B70D-9B82C0FC8215}"/>
              </a:ext>
            </a:extLst>
          </p:cNvPr>
          <p:cNvSpPr>
            <a:spLocks xmlns:a="http://schemas.openxmlformats.org/drawingml/2006/main" noGrp="1"/>
          </p:cNvSpPr>
          <p:nvPr/>
        </p:nvSpPr>
        <p:spPr>
          <a:xfrm xmlns:a="http://schemas.openxmlformats.org/drawingml/2006/main">
            <a:off x="914400" y="3409950"/>
            <a:ext cx="1790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6E6873"/>
                </a:solidFill>
              </a:defRPr>
            </a:pPr>
            <a:r>
              <a:rPr sz="1125" b="0">
                <a:solidFill>
                  <a:srgbClr val="6E6873"/>
                </a:solidFill>
              </a:rPr>
              <a:t>Company brain + approved context</a:t>
            </a:r>
          </a:p>
        </p:txBody>
      </p:sp>
      <p:sp>
        <p:nvSpPr>
          <p:cNvPr id="10" name="">
            <a:extLst xmlns:a="http://schemas.openxmlformats.org/drawingml/2006/main">
              <a:ext uri="{FF2B5EF4-FFF2-40B4-BE49-F238E27FC236}">
                <a16:creationId xmlns:a16="http://schemas.microsoft.com/office/drawing/2014/main" id="{DA7D0D40-C7C2-42C6-8F17-2C697BA4AF05}"/>
              </a:ext>
            </a:extLst>
          </p:cNvPr>
          <p:cNvSpPr>
            <a:spLocks xmlns:a="http://schemas.openxmlformats.org/drawingml/2006/main" noGrp="1"/>
          </p:cNvSpPr>
          <p:nvPr/>
        </p:nvSpPr>
        <p:spPr>
          <a:xfrm xmlns:a="http://schemas.openxmlformats.org/drawingml/2006/main">
            <a:off x="2914650" y="2971800"/>
            <a:ext cx="28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63888"/>
                </a:solidFill>
              </a:defRPr>
            </a:pPr>
            <a:r>
              <a:rPr sz="2100" b="1">
                <a:solidFill>
                  <a:srgbClr val="E63888"/>
                </a:solidFill>
              </a:rPr>
              <a:t>→</a:t>
            </a:r>
          </a:p>
        </p:txBody>
      </p:sp>
      <p:sp>
        <p:nvSpPr>
          <p:cNvPr id="11" name="">
            <a:extLst xmlns:a="http://schemas.openxmlformats.org/drawingml/2006/main">
              <a:ext uri="{FF2B5EF4-FFF2-40B4-BE49-F238E27FC236}">
                <a16:creationId xmlns:a16="http://schemas.microsoft.com/office/drawing/2014/main" id="{79982B8E-6C61-4F8F-BABC-A9C0B535510B}"/>
              </a:ext>
            </a:extLst>
          </p:cNvPr>
          <p:cNvSpPr>
            <a:spLocks xmlns:a="http://schemas.openxmlformats.org/drawingml/2006/main" noGrp="1"/>
          </p:cNvSpPr>
          <p:nvPr/>
        </p:nvSpPr>
        <p:spPr>
          <a:xfrm xmlns:a="http://schemas.openxmlformats.org/drawingml/2006/main">
            <a:off x="3238500" y="2381250"/>
            <a:ext cx="213360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19050">
            <a:solidFill>
              <a:srgbClr val="EAE3EC"/>
            </a:solidFill>
            <a:prstDash val="solid"/>
          </a:ln>
        </p:spPr>
      </p:sp>
      <p:sp>
        <p:nvSpPr>
          <p:cNvPr id="12" name="">
            <a:extLst xmlns:a="http://schemas.openxmlformats.org/drawingml/2006/main">
              <a:ext uri="{FF2B5EF4-FFF2-40B4-BE49-F238E27FC236}">
                <a16:creationId xmlns:a16="http://schemas.microsoft.com/office/drawing/2014/main" id="{7B794A98-1E1F-439C-B7BE-F7BD6A323862}"/>
              </a:ext>
            </a:extLst>
          </p:cNvPr>
          <p:cNvSpPr>
            <a:spLocks xmlns:a="http://schemas.openxmlformats.org/drawingml/2006/main" noGrp="1"/>
          </p:cNvSpPr>
          <p:nvPr/>
        </p:nvSpPr>
        <p:spPr>
          <a:xfrm xmlns:a="http://schemas.openxmlformats.org/drawingml/2006/main">
            <a:off x="3409950" y="25527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E63888"/>
                </a:solidFill>
              </a:defRPr>
            </a:pPr>
            <a:r>
              <a:rPr sz="1050" b="1">
                <a:solidFill>
                  <a:srgbClr val="E63888"/>
                </a:solidFill>
              </a:rPr>
              <a:t>2</a:t>
            </a:r>
          </a:p>
        </p:txBody>
      </p:sp>
      <p:sp>
        <p:nvSpPr>
          <p:cNvPr id="13" name="">
            <a:extLst xmlns:a="http://schemas.openxmlformats.org/drawingml/2006/main">
              <a:ext uri="{FF2B5EF4-FFF2-40B4-BE49-F238E27FC236}">
                <a16:creationId xmlns:a16="http://schemas.microsoft.com/office/drawing/2014/main" id="{281A4619-D52C-4CCD-A9BF-ED8DEF8D4905}"/>
              </a:ext>
            </a:extLst>
          </p:cNvPr>
          <p:cNvSpPr>
            <a:spLocks xmlns:a="http://schemas.openxmlformats.org/drawingml/2006/main" noGrp="1"/>
          </p:cNvSpPr>
          <p:nvPr/>
        </p:nvSpPr>
        <p:spPr>
          <a:xfrm xmlns:a="http://schemas.openxmlformats.org/drawingml/2006/main">
            <a:off x="3409950" y="2952750"/>
            <a:ext cx="179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6232A"/>
                </a:solidFill>
              </a:defRPr>
            </a:pPr>
            <a:r>
              <a:rPr sz="1500" b="1">
                <a:solidFill>
                  <a:srgbClr val="26232A"/>
                </a:solidFill>
              </a:rPr>
              <a:t>PACKAGE THE PROCESS</a:t>
            </a:r>
          </a:p>
        </p:txBody>
      </p:sp>
      <p:sp>
        <p:nvSpPr>
          <p:cNvPr id="14" name="">
            <a:extLst xmlns:a="http://schemas.openxmlformats.org/drawingml/2006/main">
              <a:ext uri="{FF2B5EF4-FFF2-40B4-BE49-F238E27FC236}">
                <a16:creationId xmlns:a16="http://schemas.microsoft.com/office/drawing/2014/main" id="{A106C1C7-6039-48C7-8CE5-5D1760AA9665}"/>
              </a:ext>
            </a:extLst>
          </p:cNvPr>
          <p:cNvSpPr>
            <a:spLocks xmlns:a="http://schemas.openxmlformats.org/drawingml/2006/main" noGrp="1"/>
          </p:cNvSpPr>
          <p:nvPr/>
        </p:nvSpPr>
        <p:spPr>
          <a:xfrm xmlns:a="http://schemas.openxmlformats.org/drawingml/2006/main">
            <a:off x="3409950" y="3409950"/>
            <a:ext cx="1790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6E6873"/>
                </a:solidFill>
              </a:defRPr>
            </a:pPr>
            <a:r>
              <a:rPr sz="1125" b="0">
                <a:solidFill>
                  <a:srgbClr val="6E6873"/>
                </a:solidFill>
              </a:rPr>
              <a:t>Reusable skills + output contracts</a:t>
            </a:r>
          </a:p>
        </p:txBody>
      </p:sp>
      <p:sp>
        <p:nvSpPr>
          <p:cNvPr id="15" name="">
            <a:extLst xmlns:a="http://schemas.openxmlformats.org/drawingml/2006/main">
              <a:ext uri="{FF2B5EF4-FFF2-40B4-BE49-F238E27FC236}">
                <a16:creationId xmlns:a16="http://schemas.microsoft.com/office/drawing/2014/main" id="{9A21FA5C-1A86-4405-A82A-525C76BC76F6}"/>
              </a:ext>
            </a:extLst>
          </p:cNvPr>
          <p:cNvSpPr>
            <a:spLocks xmlns:a="http://schemas.openxmlformats.org/drawingml/2006/main" noGrp="1"/>
          </p:cNvSpPr>
          <p:nvPr/>
        </p:nvSpPr>
        <p:spPr>
          <a:xfrm xmlns:a="http://schemas.openxmlformats.org/drawingml/2006/main">
            <a:off x="5410200" y="2971800"/>
            <a:ext cx="28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63888"/>
                </a:solidFill>
              </a:defRPr>
            </a:pPr>
            <a:r>
              <a:rPr sz="2100" b="1">
                <a:solidFill>
                  <a:srgbClr val="E63888"/>
                </a:solidFill>
              </a:rPr>
              <a:t>→</a:t>
            </a:r>
          </a:p>
        </p:txBody>
      </p:sp>
      <p:sp>
        <p:nvSpPr>
          <p:cNvPr id="16" name="">
            <a:extLst xmlns:a="http://schemas.openxmlformats.org/drawingml/2006/main">
              <a:ext uri="{FF2B5EF4-FFF2-40B4-BE49-F238E27FC236}">
                <a16:creationId xmlns:a16="http://schemas.microsoft.com/office/drawing/2014/main" id="{1CEB7A12-173B-4D6B-A561-D05A73FB7630}"/>
              </a:ext>
            </a:extLst>
          </p:cNvPr>
          <p:cNvSpPr>
            <a:spLocks xmlns:a="http://schemas.openxmlformats.org/drawingml/2006/main" noGrp="1"/>
          </p:cNvSpPr>
          <p:nvPr/>
        </p:nvSpPr>
        <p:spPr>
          <a:xfrm xmlns:a="http://schemas.openxmlformats.org/drawingml/2006/main">
            <a:off x="5734050" y="2381250"/>
            <a:ext cx="213360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19050">
            <a:solidFill>
              <a:srgbClr val="EAE3EC"/>
            </a:solidFill>
            <a:prstDash val="solid"/>
          </a:ln>
        </p:spPr>
      </p:sp>
      <p:sp>
        <p:nvSpPr>
          <p:cNvPr id="17" name="">
            <a:extLst xmlns:a="http://schemas.openxmlformats.org/drawingml/2006/main">
              <a:ext uri="{FF2B5EF4-FFF2-40B4-BE49-F238E27FC236}">
                <a16:creationId xmlns:a16="http://schemas.microsoft.com/office/drawing/2014/main" id="{756B78FF-FBF2-44F7-BF55-17F4BF2A072E}"/>
              </a:ext>
            </a:extLst>
          </p:cNvPr>
          <p:cNvSpPr>
            <a:spLocks xmlns:a="http://schemas.openxmlformats.org/drawingml/2006/main" noGrp="1"/>
          </p:cNvSpPr>
          <p:nvPr/>
        </p:nvSpPr>
        <p:spPr>
          <a:xfrm xmlns:a="http://schemas.openxmlformats.org/drawingml/2006/main">
            <a:off x="5905500" y="25527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E63888"/>
                </a:solidFill>
              </a:defRPr>
            </a:pPr>
            <a:r>
              <a:rPr sz="1050" b="1">
                <a:solidFill>
                  <a:srgbClr val="E63888"/>
                </a:solidFill>
              </a:rPr>
              <a:t>3</a:t>
            </a:r>
          </a:p>
        </p:txBody>
      </p:sp>
      <p:sp>
        <p:nvSpPr>
          <p:cNvPr id="18" name="">
            <a:extLst xmlns:a="http://schemas.openxmlformats.org/drawingml/2006/main">
              <a:ext uri="{FF2B5EF4-FFF2-40B4-BE49-F238E27FC236}">
                <a16:creationId xmlns:a16="http://schemas.microsoft.com/office/drawing/2014/main" id="{532D4ED1-5412-4B4C-9CAF-AF80C4EBFD13}"/>
              </a:ext>
            </a:extLst>
          </p:cNvPr>
          <p:cNvSpPr>
            <a:spLocks xmlns:a="http://schemas.openxmlformats.org/drawingml/2006/main" noGrp="1"/>
          </p:cNvSpPr>
          <p:nvPr/>
        </p:nvSpPr>
        <p:spPr>
          <a:xfrm xmlns:a="http://schemas.openxmlformats.org/drawingml/2006/main">
            <a:off x="5905500" y="2952750"/>
            <a:ext cx="179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6232A"/>
                </a:solidFill>
              </a:defRPr>
            </a:pPr>
            <a:r>
              <a:rPr sz="1500" b="1">
                <a:solidFill>
                  <a:srgbClr val="26232A"/>
                </a:solidFill>
              </a:rPr>
              <a:t>CONNECT THE SYSTEM</a:t>
            </a:r>
          </a:p>
        </p:txBody>
      </p:sp>
      <p:sp>
        <p:nvSpPr>
          <p:cNvPr id="19" name="">
            <a:extLst xmlns:a="http://schemas.openxmlformats.org/drawingml/2006/main">
              <a:ext uri="{FF2B5EF4-FFF2-40B4-BE49-F238E27FC236}">
                <a16:creationId xmlns:a16="http://schemas.microsoft.com/office/drawing/2014/main" id="{160A7ADB-C5D1-4BBB-B0D1-7DC582F822EE}"/>
              </a:ext>
            </a:extLst>
          </p:cNvPr>
          <p:cNvSpPr>
            <a:spLocks xmlns:a="http://schemas.openxmlformats.org/drawingml/2006/main" noGrp="1"/>
          </p:cNvSpPr>
          <p:nvPr/>
        </p:nvSpPr>
        <p:spPr>
          <a:xfrm xmlns:a="http://schemas.openxmlformats.org/drawingml/2006/main">
            <a:off x="5905500" y="3409950"/>
            <a:ext cx="1790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6E6873"/>
                </a:solidFill>
              </a:defRPr>
            </a:pPr>
            <a:r>
              <a:rPr sz="1125" b="0">
                <a:solidFill>
                  <a:srgbClr val="6E6873"/>
                </a:solidFill>
              </a:rPr>
              <a:t>Tools + MCP + permission boundaries</a:t>
            </a:r>
          </a:p>
        </p:txBody>
      </p:sp>
      <p:sp>
        <p:nvSpPr>
          <p:cNvPr id="20" name="">
            <a:extLst xmlns:a="http://schemas.openxmlformats.org/drawingml/2006/main">
              <a:ext uri="{FF2B5EF4-FFF2-40B4-BE49-F238E27FC236}">
                <a16:creationId xmlns:a16="http://schemas.microsoft.com/office/drawing/2014/main" id="{89D19C89-3321-4946-B388-48B52B8EB40E}"/>
              </a:ext>
            </a:extLst>
          </p:cNvPr>
          <p:cNvSpPr>
            <a:spLocks xmlns:a="http://schemas.openxmlformats.org/drawingml/2006/main" noGrp="1"/>
          </p:cNvSpPr>
          <p:nvPr/>
        </p:nvSpPr>
        <p:spPr>
          <a:xfrm xmlns:a="http://schemas.openxmlformats.org/drawingml/2006/main">
            <a:off x="7905750" y="2971800"/>
            <a:ext cx="28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63888"/>
                </a:solidFill>
              </a:defRPr>
            </a:pPr>
            <a:r>
              <a:rPr sz="2100" b="1">
                <a:solidFill>
                  <a:srgbClr val="E63888"/>
                </a:solidFill>
              </a:rPr>
              <a:t>→</a:t>
            </a:r>
          </a:p>
        </p:txBody>
      </p:sp>
      <p:sp>
        <p:nvSpPr>
          <p:cNvPr id="21" name="">
            <a:extLst xmlns:a="http://schemas.openxmlformats.org/drawingml/2006/main">
              <a:ext uri="{FF2B5EF4-FFF2-40B4-BE49-F238E27FC236}">
                <a16:creationId xmlns:a16="http://schemas.microsoft.com/office/drawing/2014/main" id="{E8CE2206-F315-43A5-92DC-29B8F23E60D2}"/>
              </a:ext>
            </a:extLst>
          </p:cNvPr>
          <p:cNvSpPr>
            <a:spLocks xmlns:a="http://schemas.openxmlformats.org/drawingml/2006/main" noGrp="1"/>
          </p:cNvSpPr>
          <p:nvPr/>
        </p:nvSpPr>
        <p:spPr>
          <a:xfrm xmlns:a="http://schemas.openxmlformats.org/drawingml/2006/main">
            <a:off x="8229600" y="2381250"/>
            <a:ext cx="2133600" cy="1619250"/>
          </a:xfrm>
          <a:prstGeom xmlns:a="http://schemas.openxmlformats.org/drawingml/2006/main" prst="roundRect">
            <a:avLst>
              <a:gd name="adj" fmla="val 4706"/>
            </a:avLst>
          </a:prstGeom>
          <a:solidFill xmlns:a="http://schemas.openxmlformats.org/drawingml/2006/main">
            <a:srgbClr val="3D1F5C"/>
          </a:solidFill>
          <a:ln xmlns:a="http://schemas.openxmlformats.org/drawingml/2006/main" w="19050">
            <a:solidFill>
              <a:srgbClr val="3D1F5C"/>
            </a:solidFill>
            <a:prstDash val="solid"/>
          </a:ln>
        </p:spPr>
      </p:sp>
      <p:sp>
        <p:nvSpPr>
          <p:cNvPr id="22" name="">
            <a:extLst xmlns:a="http://schemas.openxmlformats.org/drawingml/2006/main">
              <a:ext uri="{FF2B5EF4-FFF2-40B4-BE49-F238E27FC236}">
                <a16:creationId xmlns:a16="http://schemas.microsoft.com/office/drawing/2014/main" id="{3411D879-8BBF-4F5D-9947-56E073DAB5C6}"/>
              </a:ext>
            </a:extLst>
          </p:cNvPr>
          <p:cNvSpPr>
            <a:spLocks xmlns:a="http://schemas.openxmlformats.org/drawingml/2006/main" noGrp="1"/>
          </p:cNvSpPr>
          <p:nvPr/>
        </p:nvSpPr>
        <p:spPr>
          <a:xfrm xmlns:a="http://schemas.openxmlformats.org/drawingml/2006/main">
            <a:off x="8401050" y="25527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7F25C"/>
                </a:solidFill>
              </a:defRPr>
            </a:pPr>
            <a:r>
              <a:rPr sz="1050" b="1">
                <a:solidFill>
                  <a:srgbClr val="C7F25C"/>
                </a:solidFill>
              </a:rPr>
              <a:t>4</a:t>
            </a:r>
          </a:p>
        </p:txBody>
      </p:sp>
      <p:sp>
        <p:nvSpPr>
          <p:cNvPr id="23" name="">
            <a:extLst xmlns:a="http://schemas.openxmlformats.org/drawingml/2006/main">
              <a:ext uri="{FF2B5EF4-FFF2-40B4-BE49-F238E27FC236}">
                <a16:creationId xmlns:a16="http://schemas.microsoft.com/office/drawing/2014/main" id="{3583F104-8B45-4259-8B60-44BE287BEE0C}"/>
              </a:ext>
            </a:extLst>
          </p:cNvPr>
          <p:cNvSpPr>
            <a:spLocks xmlns:a="http://schemas.openxmlformats.org/drawingml/2006/main" noGrp="1"/>
          </p:cNvSpPr>
          <p:nvPr/>
        </p:nvSpPr>
        <p:spPr>
          <a:xfrm xmlns:a="http://schemas.openxmlformats.org/drawingml/2006/main">
            <a:off x="8401050" y="2952750"/>
            <a:ext cx="179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FFFFF"/>
                </a:solidFill>
              </a:defRPr>
            </a:pPr>
            <a:r>
              <a:rPr sz="1500" b="1">
                <a:solidFill>
                  <a:srgbClr val="FFFFFF"/>
                </a:solidFill>
              </a:rPr>
              <a:t>RUN IT SAFELY</a:t>
            </a:r>
          </a:p>
        </p:txBody>
      </p:sp>
      <p:sp>
        <p:nvSpPr>
          <p:cNvPr id="24" name="">
            <a:extLst xmlns:a="http://schemas.openxmlformats.org/drawingml/2006/main">
              <a:ext uri="{FF2B5EF4-FFF2-40B4-BE49-F238E27FC236}">
                <a16:creationId xmlns:a16="http://schemas.microsoft.com/office/drawing/2014/main" id="{8263E045-424F-4874-88DB-15B33D299892}"/>
              </a:ext>
            </a:extLst>
          </p:cNvPr>
          <p:cNvSpPr>
            <a:spLocks xmlns:a="http://schemas.openxmlformats.org/drawingml/2006/main" noGrp="1"/>
          </p:cNvSpPr>
          <p:nvPr/>
        </p:nvSpPr>
        <p:spPr>
          <a:xfrm xmlns:a="http://schemas.openxmlformats.org/drawingml/2006/main">
            <a:off x="8401050" y="3409950"/>
            <a:ext cx="1790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EAE3EC"/>
                </a:solidFill>
              </a:defRPr>
            </a:pPr>
            <a:r>
              <a:rPr sz="1125" b="0">
                <a:solidFill>
                  <a:srgbClr val="EAE3EC"/>
                </a:solidFill>
              </a:rPr>
              <a:t>State + evaluation + human approval</a:t>
            </a:r>
          </a:p>
        </p:txBody>
      </p:sp>
      <p:sp>
        <p:nvSpPr>
          <p:cNvPr id="25" name="">
            <a:extLst xmlns:a="http://schemas.openxmlformats.org/drawingml/2006/main">
              <a:ext uri="{FF2B5EF4-FFF2-40B4-BE49-F238E27FC236}">
                <a16:creationId xmlns:a16="http://schemas.microsoft.com/office/drawing/2014/main" id="{7F7F4C1B-A640-4D52-AA13-F87053B4FE91}"/>
              </a:ext>
            </a:extLst>
          </p:cNvPr>
          <p:cNvSpPr>
            <a:spLocks xmlns:a="http://schemas.openxmlformats.org/drawingml/2006/main" noGrp="1"/>
          </p:cNvSpPr>
          <p:nvPr/>
        </p:nvSpPr>
        <p:spPr>
          <a:xfrm xmlns:a="http://schemas.openxmlformats.org/drawingml/2006/main">
            <a:off x="1143000" y="476250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3D1F5C"/>
                </a:solidFill>
              </a:defRPr>
            </a:pPr>
            <a:r>
              <a:rPr sz="2100" b="1">
                <a:solidFill>
                  <a:srgbClr val="3D1F5C"/>
                </a:solidFill>
              </a:rPr>
              <a:t>Build the whole operating system, then move one useful level at a time.</a:t>
            </a:r>
          </a:p>
        </p:txBody>
      </p:sp>
    </p:spTree>
    <p:extLst>
      <p:ext uri="{BB962C8B-B14F-4D97-AF65-F5344CB8AC3E}">
        <p14:creationId xmlns:p14="http://schemas.microsoft.com/office/powerpoint/2010/main" val="1279504906"/>
      </p:ext>
    </p:extLst>
  </p:cSld>
</p:sld>
</file>

<file path=ppt/slides/slide3.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81F6024-C363-4470-91E6-C7E139E430ED}"/>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FF599F1D-C44F-4F48-A83A-369A615FBB0F}"/>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D5D77FA-644F-4A21-9D05-AD1665020605}"/>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26232A"/>
                </a:solidFill>
              </a:defRPr>
            </a:pPr>
            <a:r>
              <a:rPr sz="3150" b="1">
                <a:solidFill>
                  <a:srgbClr val="26232A"/>
                </a:solidFill>
              </a:rPr>
              <a:t>Breaking Down the Jargon</a:t>
            </a:r>
          </a:p>
        </p:txBody>
      </p:sp>
      <p:sp>
        <p:nvSpPr>
          <p:cNvPr id="4" name="">
            <a:extLst xmlns:a="http://schemas.openxmlformats.org/drawingml/2006/main">
              <a:ext uri="{FF2B5EF4-FFF2-40B4-BE49-F238E27FC236}">
                <a16:creationId xmlns:a16="http://schemas.microsoft.com/office/drawing/2014/main" id="{4D46826A-295B-4F51-B9BF-E8E04CC38A5B}"/>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6E6873"/>
                </a:solidFill>
              </a:defRPr>
            </a:pPr>
            <a:r>
              <a:rPr sz="750" b="1">
                <a:solidFill>
                  <a:srgbClr val="6E6873"/>
                </a:solidFill>
              </a:rPr>
              <a:t>FORGEX  |  AI FOR ABM</a:t>
            </a:r>
          </a:p>
        </p:txBody>
      </p:sp>
      <p:sp>
        <p:nvSpPr>
          <p:cNvPr id="5" name="">
            <a:extLst xmlns:a="http://schemas.openxmlformats.org/drawingml/2006/main">
              <a:ext uri="{FF2B5EF4-FFF2-40B4-BE49-F238E27FC236}">
                <a16:creationId xmlns:a16="http://schemas.microsoft.com/office/drawing/2014/main" id="{8832CA98-4A09-4DC1-A19E-C843529CE45A}"/>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E63888"/>
                </a:solidFill>
              </a:defRPr>
            </a:pPr>
            <a:r>
              <a:rPr sz="825" b="1">
                <a:solidFill>
                  <a:srgbClr val="E63888"/>
                </a:solidFill>
              </a:rPr>
              <a:t>3</a:t>
            </a:r>
          </a:p>
        </p:txBody>
      </p:sp>
      <p:sp>
        <p:nvSpPr>
          <p:cNvPr id="6" name="">
            <a:extLst xmlns:a="http://schemas.openxmlformats.org/drawingml/2006/main">
              <a:ext uri="{FF2B5EF4-FFF2-40B4-BE49-F238E27FC236}">
                <a16:creationId xmlns:a16="http://schemas.microsoft.com/office/drawing/2014/main" id="{A6749AD2-B779-4129-A2C2-649D52F273D3}"/>
              </a:ext>
            </a:extLst>
          </p:cNvPr>
          <p:cNvSpPr>
            <a:spLocks xmlns:a="http://schemas.openxmlformats.org/drawingml/2006/main" noGrp="1"/>
          </p:cNvSpPr>
          <p:nvPr/>
        </p:nvSpPr>
        <p:spPr>
          <a:xfrm xmlns:a="http://schemas.openxmlformats.org/drawingml/2006/main">
            <a:off x="1333500" y="2000250"/>
            <a:ext cx="76200" cy="3714750"/>
          </a:xfrm>
          <a:prstGeom xmlns:a="http://schemas.openxmlformats.org/drawingml/2006/main" prst="roundRect">
            <a:avLst>
              <a:gd name="adj" fmla="val 50000"/>
            </a:avLst>
          </a:prstGeom>
          <a:solidFill xmlns:a="http://schemas.openxmlformats.org/drawingml/2006/main">
            <a:srgbClr val="E6388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ADFA240-60CB-4CA9-9D5D-5F6A73CAA42B}"/>
              </a:ext>
            </a:extLst>
          </p:cNvPr>
          <p:cNvSpPr>
            <a:spLocks xmlns:a="http://schemas.openxmlformats.org/drawingml/2006/main" noGrp="1"/>
          </p:cNvSpPr>
          <p:nvPr/>
        </p:nvSpPr>
        <p:spPr>
          <a:xfrm xmlns:a="http://schemas.openxmlformats.org/drawingml/2006/main">
            <a:off x="1695450" y="19240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MODEL</a:t>
            </a:r>
          </a:p>
        </p:txBody>
      </p:sp>
      <p:sp>
        <p:nvSpPr>
          <p:cNvPr id="8" name="">
            <a:extLst xmlns:a="http://schemas.openxmlformats.org/drawingml/2006/main">
              <a:ext uri="{FF2B5EF4-FFF2-40B4-BE49-F238E27FC236}">
                <a16:creationId xmlns:a16="http://schemas.microsoft.com/office/drawing/2014/main" id="{8DC11002-FDC3-4604-954E-1F29DE326C8D}"/>
              </a:ext>
            </a:extLst>
          </p:cNvPr>
          <p:cNvSpPr>
            <a:spLocks xmlns:a="http://schemas.openxmlformats.org/drawingml/2006/main" noGrp="1"/>
          </p:cNvSpPr>
          <p:nvPr/>
        </p:nvSpPr>
        <p:spPr>
          <a:xfrm xmlns:a="http://schemas.openxmlformats.org/drawingml/2006/main">
            <a:off x="3219450" y="19240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interprets information and generates a response</a:t>
            </a:r>
          </a:p>
        </p:txBody>
      </p:sp>
      <p:sp>
        <p:nvSpPr>
          <p:cNvPr id="9" name="">
            <a:extLst xmlns:a="http://schemas.openxmlformats.org/drawingml/2006/main">
              <a:ext uri="{FF2B5EF4-FFF2-40B4-BE49-F238E27FC236}">
                <a16:creationId xmlns:a16="http://schemas.microsoft.com/office/drawing/2014/main" id="{341F1999-7F17-4D37-8C97-DA0AF4EBF0C6}"/>
              </a:ext>
            </a:extLst>
          </p:cNvPr>
          <p:cNvSpPr>
            <a:spLocks xmlns:a="http://schemas.openxmlformats.org/drawingml/2006/main" noGrp="1"/>
          </p:cNvSpPr>
          <p:nvPr/>
        </p:nvSpPr>
        <p:spPr>
          <a:xfrm xmlns:a="http://schemas.openxmlformats.org/drawingml/2006/main">
            <a:off x="1695450" y="26479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HARNESS</a:t>
            </a:r>
          </a:p>
        </p:txBody>
      </p:sp>
      <p:sp>
        <p:nvSpPr>
          <p:cNvPr id="10" name="">
            <a:extLst xmlns:a="http://schemas.openxmlformats.org/drawingml/2006/main">
              <a:ext uri="{FF2B5EF4-FFF2-40B4-BE49-F238E27FC236}">
                <a16:creationId xmlns:a16="http://schemas.microsoft.com/office/drawing/2014/main" id="{B0ED4B55-442B-456C-BE23-96BAB17A3A54}"/>
              </a:ext>
            </a:extLst>
          </p:cNvPr>
          <p:cNvSpPr>
            <a:spLocks xmlns:a="http://schemas.openxmlformats.org/drawingml/2006/main" noGrp="1"/>
          </p:cNvSpPr>
          <p:nvPr/>
        </p:nvSpPr>
        <p:spPr>
          <a:xfrm xmlns:a="http://schemas.openxmlformats.org/drawingml/2006/main">
            <a:off x="3219450" y="2647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runs and governs the work around the model</a:t>
            </a:r>
          </a:p>
        </p:txBody>
      </p:sp>
      <p:sp>
        <p:nvSpPr>
          <p:cNvPr id="11" name="">
            <a:extLst xmlns:a="http://schemas.openxmlformats.org/drawingml/2006/main">
              <a:ext uri="{FF2B5EF4-FFF2-40B4-BE49-F238E27FC236}">
                <a16:creationId xmlns:a16="http://schemas.microsoft.com/office/drawing/2014/main" id="{9B136C15-5A46-40BB-BCB4-E6A9299372D7}"/>
              </a:ext>
            </a:extLst>
          </p:cNvPr>
          <p:cNvSpPr>
            <a:spLocks xmlns:a="http://schemas.openxmlformats.org/drawingml/2006/main" noGrp="1"/>
          </p:cNvSpPr>
          <p:nvPr/>
        </p:nvSpPr>
        <p:spPr>
          <a:xfrm xmlns:a="http://schemas.openxmlformats.org/drawingml/2006/main">
            <a:off x="1695450" y="33718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PROMPT</a:t>
            </a:r>
          </a:p>
        </p:txBody>
      </p:sp>
      <p:sp>
        <p:nvSpPr>
          <p:cNvPr id="12" name="">
            <a:extLst xmlns:a="http://schemas.openxmlformats.org/drawingml/2006/main">
              <a:ext uri="{FF2B5EF4-FFF2-40B4-BE49-F238E27FC236}">
                <a16:creationId xmlns:a16="http://schemas.microsoft.com/office/drawing/2014/main" id="{594CB1CB-71B2-4662-A9F0-FDA27F2708B8}"/>
              </a:ext>
            </a:extLst>
          </p:cNvPr>
          <p:cNvSpPr>
            <a:spLocks xmlns:a="http://schemas.openxmlformats.org/drawingml/2006/main" noGrp="1"/>
          </p:cNvSpPr>
          <p:nvPr/>
        </p:nvSpPr>
        <p:spPr>
          <a:xfrm xmlns:a="http://schemas.openxmlformats.org/drawingml/2006/main">
            <a:off x="3219450" y="33718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gives one task, its goal, constraints, and desired output</a:t>
            </a:r>
          </a:p>
        </p:txBody>
      </p:sp>
      <p:sp>
        <p:nvSpPr>
          <p:cNvPr id="13" name="">
            <a:extLst xmlns:a="http://schemas.openxmlformats.org/drawingml/2006/main">
              <a:ext uri="{FF2B5EF4-FFF2-40B4-BE49-F238E27FC236}">
                <a16:creationId xmlns:a16="http://schemas.microsoft.com/office/drawing/2014/main" id="{89F3E30B-CEE9-4428-BAFE-320D87C0CC48}"/>
              </a:ext>
            </a:extLst>
          </p:cNvPr>
          <p:cNvSpPr>
            <a:spLocks xmlns:a="http://schemas.openxmlformats.org/drawingml/2006/main" noGrp="1"/>
          </p:cNvSpPr>
          <p:nvPr/>
        </p:nvSpPr>
        <p:spPr>
          <a:xfrm xmlns:a="http://schemas.openxmlformats.org/drawingml/2006/main">
            <a:off x="1695450" y="4095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CONTEXT</a:t>
            </a:r>
          </a:p>
        </p:txBody>
      </p:sp>
      <p:sp>
        <p:nvSpPr>
          <p:cNvPr id="14" name="">
            <a:extLst xmlns:a="http://schemas.openxmlformats.org/drawingml/2006/main">
              <a:ext uri="{FF2B5EF4-FFF2-40B4-BE49-F238E27FC236}">
                <a16:creationId xmlns:a16="http://schemas.microsoft.com/office/drawing/2014/main" id="{57394BB8-FF3B-41C1-B805-927396FF8115}"/>
              </a:ext>
            </a:extLst>
          </p:cNvPr>
          <p:cNvSpPr>
            <a:spLocks xmlns:a="http://schemas.openxmlformats.org/drawingml/2006/main" noGrp="1"/>
          </p:cNvSpPr>
          <p:nvPr/>
        </p:nvSpPr>
        <p:spPr>
          <a:xfrm xmlns:a="http://schemas.openxmlformats.org/drawingml/2006/main">
            <a:off x="3219450" y="40957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supplies the facts, rules, examples, and current state</a:t>
            </a:r>
          </a:p>
        </p:txBody>
      </p:sp>
      <p:sp>
        <p:nvSpPr>
          <p:cNvPr id="15" name="">
            <a:extLst xmlns:a="http://schemas.openxmlformats.org/drawingml/2006/main">
              <a:ext uri="{FF2B5EF4-FFF2-40B4-BE49-F238E27FC236}">
                <a16:creationId xmlns:a16="http://schemas.microsoft.com/office/drawing/2014/main" id="{F838EBD9-7FC9-4A17-8C5B-11D829024C6F}"/>
              </a:ext>
            </a:extLst>
          </p:cNvPr>
          <p:cNvSpPr>
            <a:spLocks xmlns:a="http://schemas.openxmlformats.org/drawingml/2006/main" noGrp="1"/>
          </p:cNvSpPr>
          <p:nvPr/>
        </p:nvSpPr>
        <p:spPr>
          <a:xfrm xmlns:a="http://schemas.openxmlformats.org/drawingml/2006/main">
            <a:off x="1695450" y="48196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SKILL</a:t>
            </a:r>
          </a:p>
        </p:txBody>
      </p:sp>
      <p:sp>
        <p:nvSpPr>
          <p:cNvPr id="16" name="">
            <a:extLst xmlns:a="http://schemas.openxmlformats.org/drawingml/2006/main">
              <a:ext uri="{FF2B5EF4-FFF2-40B4-BE49-F238E27FC236}">
                <a16:creationId xmlns:a16="http://schemas.microsoft.com/office/drawing/2014/main" id="{EACAABE7-55EA-4C6A-ADC2-B9AE7D65D829}"/>
              </a:ext>
            </a:extLst>
          </p:cNvPr>
          <p:cNvSpPr>
            <a:spLocks xmlns:a="http://schemas.openxmlformats.org/drawingml/2006/main" noGrp="1"/>
          </p:cNvSpPr>
          <p:nvPr/>
        </p:nvSpPr>
        <p:spPr>
          <a:xfrm xmlns:a="http://schemas.openxmlformats.org/drawingml/2006/main">
            <a:off x="3219450" y="48196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documents a repeatable process, output rules, QA, and stop points</a:t>
            </a:r>
          </a:p>
        </p:txBody>
      </p:sp>
      <p:sp>
        <p:nvSpPr>
          <p:cNvPr id="17" name="">
            <a:extLst xmlns:a="http://schemas.openxmlformats.org/drawingml/2006/main">
              <a:ext uri="{FF2B5EF4-FFF2-40B4-BE49-F238E27FC236}">
                <a16:creationId xmlns:a16="http://schemas.microsoft.com/office/drawing/2014/main" id="{C4B6C83D-3921-434D-AE21-A8BF850DEF00}"/>
              </a:ext>
            </a:extLst>
          </p:cNvPr>
          <p:cNvSpPr>
            <a:spLocks xmlns:a="http://schemas.openxmlformats.org/drawingml/2006/main" noGrp="1"/>
          </p:cNvSpPr>
          <p:nvPr/>
        </p:nvSpPr>
        <p:spPr>
          <a:xfrm xmlns:a="http://schemas.openxmlformats.org/drawingml/2006/main">
            <a:off x="6457950" y="19240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TOOL</a:t>
            </a:r>
          </a:p>
        </p:txBody>
      </p:sp>
      <p:sp>
        <p:nvSpPr>
          <p:cNvPr id="18" name="">
            <a:extLst xmlns:a="http://schemas.openxmlformats.org/drawingml/2006/main">
              <a:ext uri="{FF2B5EF4-FFF2-40B4-BE49-F238E27FC236}">
                <a16:creationId xmlns:a16="http://schemas.microsoft.com/office/drawing/2014/main" id="{24BBF51D-665B-4880-9950-A4A4983694D8}"/>
              </a:ext>
            </a:extLst>
          </p:cNvPr>
          <p:cNvSpPr>
            <a:spLocks xmlns:a="http://schemas.openxmlformats.org/drawingml/2006/main" noGrp="1"/>
          </p:cNvSpPr>
          <p:nvPr/>
        </p:nvSpPr>
        <p:spPr>
          <a:xfrm xmlns:a="http://schemas.openxmlformats.org/drawingml/2006/main">
            <a:off x="7981950" y="19240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performs an action, such as search, calculation, or creation</a:t>
            </a:r>
          </a:p>
        </p:txBody>
      </p:sp>
      <p:sp>
        <p:nvSpPr>
          <p:cNvPr id="19" name="">
            <a:extLst xmlns:a="http://schemas.openxmlformats.org/drawingml/2006/main">
              <a:ext uri="{FF2B5EF4-FFF2-40B4-BE49-F238E27FC236}">
                <a16:creationId xmlns:a16="http://schemas.microsoft.com/office/drawing/2014/main" id="{14840260-7E27-4BA3-95AA-DE9CD9924AC4}"/>
              </a:ext>
            </a:extLst>
          </p:cNvPr>
          <p:cNvSpPr>
            <a:spLocks xmlns:a="http://schemas.openxmlformats.org/drawingml/2006/main" noGrp="1"/>
          </p:cNvSpPr>
          <p:nvPr/>
        </p:nvSpPr>
        <p:spPr>
          <a:xfrm xmlns:a="http://schemas.openxmlformats.org/drawingml/2006/main">
            <a:off x="6457950" y="26479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MCP</a:t>
            </a:r>
          </a:p>
        </p:txBody>
      </p:sp>
      <p:sp>
        <p:nvSpPr>
          <p:cNvPr id="20" name="">
            <a:extLst xmlns:a="http://schemas.openxmlformats.org/drawingml/2006/main">
              <a:ext uri="{FF2B5EF4-FFF2-40B4-BE49-F238E27FC236}">
                <a16:creationId xmlns:a16="http://schemas.microsoft.com/office/drawing/2014/main" id="{F99AC765-A1D1-4A93-9CAB-40877D2A8993}"/>
              </a:ext>
            </a:extLst>
          </p:cNvPr>
          <p:cNvSpPr>
            <a:spLocks xmlns:a="http://schemas.openxmlformats.org/drawingml/2006/main" noGrp="1"/>
          </p:cNvSpPr>
          <p:nvPr/>
        </p:nvSpPr>
        <p:spPr>
          <a:xfrm xmlns:a="http://schemas.openxmlformats.org/drawingml/2006/main">
            <a:off x="7981950" y="2647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connects the AI system to approved data, resources, and tools</a:t>
            </a:r>
          </a:p>
        </p:txBody>
      </p:sp>
      <p:sp>
        <p:nvSpPr>
          <p:cNvPr id="21" name="">
            <a:extLst xmlns:a="http://schemas.openxmlformats.org/drawingml/2006/main">
              <a:ext uri="{FF2B5EF4-FFF2-40B4-BE49-F238E27FC236}">
                <a16:creationId xmlns:a16="http://schemas.microsoft.com/office/drawing/2014/main" id="{38D7B7ED-AAEE-42E8-8F41-8D0119148346}"/>
              </a:ext>
            </a:extLst>
          </p:cNvPr>
          <p:cNvSpPr>
            <a:spLocks xmlns:a="http://schemas.openxmlformats.org/drawingml/2006/main" noGrp="1"/>
          </p:cNvSpPr>
          <p:nvPr/>
        </p:nvSpPr>
        <p:spPr>
          <a:xfrm xmlns:a="http://schemas.openxmlformats.org/drawingml/2006/main">
            <a:off x="6457950" y="33718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AUTOMATION</a:t>
            </a:r>
          </a:p>
        </p:txBody>
      </p:sp>
      <p:sp>
        <p:nvSpPr>
          <p:cNvPr id="22" name="">
            <a:extLst xmlns:a="http://schemas.openxmlformats.org/drawingml/2006/main">
              <a:ext uri="{FF2B5EF4-FFF2-40B4-BE49-F238E27FC236}">
                <a16:creationId xmlns:a16="http://schemas.microsoft.com/office/drawing/2014/main" id="{EB0CDD8E-6582-4205-8D30-212C325F6CE3}"/>
              </a:ext>
            </a:extLst>
          </p:cNvPr>
          <p:cNvSpPr>
            <a:spLocks xmlns:a="http://schemas.openxmlformats.org/drawingml/2006/main" noGrp="1"/>
          </p:cNvSpPr>
          <p:nvPr/>
        </p:nvSpPr>
        <p:spPr>
          <a:xfrm xmlns:a="http://schemas.openxmlformats.org/drawingml/2006/main">
            <a:off x="7981950" y="33718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follows a predefined path from a trigger or schedule</a:t>
            </a:r>
          </a:p>
        </p:txBody>
      </p:sp>
      <p:sp>
        <p:nvSpPr>
          <p:cNvPr id="23" name="">
            <a:extLst xmlns:a="http://schemas.openxmlformats.org/drawingml/2006/main">
              <a:ext uri="{FF2B5EF4-FFF2-40B4-BE49-F238E27FC236}">
                <a16:creationId xmlns:a16="http://schemas.microsoft.com/office/drawing/2014/main" id="{84306793-3B5A-49FB-BF2D-A49A4A4965E2}"/>
              </a:ext>
            </a:extLst>
          </p:cNvPr>
          <p:cNvSpPr>
            <a:spLocks xmlns:a="http://schemas.openxmlformats.org/drawingml/2006/main" noGrp="1"/>
          </p:cNvSpPr>
          <p:nvPr/>
        </p:nvSpPr>
        <p:spPr>
          <a:xfrm xmlns:a="http://schemas.openxmlformats.org/drawingml/2006/main">
            <a:off x="6457950" y="4095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AGENT</a:t>
            </a:r>
          </a:p>
        </p:txBody>
      </p:sp>
      <p:sp>
        <p:nvSpPr>
          <p:cNvPr id="24" name="">
            <a:extLst xmlns:a="http://schemas.openxmlformats.org/drawingml/2006/main">
              <a:ext uri="{FF2B5EF4-FFF2-40B4-BE49-F238E27FC236}">
                <a16:creationId xmlns:a16="http://schemas.microsoft.com/office/drawing/2014/main" id="{26AEDBED-80A2-4952-BEC2-5043D2AABE69}"/>
              </a:ext>
            </a:extLst>
          </p:cNvPr>
          <p:cNvSpPr>
            <a:spLocks xmlns:a="http://schemas.openxmlformats.org/drawingml/2006/main" noGrp="1"/>
          </p:cNvSpPr>
          <p:nvPr/>
        </p:nvSpPr>
        <p:spPr>
          <a:xfrm xmlns:a="http://schemas.openxmlformats.org/drawingml/2006/main">
            <a:off x="7981950" y="40957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chooses and checks its next step while pursuing a goal</a:t>
            </a:r>
          </a:p>
        </p:txBody>
      </p:sp>
      <p:sp>
        <p:nvSpPr>
          <p:cNvPr id="25" name="">
            <a:extLst xmlns:a="http://schemas.openxmlformats.org/drawingml/2006/main">
              <a:ext uri="{FF2B5EF4-FFF2-40B4-BE49-F238E27FC236}">
                <a16:creationId xmlns:a16="http://schemas.microsoft.com/office/drawing/2014/main" id="{C89F9AC1-0553-4246-A5A3-4ED1831C605D}"/>
              </a:ext>
            </a:extLst>
          </p:cNvPr>
          <p:cNvSpPr>
            <a:spLocks xmlns:a="http://schemas.openxmlformats.org/drawingml/2006/main" noGrp="1"/>
          </p:cNvSpPr>
          <p:nvPr/>
        </p:nvSpPr>
        <p:spPr>
          <a:xfrm xmlns:a="http://schemas.openxmlformats.org/drawingml/2006/main">
            <a:off x="1695450" y="5715000"/>
            <a:ext cx="895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3D1F5C"/>
                </a:solidFill>
              </a:defRPr>
            </a:pPr>
            <a:r>
              <a:rPr sz="1650" b="1">
                <a:solidFill>
                  <a:srgbClr val="3D1F5C"/>
                </a:solidFill>
              </a:rPr>
              <a:t>This is the shared language we will use for the rest of the session.</a:t>
            </a:r>
          </a:p>
        </p:txBody>
      </p:sp>
    </p:spTree>
    <p:extLst>
      <p:ext uri="{BB962C8B-B14F-4D97-AF65-F5344CB8AC3E}">
        <p14:creationId xmlns:p14="http://schemas.microsoft.com/office/powerpoint/2010/main" val="949499127"/>
      </p:ext>
    </p:extLst>
  </p:cSld>
</p:sld>
</file>

<file path=ppt/slides/slide4.xml><?xml version="1.0" encoding="utf-8"?>
<p:sld xmlns:p="http://schemas.openxmlformats.org/presentationml/2006/main">
  <p:cSld>
    <p:bg>
      <p:bgPr>
        <a:solidFill xmlns:a="http://schemas.openxmlformats.org/drawingml/2006/main">
          <a:srgbClr val="2B123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B05FB2E-34BC-4960-BECF-C5E2855B3F9E}"/>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A68C9ADA-EE99-4715-9903-D83B2E8B98B2}"/>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2E5E58A-9EBC-454B-930F-EF3D0BABA67A}"/>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FFFFFF"/>
                </a:solidFill>
              </a:defRPr>
            </a:pPr>
            <a:r>
              <a:rPr sz="3150" b="1">
                <a:solidFill>
                  <a:srgbClr val="FFFFFF"/>
                </a:solidFill>
              </a:rPr>
              <a:t>The ForgeX AI for ABM maturity ladder</a:t>
            </a:r>
          </a:p>
        </p:txBody>
      </p:sp>
      <p:sp>
        <p:nvSpPr>
          <p:cNvPr id="4" name="">
            <a:extLst xmlns:a="http://schemas.openxmlformats.org/drawingml/2006/main">
              <a:ext uri="{FF2B5EF4-FFF2-40B4-BE49-F238E27FC236}">
                <a16:creationId xmlns:a16="http://schemas.microsoft.com/office/drawing/2014/main" id="{4C21AB8E-01C5-49A5-98CC-DB15CEA8FDEF}"/>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EAE3EC"/>
                </a:solidFill>
              </a:defRPr>
            </a:pPr>
            <a:r>
              <a:rPr sz="750" b="1">
                <a:solidFill>
                  <a:srgbClr val="EAE3EC"/>
                </a:solidFill>
              </a:rPr>
              <a:t>FORGEX  |  AI FOR ABM</a:t>
            </a:r>
          </a:p>
        </p:txBody>
      </p:sp>
      <p:sp>
        <p:nvSpPr>
          <p:cNvPr id="5" name="">
            <a:extLst xmlns:a="http://schemas.openxmlformats.org/drawingml/2006/main">
              <a:ext uri="{FF2B5EF4-FFF2-40B4-BE49-F238E27FC236}">
                <a16:creationId xmlns:a16="http://schemas.microsoft.com/office/drawing/2014/main" id="{C323147C-40CE-46EE-ABFE-1863787B8308}"/>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C7F25C"/>
                </a:solidFill>
              </a:defRPr>
            </a:pPr>
            <a:r>
              <a:rPr sz="825" b="1">
                <a:solidFill>
                  <a:srgbClr val="C7F25C"/>
                </a:solidFill>
              </a:rPr>
              <a:t>4</a:t>
            </a:r>
          </a:p>
        </p:txBody>
      </p:sp>
      <p:sp>
        <p:nvSpPr>
          <p:cNvPr id="6" name="">
            <a:extLst xmlns:a="http://schemas.openxmlformats.org/drawingml/2006/main">
              <a:ext uri="{FF2B5EF4-FFF2-40B4-BE49-F238E27FC236}">
                <a16:creationId xmlns:a16="http://schemas.microsoft.com/office/drawing/2014/main" id="{4CCCD7F5-8CB1-42C5-BC41-9FEC7B05BB89}"/>
              </a:ext>
            </a:extLst>
          </p:cNvPr>
          <p:cNvSpPr>
            <a:spLocks xmlns:a="http://schemas.openxmlformats.org/drawingml/2006/main" noGrp="1"/>
          </p:cNvSpPr>
          <p:nvPr/>
        </p:nvSpPr>
        <p:spPr>
          <a:xfrm xmlns:a="http://schemas.openxmlformats.org/drawingml/2006/main">
            <a:off x="419100" y="4857750"/>
            <a:ext cx="1524000" cy="952500"/>
          </a:xfrm>
          <a:prstGeom xmlns:a="http://schemas.openxmlformats.org/drawingml/2006/main" prst="roundRect">
            <a:avLst>
              <a:gd name="adj" fmla="val 6780"/>
            </a:avLst>
          </a:prstGeom>
          <a:solidFill xmlns:a="http://schemas.openxmlformats.org/drawingml/2006/main">
            <a:srgbClr val="0B0B0F"/>
          </a:solidFill>
          <a:ln xmlns:a="http://schemas.openxmlformats.org/drawingml/2006/main" w="19050">
            <a:solidFill>
              <a:srgbClr val="C7F25C"/>
            </a:solidFill>
            <a:prstDash val="solid"/>
          </a:ln>
        </p:spPr>
      </p:sp>
      <p:sp>
        <p:nvSpPr>
          <p:cNvPr id="7" name="">
            <a:extLst xmlns:a="http://schemas.openxmlformats.org/drawingml/2006/main">
              <a:ext uri="{FF2B5EF4-FFF2-40B4-BE49-F238E27FC236}">
                <a16:creationId xmlns:a16="http://schemas.microsoft.com/office/drawing/2014/main" id="{48402217-631E-4AA7-BBA2-EFE4631B9817}"/>
              </a:ext>
            </a:extLst>
          </p:cNvPr>
          <p:cNvSpPr>
            <a:spLocks xmlns:a="http://schemas.openxmlformats.org/drawingml/2006/main" noGrp="1"/>
          </p:cNvSpPr>
          <p:nvPr/>
        </p:nvSpPr>
        <p:spPr>
          <a:xfrm xmlns:a="http://schemas.openxmlformats.org/drawingml/2006/main">
            <a:off x="561975" y="499110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C7F25C"/>
                </a:solidFill>
              </a:defRPr>
            </a:pPr>
            <a:r>
              <a:rPr sz="1500" b="1">
                <a:solidFill>
                  <a:srgbClr val="C7F25C"/>
                </a:solidFill>
              </a:rPr>
              <a:t>0</a:t>
            </a:r>
          </a:p>
        </p:txBody>
      </p:sp>
      <p:sp>
        <p:nvSpPr>
          <p:cNvPr id="8" name="">
            <a:extLst xmlns:a="http://schemas.openxmlformats.org/drawingml/2006/main">
              <a:ext uri="{FF2B5EF4-FFF2-40B4-BE49-F238E27FC236}">
                <a16:creationId xmlns:a16="http://schemas.microsoft.com/office/drawing/2014/main" id="{F943EBB6-38ED-461C-95EA-E03ABE1C765F}"/>
              </a:ext>
            </a:extLst>
          </p:cNvPr>
          <p:cNvSpPr>
            <a:spLocks xmlns:a="http://schemas.openxmlformats.org/drawingml/2006/main" noGrp="1"/>
          </p:cNvSpPr>
          <p:nvPr/>
        </p:nvSpPr>
        <p:spPr>
          <a:xfrm xmlns:a="http://schemas.openxmlformats.org/drawingml/2006/main">
            <a:off x="561975" y="5162550"/>
            <a:ext cx="123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13" b="1">
                <a:solidFill>
                  <a:srgbClr val="FFFFFF"/>
                </a:solidFill>
              </a:defRPr>
            </a:pPr>
            <a:r>
              <a:rPr sz="1013" b="1">
                <a:solidFill>
                  <a:srgbClr val="FFFFFF"/>
                </a:solidFill>
              </a:rPr>
              <a:t>FANCY</a:t>
            </a:r>
          </a:p>
          <a:p xmlns:a="http://schemas.openxmlformats.org/drawingml/2006/main">
            <a:pPr algn="l">
              <a:buNone/>
              <a:defRPr sz="1013" b="1">
                <a:solidFill>
                  <a:srgbClr val="FFFFFF"/>
                </a:solidFill>
              </a:defRPr>
            </a:pPr>
            <a:r>
              <a:rPr sz="1013" b="1">
                <a:solidFill>
                  <a:srgbClr val="FFFFFF"/>
                </a:solidFill>
              </a:rPr>
              <a:t>SEARCH</a:t>
            </a:r>
          </a:p>
        </p:txBody>
      </p:sp>
      <p:sp>
        <p:nvSpPr>
          <p:cNvPr id="9" name="">
            <a:extLst xmlns:a="http://schemas.openxmlformats.org/drawingml/2006/main">
              <a:ext uri="{FF2B5EF4-FFF2-40B4-BE49-F238E27FC236}">
                <a16:creationId xmlns:a16="http://schemas.microsoft.com/office/drawing/2014/main" id="{1DC23966-B4FF-4BBD-89B7-651D742D9699}"/>
              </a:ext>
            </a:extLst>
          </p:cNvPr>
          <p:cNvSpPr>
            <a:spLocks xmlns:a="http://schemas.openxmlformats.org/drawingml/2006/main" noGrp="1"/>
          </p:cNvSpPr>
          <p:nvPr/>
        </p:nvSpPr>
        <p:spPr>
          <a:xfrm xmlns:a="http://schemas.openxmlformats.org/drawingml/2006/main">
            <a:off x="2057400" y="4457700"/>
            <a:ext cx="1524000" cy="1352550"/>
          </a:xfrm>
          <a:prstGeom xmlns:a="http://schemas.openxmlformats.org/drawingml/2006/main" prst="roundRect">
            <a:avLst>
              <a:gd name="adj" fmla="val 5128"/>
            </a:avLst>
          </a:prstGeom>
          <a:solidFill xmlns:a="http://schemas.openxmlformats.org/drawingml/2006/main">
            <a:srgbClr val="0B0B0F"/>
          </a:solidFill>
          <a:ln xmlns:a="http://schemas.openxmlformats.org/drawingml/2006/main" w="19050">
            <a:solidFill>
              <a:srgbClr val="C7F25C"/>
            </a:solidFill>
            <a:prstDash val="solid"/>
          </a:ln>
        </p:spPr>
      </p:sp>
      <p:sp>
        <p:nvSpPr>
          <p:cNvPr id="10" name="">
            <a:extLst xmlns:a="http://schemas.openxmlformats.org/drawingml/2006/main">
              <a:ext uri="{FF2B5EF4-FFF2-40B4-BE49-F238E27FC236}">
                <a16:creationId xmlns:a16="http://schemas.microsoft.com/office/drawing/2014/main" id="{5005C748-8591-4972-A506-B8B9CEA9F585}"/>
              </a:ext>
            </a:extLst>
          </p:cNvPr>
          <p:cNvSpPr>
            <a:spLocks xmlns:a="http://schemas.openxmlformats.org/drawingml/2006/main" noGrp="1"/>
          </p:cNvSpPr>
          <p:nvPr/>
        </p:nvSpPr>
        <p:spPr>
          <a:xfrm xmlns:a="http://schemas.openxmlformats.org/drawingml/2006/main">
            <a:off x="2200275" y="459105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C7F25C"/>
                </a:solidFill>
              </a:defRPr>
            </a:pPr>
            <a:r>
              <a:rPr sz="1500" b="1">
                <a:solidFill>
                  <a:srgbClr val="C7F25C"/>
                </a:solidFill>
              </a:rPr>
              <a:t>1</a:t>
            </a:r>
          </a:p>
        </p:txBody>
      </p:sp>
      <p:sp>
        <p:nvSpPr>
          <p:cNvPr id="11" name="">
            <a:extLst xmlns:a="http://schemas.openxmlformats.org/drawingml/2006/main">
              <a:ext uri="{FF2B5EF4-FFF2-40B4-BE49-F238E27FC236}">
                <a16:creationId xmlns:a16="http://schemas.microsoft.com/office/drawing/2014/main" id="{C9102AAA-EB94-4C4A-8CA7-4849A6A6DFBF}"/>
              </a:ext>
            </a:extLst>
          </p:cNvPr>
          <p:cNvSpPr>
            <a:spLocks xmlns:a="http://schemas.openxmlformats.org/drawingml/2006/main" noGrp="1"/>
          </p:cNvSpPr>
          <p:nvPr/>
        </p:nvSpPr>
        <p:spPr>
          <a:xfrm xmlns:a="http://schemas.openxmlformats.org/drawingml/2006/main">
            <a:off x="2200275" y="5162550"/>
            <a:ext cx="123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13" b="1">
                <a:solidFill>
                  <a:srgbClr val="FFFFFF"/>
                </a:solidFill>
              </a:defRPr>
            </a:pPr>
            <a:r>
              <a:rPr sz="1013" b="1">
                <a:solidFill>
                  <a:srgbClr val="FFFFFF"/>
                </a:solidFill>
              </a:rPr>
              <a:t>CONTEXTUAL</a:t>
            </a:r>
          </a:p>
          <a:p xmlns:a="http://schemas.openxmlformats.org/drawingml/2006/main">
            <a:pPr algn="l">
              <a:buNone/>
              <a:defRPr sz="1013" b="1">
                <a:solidFill>
                  <a:srgbClr val="FFFFFF"/>
                </a:solidFill>
              </a:defRPr>
            </a:pPr>
            <a:r>
              <a:rPr sz="1013" b="1">
                <a:solidFill>
                  <a:srgbClr val="FFFFFF"/>
                </a:solidFill>
              </a:rPr>
              <a:t>COPILOT</a:t>
            </a:r>
          </a:p>
        </p:txBody>
      </p:sp>
      <p:sp>
        <p:nvSpPr>
          <p:cNvPr id="12" name="">
            <a:extLst xmlns:a="http://schemas.openxmlformats.org/drawingml/2006/main">
              <a:ext uri="{FF2B5EF4-FFF2-40B4-BE49-F238E27FC236}">
                <a16:creationId xmlns:a16="http://schemas.microsoft.com/office/drawing/2014/main" id="{3ED75E48-A5DB-4080-8827-AB53F054D9EF}"/>
              </a:ext>
            </a:extLst>
          </p:cNvPr>
          <p:cNvSpPr>
            <a:spLocks xmlns:a="http://schemas.openxmlformats.org/drawingml/2006/main" noGrp="1"/>
          </p:cNvSpPr>
          <p:nvPr/>
        </p:nvSpPr>
        <p:spPr>
          <a:xfrm xmlns:a="http://schemas.openxmlformats.org/drawingml/2006/main">
            <a:off x="3695700" y="4057650"/>
            <a:ext cx="1524000" cy="1752600"/>
          </a:xfrm>
          <a:prstGeom xmlns:a="http://schemas.openxmlformats.org/drawingml/2006/main" prst="roundRect">
            <a:avLst>
              <a:gd name="adj" fmla="val 4762"/>
            </a:avLst>
          </a:prstGeom>
          <a:solidFill xmlns:a="http://schemas.openxmlformats.org/drawingml/2006/main">
            <a:srgbClr val="3D1F5C"/>
          </a:solidFill>
          <a:ln xmlns:a="http://schemas.openxmlformats.org/drawingml/2006/main" w="19050">
            <a:solidFill>
              <a:srgbClr val="C7F25C"/>
            </a:solidFill>
            <a:prstDash val="solid"/>
          </a:ln>
        </p:spPr>
      </p:sp>
      <p:sp>
        <p:nvSpPr>
          <p:cNvPr id="13" name="">
            <a:extLst xmlns:a="http://schemas.openxmlformats.org/drawingml/2006/main">
              <a:ext uri="{FF2B5EF4-FFF2-40B4-BE49-F238E27FC236}">
                <a16:creationId xmlns:a16="http://schemas.microsoft.com/office/drawing/2014/main" id="{6674804B-D461-45ED-942E-F2900B9BA82F}"/>
              </a:ext>
            </a:extLst>
          </p:cNvPr>
          <p:cNvSpPr>
            <a:spLocks xmlns:a="http://schemas.openxmlformats.org/drawingml/2006/main" noGrp="1"/>
          </p:cNvSpPr>
          <p:nvPr/>
        </p:nvSpPr>
        <p:spPr>
          <a:xfrm xmlns:a="http://schemas.openxmlformats.org/drawingml/2006/main">
            <a:off x="3838575" y="419100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C7F25C"/>
                </a:solidFill>
              </a:defRPr>
            </a:pPr>
            <a:r>
              <a:rPr sz="1500" b="1">
                <a:solidFill>
                  <a:srgbClr val="C7F25C"/>
                </a:solidFill>
              </a:rPr>
              <a:t>2</a:t>
            </a:r>
          </a:p>
        </p:txBody>
      </p:sp>
      <p:sp>
        <p:nvSpPr>
          <p:cNvPr id="14" name="">
            <a:extLst xmlns:a="http://schemas.openxmlformats.org/drawingml/2006/main">
              <a:ext uri="{FF2B5EF4-FFF2-40B4-BE49-F238E27FC236}">
                <a16:creationId xmlns:a16="http://schemas.microsoft.com/office/drawing/2014/main" id="{01C42643-FC37-4F46-BF51-CBFB80441603}"/>
              </a:ext>
            </a:extLst>
          </p:cNvPr>
          <p:cNvSpPr>
            <a:spLocks xmlns:a="http://schemas.openxmlformats.org/drawingml/2006/main" noGrp="1"/>
          </p:cNvSpPr>
          <p:nvPr/>
        </p:nvSpPr>
        <p:spPr>
          <a:xfrm xmlns:a="http://schemas.openxmlformats.org/drawingml/2006/main">
            <a:off x="3838575" y="5162550"/>
            <a:ext cx="123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13" b="1">
                <a:solidFill>
                  <a:srgbClr val="FFFFFF"/>
                </a:solidFill>
              </a:defRPr>
            </a:pPr>
            <a:r>
              <a:rPr sz="1013" b="1">
                <a:solidFill>
                  <a:srgbClr val="FFFFFF"/>
                </a:solidFill>
              </a:rPr>
              <a:t>GROUNDED</a:t>
            </a:r>
          </a:p>
          <a:p xmlns:a="http://schemas.openxmlformats.org/drawingml/2006/main">
            <a:pPr algn="l">
              <a:buNone/>
              <a:defRPr sz="1013" b="1">
                <a:solidFill>
                  <a:srgbClr val="FFFFFF"/>
                </a:solidFill>
              </a:defRPr>
            </a:pPr>
            <a:r>
              <a:rPr sz="1013" b="1">
                <a:solidFill>
                  <a:srgbClr val="FFFFFF"/>
                </a:solidFill>
              </a:rPr>
              <a:t>WORKSPACE</a:t>
            </a:r>
          </a:p>
        </p:txBody>
      </p:sp>
      <p:sp>
        <p:nvSpPr>
          <p:cNvPr id="15" name="">
            <a:extLst xmlns:a="http://schemas.openxmlformats.org/drawingml/2006/main">
              <a:ext uri="{FF2B5EF4-FFF2-40B4-BE49-F238E27FC236}">
                <a16:creationId xmlns:a16="http://schemas.microsoft.com/office/drawing/2014/main" id="{8678A908-426F-4FC2-8EED-A70D2450BC59}"/>
              </a:ext>
            </a:extLst>
          </p:cNvPr>
          <p:cNvSpPr>
            <a:spLocks xmlns:a="http://schemas.openxmlformats.org/drawingml/2006/main" noGrp="1"/>
          </p:cNvSpPr>
          <p:nvPr/>
        </p:nvSpPr>
        <p:spPr>
          <a:xfrm xmlns:a="http://schemas.openxmlformats.org/drawingml/2006/main">
            <a:off x="5334000" y="3657600"/>
            <a:ext cx="1524000" cy="2152650"/>
          </a:xfrm>
          <a:prstGeom xmlns:a="http://schemas.openxmlformats.org/drawingml/2006/main" prst="roundRect">
            <a:avLst>
              <a:gd name="adj" fmla="val 4762"/>
            </a:avLst>
          </a:prstGeom>
          <a:solidFill xmlns:a="http://schemas.openxmlformats.org/drawingml/2006/main">
            <a:srgbClr val="3D1F5C"/>
          </a:solidFill>
          <a:ln xmlns:a="http://schemas.openxmlformats.org/drawingml/2006/main" w="19050">
            <a:solidFill>
              <a:srgbClr val="C7F25C"/>
            </a:solidFill>
            <a:prstDash val="solid"/>
          </a:ln>
        </p:spPr>
      </p:sp>
      <p:sp>
        <p:nvSpPr>
          <p:cNvPr id="16" name="">
            <a:extLst xmlns:a="http://schemas.openxmlformats.org/drawingml/2006/main">
              <a:ext uri="{FF2B5EF4-FFF2-40B4-BE49-F238E27FC236}">
                <a16:creationId xmlns:a16="http://schemas.microsoft.com/office/drawing/2014/main" id="{3E9E3D18-8F46-4E54-9763-6D4B58B0548A}"/>
              </a:ext>
            </a:extLst>
          </p:cNvPr>
          <p:cNvSpPr>
            <a:spLocks xmlns:a="http://schemas.openxmlformats.org/drawingml/2006/main" noGrp="1"/>
          </p:cNvSpPr>
          <p:nvPr/>
        </p:nvSpPr>
        <p:spPr>
          <a:xfrm xmlns:a="http://schemas.openxmlformats.org/drawingml/2006/main">
            <a:off x="5476875" y="379095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C7F25C"/>
                </a:solidFill>
              </a:defRPr>
            </a:pPr>
            <a:r>
              <a:rPr sz="1500" b="1">
                <a:solidFill>
                  <a:srgbClr val="C7F25C"/>
                </a:solidFill>
              </a:rPr>
              <a:t>3</a:t>
            </a:r>
          </a:p>
        </p:txBody>
      </p:sp>
      <p:sp>
        <p:nvSpPr>
          <p:cNvPr id="17" name="">
            <a:extLst xmlns:a="http://schemas.openxmlformats.org/drawingml/2006/main">
              <a:ext uri="{FF2B5EF4-FFF2-40B4-BE49-F238E27FC236}">
                <a16:creationId xmlns:a16="http://schemas.microsoft.com/office/drawing/2014/main" id="{CA9E8848-7340-4098-A1D7-B5FF3C0ACB88}"/>
              </a:ext>
            </a:extLst>
          </p:cNvPr>
          <p:cNvSpPr>
            <a:spLocks xmlns:a="http://schemas.openxmlformats.org/drawingml/2006/main" noGrp="1"/>
          </p:cNvSpPr>
          <p:nvPr/>
        </p:nvSpPr>
        <p:spPr>
          <a:xfrm xmlns:a="http://schemas.openxmlformats.org/drawingml/2006/main">
            <a:off x="5476875" y="5162550"/>
            <a:ext cx="123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13" b="1">
                <a:solidFill>
                  <a:srgbClr val="FFFFFF"/>
                </a:solidFill>
              </a:defRPr>
            </a:pPr>
            <a:r>
              <a:rPr sz="1013" b="1">
                <a:solidFill>
                  <a:srgbClr val="FFFFFF"/>
                </a:solidFill>
              </a:rPr>
              <a:t>REUSABLE</a:t>
            </a:r>
          </a:p>
          <a:p xmlns:a="http://schemas.openxmlformats.org/drawingml/2006/main">
            <a:pPr algn="l">
              <a:buNone/>
              <a:defRPr sz="1013" b="1">
                <a:solidFill>
                  <a:srgbClr val="FFFFFF"/>
                </a:solidFill>
              </a:defRPr>
            </a:pPr>
            <a:r>
              <a:rPr sz="1013" b="1">
                <a:solidFill>
                  <a:srgbClr val="FFFFFF"/>
                </a:solidFill>
              </a:rPr>
              <a:t>SKILL</a:t>
            </a:r>
          </a:p>
        </p:txBody>
      </p:sp>
      <p:sp>
        <p:nvSpPr>
          <p:cNvPr id="18" name="">
            <a:extLst xmlns:a="http://schemas.openxmlformats.org/drawingml/2006/main">
              <a:ext uri="{FF2B5EF4-FFF2-40B4-BE49-F238E27FC236}">
                <a16:creationId xmlns:a16="http://schemas.microsoft.com/office/drawing/2014/main" id="{C16FBBB6-949F-44EA-8D0B-8649B034A506}"/>
              </a:ext>
            </a:extLst>
          </p:cNvPr>
          <p:cNvSpPr>
            <a:spLocks xmlns:a="http://schemas.openxmlformats.org/drawingml/2006/main" noGrp="1"/>
          </p:cNvSpPr>
          <p:nvPr/>
        </p:nvSpPr>
        <p:spPr>
          <a:xfrm xmlns:a="http://schemas.openxmlformats.org/drawingml/2006/main">
            <a:off x="6972300" y="3257550"/>
            <a:ext cx="1524000" cy="2552700"/>
          </a:xfrm>
          <a:prstGeom xmlns:a="http://schemas.openxmlformats.org/drawingml/2006/main" prst="roundRect">
            <a:avLst>
              <a:gd name="adj" fmla="val 4762"/>
            </a:avLst>
          </a:prstGeom>
          <a:solidFill xmlns:a="http://schemas.openxmlformats.org/drawingml/2006/main">
            <a:srgbClr val="3D1F5C"/>
          </a:solidFill>
          <a:ln xmlns:a="http://schemas.openxmlformats.org/drawingml/2006/main" w="19050">
            <a:solidFill>
              <a:srgbClr val="C7F25C"/>
            </a:solidFill>
            <a:prstDash val="solid"/>
          </a:ln>
        </p:spPr>
      </p:sp>
      <p:sp>
        <p:nvSpPr>
          <p:cNvPr id="19" name="">
            <a:extLst xmlns:a="http://schemas.openxmlformats.org/drawingml/2006/main">
              <a:ext uri="{FF2B5EF4-FFF2-40B4-BE49-F238E27FC236}">
                <a16:creationId xmlns:a16="http://schemas.microsoft.com/office/drawing/2014/main" id="{BFA078A9-5D67-4287-AC7F-7D40151EFBBB}"/>
              </a:ext>
            </a:extLst>
          </p:cNvPr>
          <p:cNvSpPr>
            <a:spLocks xmlns:a="http://schemas.openxmlformats.org/drawingml/2006/main" noGrp="1"/>
          </p:cNvSpPr>
          <p:nvPr/>
        </p:nvSpPr>
        <p:spPr>
          <a:xfrm xmlns:a="http://schemas.openxmlformats.org/drawingml/2006/main">
            <a:off x="7115175" y="339090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C7F25C"/>
                </a:solidFill>
              </a:defRPr>
            </a:pPr>
            <a:r>
              <a:rPr sz="1500" b="1">
                <a:solidFill>
                  <a:srgbClr val="C7F25C"/>
                </a:solidFill>
              </a:rPr>
              <a:t>4</a:t>
            </a:r>
          </a:p>
        </p:txBody>
      </p:sp>
      <p:sp>
        <p:nvSpPr>
          <p:cNvPr id="20" name="">
            <a:extLst xmlns:a="http://schemas.openxmlformats.org/drawingml/2006/main">
              <a:ext uri="{FF2B5EF4-FFF2-40B4-BE49-F238E27FC236}">
                <a16:creationId xmlns:a16="http://schemas.microsoft.com/office/drawing/2014/main" id="{11570EAC-9F7C-4B62-9172-DF0FE7EA608E}"/>
              </a:ext>
            </a:extLst>
          </p:cNvPr>
          <p:cNvSpPr>
            <a:spLocks xmlns:a="http://schemas.openxmlformats.org/drawingml/2006/main" noGrp="1"/>
          </p:cNvSpPr>
          <p:nvPr/>
        </p:nvSpPr>
        <p:spPr>
          <a:xfrm xmlns:a="http://schemas.openxmlformats.org/drawingml/2006/main">
            <a:off x="7115175" y="5162550"/>
            <a:ext cx="123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13" b="1">
                <a:solidFill>
                  <a:srgbClr val="FFFFFF"/>
                </a:solidFill>
              </a:defRPr>
            </a:pPr>
            <a:r>
              <a:rPr sz="1013" b="1">
                <a:solidFill>
                  <a:srgbClr val="FFFFFF"/>
                </a:solidFill>
              </a:rPr>
              <a:t>GOVERNED</a:t>
            </a:r>
          </a:p>
          <a:p xmlns:a="http://schemas.openxmlformats.org/drawingml/2006/main">
            <a:pPr algn="l">
              <a:buNone/>
              <a:defRPr sz="1013" b="1">
                <a:solidFill>
                  <a:srgbClr val="FFFFFF"/>
                </a:solidFill>
              </a:defRPr>
            </a:pPr>
            <a:r>
              <a:rPr sz="1013" b="1">
                <a:solidFill>
                  <a:srgbClr val="FFFFFF"/>
                </a:solidFill>
              </a:rPr>
              <a:t>AUTOMATION</a:t>
            </a:r>
          </a:p>
        </p:txBody>
      </p:sp>
      <p:sp>
        <p:nvSpPr>
          <p:cNvPr id="21" name="">
            <a:extLst xmlns:a="http://schemas.openxmlformats.org/drawingml/2006/main">
              <a:ext uri="{FF2B5EF4-FFF2-40B4-BE49-F238E27FC236}">
                <a16:creationId xmlns:a16="http://schemas.microsoft.com/office/drawing/2014/main" id="{4D8EA5B9-CBE7-48DD-8F8A-032FBAD63721}"/>
              </a:ext>
            </a:extLst>
          </p:cNvPr>
          <p:cNvSpPr>
            <a:spLocks xmlns:a="http://schemas.openxmlformats.org/drawingml/2006/main" noGrp="1"/>
          </p:cNvSpPr>
          <p:nvPr/>
        </p:nvSpPr>
        <p:spPr>
          <a:xfrm xmlns:a="http://schemas.openxmlformats.org/drawingml/2006/main">
            <a:off x="8610600" y="2857500"/>
            <a:ext cx="1524000" cy="2952750"/>
          </a:xfrm>
          <a:prstGeom xmlns:a="http://schemas.openxmlformats.org/drawingml/2006/main" prst="roundRect">
            <a:avLst>
              <a:gd name="adj" fmla="val 4762"/>
            </a:avLst>
          </a:prstGeom>
          <a:solidFill xmlns:a="http://schemas.openxmlformats.org/drawingml/2006/main">
            <a:srgbClr val="E63888"/>
          </a:solidFill>
          <a:ln xmlns:a="http://schemas.openxmlformats.org/drawingml/2006/main" w="19050">
            <a:solidFill>
              <a:srgbClr val="E63888"/>
            </a:solidFill>
            <a:prstDash val="solid"/>
          </a:ln>
        </p:spPr>
      </p:sp>
      <p:sp>
        <p:nvSpPr>
          <p:cNvPr id="22" name="">
            <a:extLst xmlns:a="http://schemas.openxmlformats.org/drawingml/2006/main">
              <a:ext uri="{FF2B5EF4-FFF2-40B4-BE49-F238E27FC236}">
                <a16:creationId xmlns:a16="http://schemas.microsoft.com/office/drawing/2014/main" id="{FAB1C674-2226-42D5-B394-ACBAAB61D666}"/>
              </a:ext>
            </a:extLst>
          </p:cNvPr>
          <p:cNvSpPr>
            <a:spLocks xmlns:a="http://schemas.openxmlformats.org/drawingml/2006/main" noGrp="1"/>
          </p:cNvSpPr>
          <p:nvPr/>
        </p:nvSpPr>
        <p:spPr>
          <a:xfrm xmlns:a="http://schemas.openxmlformats.org/drawingml/2006/main">
            <a:off x="8753475" y="299085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C7F25C"/>
                </a:solidFill>
              </a:defRPr>
            </a:pPr>
            <a:r>
              <a:rPr sz="1500" b="1">
                <a:solidFill>
                  <a:srgbClr val="C7F25C"/>
                </a:solidFill>
              </a:rPr>
              <a:t>5</a:t>
            </a:r>
          </a:p>
        </p:txBody>
      </p:sp>
      <p:sp>
        <p:nvSpPr>
          <p:cNvPr id="23" name="">
            <a:extLst xmlns:a="http://schemas.openxmlformats.org/drawingml/2006/main">
              <a:ext uri="{FF2B5EF4-FFF2-40B4-BE49-F238E27FC236}">
                <a16:creationId xmlns:a16="http://schemas.microsoft.com/office/drawing/2014/main" id="{A96D11C9-39F3-4794-BDE6-449B7EF1B9F0}"/>
              </a:ext>
            </a:extLst>
          </p:cNvPr>
          <p:cNvSpPr>
            <a:spLocks xmlns:a="http://schemas.openxmlformats.org/drawingml/2006/main" noGrp="1"/>
          </p:cNvSpPr>
          <p:nvPr/>
        </p:nvSpPr>
        <p:spPr>
          <a:xfrm xmlns:a="http://schemas.openxmlformats.org/drawingml/2006/main">
            <a:off x="8753475" y="5162550"/>
            <a:ext cx="123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13" b="1">
                <a:solidFill>
                  <a:srgbClr val="FFFFFF"/>
                </a:solidFill>
              </a:defRPr>
            </a:pPr>
            <a:r>
              <a:rPr sz="1013" b="1">
                <a:solidFill>
                  <a:srgbClr val="FFFFFF"/>
                </a:solidFill>
              </a:rPr>
              <a:t>GOAL-DRIVEN</a:t>
            </a:r>
          </a:p>
          <a:p xmlns:a="http://schemas.openxmlformats.org/drawingml/2006/main">
            <a:pPr algn="l">
              <a:buNone/>
              <a:defRPr sz="1013" b="1">
                <a:solidFill>
                  <a:srgbClr val="FFFFFF"/>
                </a:solidFill>
              </a:defRPr>
            </a:pPr>
            <a:r>
              <a:rPr sz="1013" b="1">
                <a:solidFill>
                  <a:srgbClr val="FFFFFF"/>
                </a:solidFill>
              </a:rPr>
              <a:t>AGENT</a:t>
            </a:r>
          </a:p>
        </p:txBody>
      </p:sp>
      <p:sp>
        <p:nvSpPr>
          <p:cNvPr id="24" name="">
            <a:extLst xmlns:a="http://schemas.openxmlformats.org/drawingml/2006/main">
              <a:ext uri="{FF2B5EF4-FFF2-40B4-BE49-F238E27FC236}">
                <a16:creationId xmlns:a16="http://schemas.microsoft.com/office/drawing/2014/main" id="{9160F85F-6CFA-4466-8AB2-190D723CA534}"/>
              </a:ext>
            </a:extLst>
          </p:cNvPr>
          <p:cNvSpPr>
            <a:spLocks xmlns:a="http://schemas.openxmlformats.org/drawingml/2006/main" noGrp="1"/>
          </p:cNvSpPr>
          <p:nvPr/>
        </p:nvSpPr>
        <p:spPr>
          <a:xfrm xmlns:a="http://schemas.openxmlformats.org/drawingml/2006/main">
            <a:off x="11430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FFFFF"/>
                </a:solidFill>
              </a:defRPr>
            </a:pPr>
            <a:r>
              <a:rPr sz="1650" b="1">
                <a:solidFill>
                  <a:srgbClr val="FFFFFF"/>
                </a:solidFill>
              </a:rPr>
              <a:t/>
            </a:r>
          </a:p>
        </p:txBody>
      </p:sp>
      <p:sp>
        <p:nvSpPr>
          <p:cNvPr id="26" name="level-6-step">
            <a:extLst xmlns:a="http://schemas.openxmlformats.org/drawingml/2006/main">
              <a:ext uri="{FF2B5EF4-FFF2-40B4-BE49-F238E27FC236}">
                <a16:creationId xmlns:a16="http://schemas.microsoft.com/office/drawing/2014/main" id="{88FF608D-EE0E-44FE-B154-9D2E648A9FE0}"/>
              </a:ext>
            </a:extLst>
          </p:cNvPr>
          <p:cNvSpPr>
            <a:spLocks xmlns:a="http://schemas.openxmlformats.org/drawingml/2006/main" noGrp="1"/>
          </p:cNvSpPr>
          <p:nvPr/>
        </p:nvSpPr>
        <p:spPr>
          <a:xfrm xmlns:a="http://schemas.openxmlformats.org/drawingml/2006/main">
            <a:off x="10248900" y="2457450"/>
            <a:ext cx="1524000" cy="3352800"/>
          </a:xfrm>
          <a:prstGeom xmlns:a="http://schemas.openxmlformats.org/drawingml/2006/main" prst="roundRect">
            <a:avLst>
              <a:gd name="adj" fmla="val 5000"/>
            </a:avLst>
          </a:prstGeom>
          <a:solidFill xmlns:a="http://schemas.openxmlformats.org/drawingml/2006/main">
            <a:srgbClr val="C7F25C"/>
          </a:solidFill>
          <a:ln xmlns:a="http://schemas.openxmlformats.org/drawingml/2006/main" w="19050">
            <a:solidFill>
              <a:srgbClr val="C7F25C"/>
            </a:solidFill>
            <a:prstDash val="solid"/>
          </a:ln>
        </p:spPr>
      </p:sp>
      <p:sp>
        <p:nvSpPr>
          <p:cNvPr id="27" name="level-6-number">
            <a:extLst xmlns:a="http://schemas.openxmlformats.org/drawingml/2006/main">
              <a:ext uri="{FF2B5EF4-FFF2-40B4-BE49-F238E27FC236}">
                <a16:creationId xmlns:a16="http://schemas.microsoft.com/office/drawing/2014/main" id="{B3659AE3-42DD-4468-8FBE-EBD817E88234}"/>
              </a:ext>
            </a:extLst>
          </p:cNvPr>
          <p:cNvSpPr>
            <a:spLocks xmlns:a="http://schemas.openxmlformats.org/drawingml/2006/main" noGrp="1"/>
          </p:cNvSpPr>
          <p:nvPr/>
        </p:nvSpPr>
        <p:spPr>
          <a:xfrm xmlns:a="http://schemas.openxmlformats.org/drawingml/2006/main">
            <a:off x="10382250" y="25908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00" b="1">
                <a:solidFill>
                  <a:srgbClr val="3D1F5C"/>
                </a:solidFill>
              </a:defRPr>
            </a:pPr>
            <a:r>
              <a:rPr sz="1500" b="1">
                <a:solidFill>
                  <a:srgbClr val="3D1F5C"/>
                </a:solidFill>
              </a:rPr>
              <a:t>6</a:t>
            </a:r>
          </a:p>
        </p:txBody>
      </p:sp>
      <p:sp>
        <p:nvSpPr>
          <p:cNvPr id="28" name="level-6-label">
            <a:extLst xmlns:a="http://schemas.openxmlformats.org/drawingml/2006/main">
              <a:ext uri="{FF2B5EF4-FFF2-40B4-BE49-F238E27FC236}">
                <a16:creationId xmlns:a16="http://schemas.microsoft.com/office/drawing/2014/main" id="{722CA166-17E4-4E7D-8861-13EA07E28ABF}"/>
              </a:ext>
            </a:extLst>
          </p:cNvPr>
          <p:cNvSpPr>
            <a:spLocks xmlns:a="http://schemas.openxmlformats.org/drawingml/2006/main" noGrp="1"/>
          </p:cNvSpPr>
          <p:nvPr/>
        </p:nvSpPr>
        <p:spPr>
          <a:xfrm xmlns:a="http://schemas.openxmlformats.org/drawingml/2006/main">
            <a:off x="10391775" y="4953000"/>
            <a:ext cx="1238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13" b="1">
                <a:solidFill>
                  <a:srgbClr val="3D1F5C"/>
                </a:solidFill>
              </a:defRPr>
            </a:pPr>
            <a:r>
              <a:rPr sz="1013" b="1">
                <a:solidFill>
                  <a:srgbClr val="3D1F5C"/>
                </a:solidFill>
              </a:rPr>
              <a:t>AGENTIC</a:t>
            </a:r>
          </a:p>
          <a:p xmlns:a="http://schemas.openxmlformats.org/drawingml/2006/main">
            <a:pPr algn="l">
              <a:buNone/>
              <a:defRPr sz="1013" b="1">
                <a:solidFill>
                  <a:srgbClr val="3D1F5C"/>
                </a:solidFill>
              </a:defRPr>
            </a:pPr>
            <a:r>
              <a:rPr sz="1013" b="1">
                <a:solidFill>
                  <a:srgbClr val="3D1F5C"/>
                </a:solidFill>
              </a:rPr>
              <a:t>OPERATING</a:t>
            </a:r>
          </a:p>
          <a:p xmlns:a="http://schemas.openxmlformats.org/drawingml/2006/main">
            <a:pPr algn="l">
              <a:buNone/>
              <a:defRPr sz="1013" b="1">
                <a:solidFill>
                  <a:srgbClr val="3D1F5C"/>
                </a:solidFill>
              </a:defRPr>
            </a:pPr>
            <a:r>
              <a:rPr sz="1013" b="1">
                <a:solidFill>
                  <a:srgbClr val="3D1F5C"/>
                </a:solidFill>
              </a:rPr>
              <a:t>SYSTEM</a:t>
            </a:r>
          </a:p>
        </p:txBody>
      </p:sp>
    </p:spTree>
    <p:extLst>
      <p:ext uri="{BB962C8B-B14F-4D97-AF65-F5344CB8AC3E}">
        <p14:creationId xmlns:p14="http://schemas.microsoft.com/office/powerpoint/2010/main" val="1682012732"/>
      </p:ext>
    </p:extLst>
  </p:cSld>
</p:sld>
</file>

<file path=ppt/slides/slide5.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F5C4253-21BC-4B2C-A357-918D5E6AF708}"/>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66ED4CD8-DC43-4C1A-B6C8-8737F5234CAD}"/>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91875F8-553F-4EA4-B55E-08D4AF5BEB4D}"/>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26232A"/>
                </a:solidFill>
              </a:defRPr>
            </a:pPr>
            <a:r>
              <a:rPr sz="3150" b="1">
                <a:solidFill>
                  <a:srgbClr val="26232A"/>
                </a:solidFill>
              </a:rPr>
              <a:t>Level 0: Fancy Search</a:t>
            </a:r>
          </a:p>
        </p:txBody>
      </p:sp>
      <p:sp>
        <p:nvSpPr>
          <p:cNvPr id="4" name="">
            <a:extLst xmlns:a="http://schemas.openxmlformats.org/drawingml/2006/main">
              <a:ext uri="{FF2B5EF4-FFF2-40B4-BE49-F238E27FC236}">
                <a16:creationId xmlns:a16="http://schemas.microsoft.com/office/drawing/2014/main" id="{C8C1E687-77E7-4D8B-B7B9-1E3EB43607EF}"/>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6E6873"/>
                </a:solidFill>
              </a:defRPr>
            </a:pPr>
            <a:r>
              <a:rPr sz="750" b="1">
                <a:solidFill>
                  <a:srgbClr val="6E6873"/>
                </a:solidFill>
              </a:rPr>
              <a:t>FORGEX  |  AI FOR ABM</a:t>
            </a:r>
          </a:p>
        </p:txBody>
      </p:sp>
      <p:sp>
        <p:nvSpPr>
          <p:cNvPr id="5" name="">
            <a:extLst xmlns:a="http://schemas.openxmlformats.org/drawingml/2006/main">
              <a:ext uri="{FF2B5EF4-FFF2-40B4-BE49-F238E27FC236}">
                <a16:creationId xmlns:a16="http://schemas.microsoft.com/office/drawing/2014/main" id="{6AFF2D9D-07CF-4369-BCE7-9976EF1B9C2D}"/>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E63888"/>
                </a:solidFill>
              </a:defRPr>
            </a:pPr>
            <a:r>
              <a:rPr sz="825" b="1">
                <a:solidFill>
                  <a:srgbClr val="E63888"/>
                </a:solidFill>
              </a:rPr>
              <a:t>5</a:t>
            </a:r>
          </a:p>
        </p:txBody>
      </p:sp>
      <p:sp>
        <p:nvSpPr>
          <p:cNvPr id="6" name="">
            <a:extLst xmlns:a="http://schemas.openxmlformats.org/drawingml/2006/main">
              <a:ext uri="{FF2B5EF4-FFF2-40B4-BE49-F238E27FC236}">
                <a16:creationId xmlns:a16="http://schemas.microsoft.com/office/drawing/2014/main" id="{BA4C8DFD-AF97-4A74-AC48-032D9AB9315B}"/>
              </a:ext>
            </a:extLst>
          </p:cNvPr>
          <p:cNvSpPr>
            <a:spLocks xmlns:a="http://schemas.openxmlformats.org/drawingml/2006/main" noGrp="1"/>
          </p:cNvSpPr>
          <p:nvPr/>
        </p:nvSpPr>
        <p:spPr>
          <a:xfrm xmlns:a="http://schemas.openxmlformats.org/drawingml/2006/main">
            <a:off x="609600" y="2038350"/>
            <a:ext cx="5238750" cy="2076450"/>
          </a:xfrm>
          <a:prstGeom xmlns:a="http://schemas.openxmlformats.org/drawingml/2006/main" prst="roundRect">
            <a:avLst>
              <a:gd name="adj" fmla="val 3670"/>
            </a:avLst>
          </a:prstGeom>
          <a:solidFill xmlns:a="http://schemas.openxmlformats.org/drawingml/2006/main">
            <a:srgbClr val="FFFFFF"/>
          </a:solidFill>
          <a:ln xmlns:a="http://schemas.openxmlformats.org/drawingml/2006/main" w="19050">
            <a:solidFill>
              <a:srgbClr val="EAE3EC"/>
            </a:solidFill>
            <a:prstDash val="solid"/>
          </a:ln>
        </p:spPr>
      </p:sp>
      <p:sp>
        <p:nvSpPr>
          <p:cNvPr id="7" name="">
            <a:extLst xmlns:a="http://schemas.openxmlformats.org/drawingml/2006/main">
              <a:ext uri="{FF2B5EF4-FFF2-40B4-BE49-F238E27FC236}">
                <a16:creationId xmlns:a16="http://schemas.microsoft.com/office/drawing/2014/main" id="{77E665BC-1186-47B2-BA75-D3EE10F97167}"/>
              </a:ext>
            </a:extLst>
          </p:cNvPr>
          <p:cNvSpPr>
            <a:spLocks xmlns:a="http://schemas.openxmlformats.org/drawingml/2006/main" noGrp="1"/>
          </p:cNvSpPr>
          <p:nvPr/>
        </p:nvSpPr>
        <p:spPr>
          <a:xfrm xmlns:a="http://schemas.openxmlformats.org/drawingml/2006/main">
            <a:off x="838200" y="222885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E63888"/>
                </a:solidFill>
              </a:defRPr>
            </a:pPr>
            <a:r>
              <a:rPr sz="975" b="1">
                <a:solidFill>
                  <a:srgbClr val="E63888"/>
                </a:solidFill>
              </a:rPr>
              <a:t>INPUT</a:t>
            </a:r>
          </a:p>
        </p:txBody>
      </p:sp>
      <p:sp>
        <p:nvSpPr>
          <p:cNvPr id="8" name="">
            <a:extLst xmlns:a="http://schemas.openxmlformats.org/drawingml/2006/main">
              <a:ext uri="{FF2B5EF4-FFF2-40B4-BE49-F238E27FC236}">
                <a16:creationId xmlns:a16="http://schemas.microsoft.com/office/drawing/2014/main" id="{921C0661-7A10-4D9E-8ADE-0AC3D0C62B17}"/>
              </a:ext>
            </a:extLst>
          </p:cNvPr>
          <p:cNvSpPr>
            <a:spLocks xmlns:a="http://schemas.openxmlformats.org/drawingml/2006/main" noGrp="1"/>
          </p:cNvSpPr>
          <p:nvPr/>
        </p:nvSpPr>
        <p:spPr>
          <a:xfrm xmlns:a="http://schemas.openxmlformats.org/drawingml/2006/main">
            <a:off x="838200" y="2552700"/>
            <a:ext cx="47815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26232A"/>
                </a:solidFill>
              </a:defRPr>
            </a:pPr>
            <a:r>
              <a:rPr sz="1425" b="0">
                <a:solidFill>
                  <a:srgbClr val="26232A"/>
                </a:solidFill>
              </a:rPr>
              <a:t>Teach me about AI security for manufacturers. Give me five campaign ideas.</a:t>
            </a:r>
          </a:p>
        </p:txBody>
      </p:sp>
      <p:sp>
        <p:nvSpPr>
          <p:cNvPr id="9" name="">
            <a:extLst xmlns:a="http://schemas.openxmlformats.org/drawingml/2006/main">
              <a:ext uri="{FF2B5EF4-FFF2-40B4-BE49-F238E27FC236}">
                <a16:creationId xmlns:a16="http://schemas.microsoft.com/office/drawing/2014/main" id="{FBEDC94B-7417-4A15-9B87-79E76A1988EE}"/>
              </a:ext>
            </a:extLst>
          </p:cNvPr>
          <p:cNvSpPr>
            <a:spLocks xmlns:a="http://schemas.openxmlformats.org/drawingml/2006/main" noGrp="1"/>
          </p:cNvSpPr>
          <p:nvPr/>
        </p:nvSpPr>
        <p:spPr>
          <a:xfrm xmlns:a="http://schemas.openxmlformats.org/drawingml/2006/main">
            <a:off x="6229350" y="2038350"/>
            <a:ext cx="5353050" cy="2076450"/>
          </a:xfrm>
          <a:prstGeom xmlns:a="http://schemas.openxmlformats.org/drawingml/2006/main" prst="roundRect">
            <a:avLst>
              <a:gd name="adj" fmla="val 3670"/>
            </a:avLst>
          </a:prstGeom>
          <a:solidFill xmlns:a="http://schemas.openxmlformats.org/drawingml/2006/main">
            <a:srgbClr val="3D1F5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43EEF0F-E11C-4626-88A7-6CB12931D5AF}"/>
              </a:ext>
            </a:extLst>
          </p:cNvPr>
          <p:cNvSpPr>
            <a:spLocks xmlns:a="http://schemas.openxmlformats.org/drawingml/2006/main" noGrp="1"/>
          </p:cNvSpPr>
          <p:nvPr/>
        </p:nvSpPr>
        <p:spPr>
          <a:xfrm xmlns:a="http://schemas.openxmlformats.org/drawingml/2006/main">
            <a:off x="6457950" y="22288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OUTPUT</a:t>
            </a:r>
          </a:p>
        </p:txBody>
      </p:sp>
      <p:sp>
        <p:nvSpPr>
          <p:cNvPr id="11" name="">
            <a:extLst xmlns:a="http://schemas.openxmlformats.org/drawingml/2006/main">
              <a:ext uri="{FF2B5EF4-FFF2-40B4-BE49-F238E27FC236}">
                <a16:creationId xmlns:a16="http://schemas.microsoft.com/office/drawing/2014/main" id="{AE91812C-E49F-486B-8B3D-4C9778C6F9F7}"/>
              </a:ext>
            </a:extLst>
          </p:cNvPr>
          <p:cNvSpPr>
            <a:spLocks xmlns:a="http://schemas.openxmlformats.org/drawingml/2006/main" noGrp="1"/>
          </p:cNvSpPr>
          <p:nvPr/>
        </p:nvSpPr>
        <p:spPr>
          <a:xfrm xmlns:a="http://schemas.openxmlformats.org/drawingml/2006/main">
            <a:off x="6457950" y="2590800"/>
            <a:ext cx="48958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FFFFFF"/>
                </a:solidFill>
              </a:defRPr>
            </a:pPr>
            <a:r>
              <a:rPr sz="1650" b="1">
                <a:solidFill>
                  <a:srgbClr val="FFFFFF"/>
                </a:solidFill>
              </a:rPr>
              <a:t>Generalized ideas you still have to sift, verify, and rebuild.</a:t>
            </a:r>
          </a:p>
        </p:txBody>
      </p:sp>
      <p:sp>
        <p:nvSpPr>
          <p:cNvPr id="12" name="">
            <a:extLst xmlns:a="http://schemas.openxmlformats.org/drawingml/2006/main">
              <a:ext uri="{FF2B5EF4-FFF2-40B4-BE49-F238E27FC236}">
                <a16:creationId xmlns:a16="http://schemas.microsoft.com/office/drawing/2014/main" id="{DA3337F9-DD18-4E1B-ADC5-7C7C6784A2F7}"/>
              </a:ext>
            </a:extLst>
          </p:cNvPr>
          <p:cNvSpPr>
            <a:spLocks xmlns:a="http://schemas.openxmlformats.org/drawingml/2006/main" noGrp="1"/>
          </p:cNvSpPr>
          <p:nvPr/>
        </p:nvSpPr>
        <p:spPr>
          <a:xfrm xmlns:a="http://schemas.openxmlformats.org/drawingml/2006/main">
            <a:off x="742950" y="4514850"/>
            <a:ext cx="723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400" b="1">
                <a:solidFill>
                  <a:srgbClr val="E63888"/>
                </a:solidFill>
              </a:defRPr>
            </a:pPr>
            <a:r>
              <a:rPr sz="2400" b="1">
                <a:solidFill>
                  <a:srgbClr val="E63888"/>
                </a:solidFill>
              </a:rPr>
              <a:t>A fluent answer is not an account insight.</a:t>
            </a:r>
          </a:p>
        </p:txBody>
      </p:sp>
      <p:sp>
        <p:nvSpPr>
          <p:cNvPr id="13" name="">
            <a:extLst xmlns:a="http://schemas.openxmlformats.org/drawingml/2006/main">
              <a:ext uri="{FF2B5EF4-FFF2-40B4-BE49-F238E27FC236}">
                <a16:creationId xmlns:a16="http://schemas.microsoft.com/office/drawing/2014/main" id="{E0CCA819-495A-4884-887A-EC7B8EC3C0D8}"/>
              </a:ext>
            </a:extLst>
          </p:cNvPr>
          <p:cNvSpPr>
            <a:spLocks xmlns:a="http://schemas.openxmlformats.org/drawingml/2006/main" noGrp="1"/>
          </p:cNvSpPr>
          <p:nvPr/>
        </p:nvSpPr>
        <p:spPr>
          <a:xfrm xmlns:a="http://schemas.openxmlformats.org/drawingml/2006/main">
            <a:off x="609600" y="5562600"/>
            <a:ext cx="10972800" cy="514350"/>
          </a:xfrm>
          <a:prstGeom xmlns:a="http://schemas.openxmlformats.org/drawingml/2006/main" prst="roundRect">
            <a:avLst>
              <a:gd name="adj" fmla="val 14815"/>
            </a:avLst>
          </a:prstGeom>
          <a:solidFill xmlns:a="http://schemas.openxmlformats.org/drawingml/2006/main">
            <a:srgbClr val="EAF8B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1FFD1EA-1BC9-4319-BFDE-AD99FC700901}"/>
              </a:ext>
            </a:extLst>
          </p:cNvPr>
          <p:cNvSpPr>
            <a:spLocks xmlns:a="http://schemas.openxmlformats.org/drawingml/2006/main" noGrp="1"/>
          </p:cNvSpPr>
          <p:nvPr/>
        </p:nvSpPr>
        <p:spPr>
          <a:xfrm xmlns:a="http://schemas.openxmlformats.org/drawingml/2006/main">
            <a:off x="838200" y="57150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3D1F5C"/>
                </a:solidFill>
              </a:defRPr>
            </a:pPr>
            <a:r>
              <a:rPr sz="975" b="1">
                <a:solidFill>
                  <a:srgbClr val="3D1F5C"/>
                </a:solidFill>
              </a:rPr>
              <a:t>LAYER ADDED</a:t>
            </a:r>
          </a:p>
        </p:txBody>
      </p:sp>
      <p:sp>
        <p:nvSpPr>
          <p:cNvPr id="15" name="">
            <a:extLst xmlns:a="http://schemas.openxmlformats.org/drawingml/2006/main">
              <a:ext uri="{FF2B5EF4-FFF2-40B4-BE49-F238E27FC236}">
                <a16:creationId xmlns:a16="http://schemas.microsoft.com/office/drawing/2014/main" id="{38831EF5-9200-4DE3-BFFA-CD2A7598216C}"/>
              </a:ext>
            </a:extLst>
          </p:cNvPr>
          <p:cNvSpPr>
            <a:spLocks xmlns:a="http://schemas.openxmlformats.org/drawingml/2006/main" noGrp="1"/>
          </p:cNvSpPr>
          <p:nvPr/>
        </p:nvSpPr>
        <p:spPr>
          <a:xfrm xmlns:a="http://schemas.openxmlformats.org/drawingml/2006/main">
            <a:off x="2190750" y="56769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3D1F5C"/>
                </a:solidFill>
              </a:defRPr>
            </a:pPr>
            <a:r>
              <a:rPr sz="1350" b="1">
                <a:solidFill>
                  <a:srgbClr val="3D1F5C"/>
                </a:solidFill>
              </a:rPr>
              <a:t>Model or search interface</a:t>
            </a:r>
          </a:p>
        </p:txBody>
      </p:sp>
    </p:spTree>
    <p:extLst>
      <p:ext uri="{BB962C8B-B14F-4D97-AF65-F5344CB8AC3E}">
        <p14:creationId xmlns:p14="http://schemas.microsoft.com/office/powerpoint/2010/main" val="2009002146"/>
      </p:ext>
    </p:extLst>
  </p:cSld>
</p:sld>
</file>

<file path=ppt/slides/slide6.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912D1C2-A2A4-44B3-9D05-B8B469D5844C}"/>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AFC6887C-FD91-489E-AAC5-E83A9E64DFF9}"/>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1CCAB3D-B907-47BC-9EF3-5999DC7DC20B}"/>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26232A"/>
                </a:solidFill>
              </a:defRPr>
            </a:pPr>
            <a:r>
              <a:rPr sz="3150" b="1">
                <a:solidFill>
                  <a:srgbClr val="26232A"/>
                </a:solidFill>
              </a:rPr>
              <a:t>Level 1: Contextual Copilot</a:t>
            </a:r>
          </a:p>
        </p:txBody>
      </p:sp>
      <p:sp>
        <p:nvSpPr>
          <p:cNvPr id="4" name="">
            <a:extLst xmlns:a="http://schemas.openxmlformats.org/drawingml/2006/main">
              <a:ext uri="{FF2B5EF4-FFF2-40B4-BE49-F238E27FC236}">
                <a16:creationId xmlns:a16="http://schemas.microsoft.com/office/drawing/2014/main" id="{12C4D910-58BA-4341-B126-C9293D62DA4C}"/>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6E6873"/>
                </a:solidFill>
              </a:defRPr>
            </a:pPr>
            <a:r>
              <a:rPr sz="750" b="1">
                <a:solidFill>
                  <a:srgbClr val="6E6873"/>
                </a:solidFill>
              </a:rPr>
              <a:t>FORGEX  |  AI FOR ABM</a:t>
            </a:r>
          </a:p>
        </p:txBody>
      </p:sp>
      <p:sp>
        <p:nvSpPr>
          <p:cNvPr id="5" name="">
            <a:extLst xmlns:a="http://schemas.openxmlformats.org/drawingml/2006/main">
              <a:ext uri="{FF2B5EF4-FFF2-40B4-BE49-F238E27FC236}">
                <a16:creationId xmlns:a16="http://schemas.microsoft.com/office/drawing/2014/main" id="{42D94331-2219-4F35-9C3C-5C616B09D429}"/>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E63888"/>
                </a:solidFill>
              </a:defRPr>
            </a:pPr>
            <a:r>
              <a:rPr sz="825" b="1">
                <a:solidFill>
                  <a:srgbClr val="E63888"/>
                </a:solidFill>
              </a:rPr>
              <a:t>6</a:t>
            </a:r>
          </a:p>
        </p:txBody>
      </p:sp>
      <p:sp>
        <p:nvSpPr>
          <p:cNvPr id="6" name="">
            <a:extLst xmlns:a="http://schemas.openxmlformats.org/drawingml/2006/main">
              <a:ext uri="{FF2B5EF4-FFF2-40B4-BE49-F238E27FC236}">
                <a16:creationId xmlns:a16="http://schemas.microsoft.com/office/drawing/2014/main" id="{8251684A-A56C-463E-A15C-5BE8B459C3AC}"/>
              </a:ext>
            </a:extLst>
          </p:cNvPr>
          <p:cNvSpPr>
            <a:spLocks xmlns:a="http://schemas.openxmlformats.org/drawingml/2006/main" noGrp="1"/>
          </p:cNvSpPr>
          <p:nvPr/>
        </p:nvSpPr>
        <p:spPr>
          <a:xfrm xmlns:a="http://schemas.openxmlformats.org/drawingml/2006/main">
            <a:off x="609600" y="1943100"/>
            <a:ext cx="6000750" cy="2781300"/>
          </a:xfrm>
          <a:prstGeom xmlns:a="http://schemas.openxmlformats.org/drawingml/2006/main" prst="roundRect">
            <a:avLst>
              <a:gd name="adj" fmla="val 2740"/>
            </a:avLst>
          </a:prstGeom>
          <a:solidFill xmlns:a="http://schemas.openxmlformats.org/drawingml/2006/main">
            <a:srgbClr val="FFFFFF"/>
          </a:solidFill>
          <a:ln xmlns:a="http://schemas.openxmlformats.org/drawingml/2006/main" w="19050">
            <a:solidFill>
              <a:srgbClr val="EAE3EC"/>
            </a:solidFill>
            <a:prstDash val="solid"/>
          </a:ln>
        </p:spPr>
      </p:sp>
      <p:sp>
        <p:nvSpPr>
          <p:cNvPr id="7" name="">
            <a:extLst xmlns:a="http://schemas.openxmlformats.org/drawingml/2006/main">
              <a:ext uri="{FF2B5EF4-FFF2-40B4-BE49-F238E27FC236}">
                <a16:creationId xmlns:a16="http://schemas.microsoft.com/office/drawing/2014/main" id="{83E29F17-A572-4CC7-84FB-506D1E1849BA}"/>
              </a:ext>
            </a:extLst>
          </p:cNvPr>
          <p:cNvSpPr>
            <a:spLocks xmlns:a="http://schemas.openxmlformats.org/drawingml/2006/main" noGrp="1"/>
          </p:cNvSpPr>
          <p:nvPr/>
        </p:nvSpPr>
        <p:spPr>
          <a:xfrm xmlns:a="http://schemas.openxmlformats.org/drawingml/2006/main">
            <a:off x="838200" y="21336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E63888"/>
                </a:solidFill>
              </a:defRPr>
            </a:pPr>
            <a:r>
              <a:rPr sz="975" b="1">
                <a:solidFill>
                  <a:srgbClr val="E63888"/>
                </a:solidFill>
              </a:rPr>
              <a:t>INPUT</a:t>
            </a:r>
          </a:p>
        </p:txBody>
      </p:sp>
      <p:sp>
        <p:nvSpPr>
          <p:cNvPr id="8" name="">
            <a:extLst xmlns:a="http://schemas.openxmlformats.org/drawingml/2006/main">
              <a:ext uri="{FF2B5EF4-FFF2-40B4-BE49-F238E27FC236}">
                <a16:creationId xmlns:a16="http://schemas.microsoft.com/office/drawing/2014/main" id="{51A815B1-E1BC-432B-AC28-A86877E2B6F6}"/>
              </a:ext>
            </a:extLst>
          </p:cNvPr>
          <p:cNvSpPr>
            <a:spLocks xmlns:a="http://schemas.openxmlformats.org/drawingml/2006/main" noGrp="1"/>
          </p:cNvSpPr>
          <p:nvPr/>
        </p:nvSpPr>
        <p:spPr>
          <a:xfrm xmlns:a="http://schemas.openxmlformats.org/drawingml/2006/main">
            <a:off x="838200" y="2457450"/>
            <a:ext cx="554355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26232A"/>
                </a:solidFill>
              </a:defRPr>
            </a:pPr>
            <a:r>
              <a:rPr sz="1425" b="0">
                <a:solidFill>
                  <a:srgbClr val="26232A"/>
                </a:solidFill>
              </a:rPr>
              <a:t>North Peak sells Discover, Protect, and Monitor. Alder is expanding industrial AI. Draft three campaign premises for a VP of Infrastructure. Separate facts from hypotheses.</a:t>
            </a:r>
          </a:p>
        </p:txBody>
      </p:sp>
      <p:sp>
        <p:nvSpPr>
          <p:cNvPr id="9" name="">
            <a:extLst xmlns:a="http://schemas.openxmlformats.org/drawingml/2006/main">
              <a:ext uri="{FF2B5EF4-FFF2-40B4-BE49-F238E27FC236}">
                <a16:creationId xmlns:a16="http://schemas.microsoft.com/office/drawing/2014/main" id="{F52149BA-24A6-4D2B-A2C0-FFA8918F3BA9}"/>
              </a:ext>
            </a:extLst>
          </p:cNvPr>
          <p:cNvSpPr>
            <a:spLocks xmlns:a="http://schemas.openxmlformats.org/drawingml/2006/main" noGrp="1"/>
          </p:cNvSpPr>
          <p:nvPr/>
        </p:nvSpPr>
        <p:spPr>
          <a:xfrm xmlns:a="http://schemas.openxmlformats.org/drawingml/2006/main">
            <a:off x="6991350" y="1943100"/>
            <a:ext cx="4591050" cy="1809750"/>
          </a:xfrm>
          <a:prstGeom xmlns:a="http://schemas.openxmlformats.org/drawingml/2006/main" prst="roundRect">
            <a:avLst>
              <a:gd name="adj" fmla="val 4211"/>
            </a:avLst>
          </a:prstGeom>
          <a:solidFill xmlns:a="http://schemas.openxmlformats.org/drawingml/2006/main">
            <a:srgbClr val="3D1F5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36FEABD-0E9E-42B9-9DE6-1FB648BAE2F9}"/>
              </a:ext>
            </a:extLst>
          </p:cNvPr>
          <p:cNvSpPr>
            <a:spLocks xmlns:a="http://schemas.openxmlformats.org/drawingml/2006/main" noGrp="1"/>
          </p:cNvSpPr>
          <p:nvPr/>
        </p:nvSpPr>
        <p:spPr>
          <a:xfrm xmlns:a="http://schemas.openxmlformats.org/drawingml/2006/main">
            <a:off x="7219950" y="21336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OUTPUT</a:t>
            </a:r>
          </a:p>
        </p:txBody>
      </p:sp>
      <p:sp>
        <p:nvSpPr>
          <p:cNvPr id="11" name="">
            <a:extLst xmlns:a="http://schemas.openxmlformats.org/drawingml/2006/main">
              <a:ext uri="{FF2B5EF4-FFF2-40B4-BE49-F238E27FC236}">
                <a16:creationId xmlns:a16="http://schemas.microsoft.com/office/drawing/2014/main" id="{E17F1028-816B-4BD1-85AC-3D8AF5E67693}"/>
              </a:ext>
            </a:extLst>
          </p:cNvPr>
          <p:cNvSpPr>
            <a:spLocks xmlns:a="http://schemas.openxmlformats.org/drawingml/2006/main" noGrp="1"/>
          </p:cNvSpPr>
          <p:nvPr/>
        </p:nvSpPr>
        <p:spPr>
          <a:xfrm xmlns:a="http://schemas.openxmlformats.org/drawingml/2006/main">
            <a:off x="7219950" y="2495550"/>
            <a:ext cx="41338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FFFFFF"/>
                </a:solidFill>
              </a:defRPr>
            </a:pPr>
            <a:r>
              <a:rPr sz="1650" b="1">
                <a:solidFill>
                  <a:srgbClr val="FFFFFF"/>
                </a:solidFill>
              </a:rPr>
              <a:t>A more relevant one-off draft.</a:t>
            </a:r>
          </a:p>
        </p:txBody>
      </p:sp>
      <p:sp>
        <p:nvSpPr>
          <p:cNvPr id="12" name="">
            <a:extLst xmlns:a="http://schemas.openxmlformats.org/drawingml/2006/main">
              <a:ext uri="{FF2B5EF4-FFF2-40B4-BE49-F238E27FC236}">
                <a16:creationId xmlns:a16="http://schemas.microsoft.com/office/drawing/2014/main" id="{ED2C0902-D39D-4C21-A1CE-C0D6DF946B99}"/>
              </a:ext>
            </a:extLst>
          </p:cNvPr>
          <p:cNvSpPr>
            <a:spLocks xmlns:a="http://schemas.openxmlformats.org/drawingml/2006/main" noGrp="1"/>
          </p:cNvSpPr>
          <p:nvPr/>
        </p:nvSpPr>
        <p:spPr>
          <a:xfrm xmlns:a="http://schemas.openxmlformats.org/drawingml/2006/main">
            <a:off x="7086600" y="3981450"/>
            <a:ext cx="42672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3D1F5C"/>
                </a:solidFill>
              </a:defRPr>
            </a:pPr>
            <a:r>
              <a:rPr sz="1650" b="1">
                <a:solidFill>
                  <a:srgbClr val="3D1F5C"/>
                </a:solidFill>
              </a:rPr>
              <a:t>The marketer still knows what to paste, what to ask, and what to correct.</a:t>
            </a:r>
          </a:p>
        </p:txBody>
      </p:sp>
      <p:sp>
        <p:nvSpPr>
          <p:cNvPr id="13" name="">
            <a:extLst xmlns:a="http://schemas.openxmlformats.org/drawingml/2006/main">
              <a:ext uri="{FF2B5EF4-FFF2-40B4-BE49-F238E27FC236}">
                <a16:creationId xmlns:a16="http://schemas.microsoft.com/office/drawing/2014/main" id="{B4384A95-8D5D-4318-8643-39C7B07750E6}"/>
              </a:ext>
            </a:extLst>
          </p:cNvPr>
          <p:cNvSpPr>
            <a:spLocks xmlns:a="http://schemas.openxmlformats.org/drawingml/2006/main" noGrp="1"/>
          </p:cNvSpPr>
          <p:nvPr/>
        </p:nvSpPr>
        <p:spPr>
          <a:xfrm xmlns:a="http://schemas.openxmlformats.org/drawingml/2006/main">
            <a:off x="609600" y="5562600"/>
            <a:ext cx="10972800" cy="514350"/>
          </a:xfrm>
          <a:prstGeom xmlns:a="http://schemas.openxmlformats.org/drawingml/2006/main" prst="roundRect">
            <a:avLst>
              <a:gd name="adj" fmla="val 14815"/>
            </a:avLst>
          </a:prstGeom>
          <a:solidFill xmlns:a="http://schemas.openxmlformats.org/drawingml/2006/main">
            <a:srgbClr val="EAF8B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5FBA3AF-A163-4ED2-B4B7-A675057A8473}"/>
              </a:ext>
            </a:extLst>
          </p:cNvPr>
          <p:cNvSpPr>
            <a:spLocks xmlns:a="http://schemas.openxmlformats.org/drawingml/2006/main" noGrp="1"/>
          </p:cNvSpPr>
          <p:nvPr/>
        </p:nvSpPr>
        <p:spPr>
          <a:xfrm xmlns:a="http://schemas.openxmlformats.org/drawingml/2006/main">
            <a:off x="838200" y="57150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3D1F5C"/>
                </a:solidFill>
              </a:defRPr>
            </a:pPr>
            <a:r>
              <a:rPr sz="975" b="1">
                <a:solidFill>
                  <a:srgbClr val="3D1F5C"/>
                </a:solidFill>
              </a:rPr>
              <a:t>LAYER ADDED</a:t>
            </a:r>
          </a:p>
        </p:txBody>
      </p:sp>
      <p:sp>
        <p:nvSpPr>
          <p:cNvPr id="15" name="">
            <a:extLst xmlns:a="http://schemas.openxmlformats.org/drawingml/2006/main">
              <a:ext uri="{FF2B5EF4-FFF2-40B4-BE49-F238E27FC236}">
                <a16:creationId xmlns:a16="http://schemas.microsoft.com/office/drawing/2014/main" id="{65A7B713-7FDA-4CD9-8F82-0875B49987B0}"/>
              </a:ext>
            </a:extLst>
          </p:cNvPr>
          <p:cNvSpPr>
            <a:spLocks xmlns:a="http://schemas.openxmlformats.org/drawingml/2006/main" noGrp="1"/>
          </p:cNvSpPr>
          <p:nvPr/>
        </p:nvSpPr>
        <p:spPr>
          <a:xfrm xmlns:a="http://schemas.openxmlformats.org/drawingml/2006/main">
            <a:off x="2190750" y="56769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3D1F5C"/>
                </a:solidFill>
              </a:defRPr>
            </a:pPr>
            <a:r>
              <a:rPr sz="1350" b="1">
                <a:solidFill>
                  <a:srgbClr val="3D1F5C"/>
                </a:solidFill>
              </a:rPr>
              <a:t>Structured prompt  +  supplied context  +  human iteration</a:t>
            </a:r>
          </a:p>
        </p:txBody>
      </p:sp>
    </p:spTree>
    <p:extLst>
      <p:ext uri="{BB962C8B-B14F-4D97-AF65-F5344CB8AC3E}">
        <p14:creationId xmlns:p14="http://schemas.microsoft.com/office/powerpoint/2010/main" val="883484750"/>
      </p:ext>
    </p:extLst>
  </p:cSld>
</p:sld>
</file>

<file path=ppt/slides/slide7.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49FA136-706D-4E43-AC3B-CF4056743B52}"/>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61DF9DBB-5127-400F-975D-1A654AD40A58}"/>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417DBDD-9CF7-442B-9AE0-3E9FC4CE6463}"/>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26232A"/>
                </a:solidFill>
              </a:defRPr>
            </a:pPr>
            <a:r>
              <a:rPr sz="3150" b="1">
                <a:solidFill>
                  <a:srgbClr val="26232A"/>
                </a:solidFill>
              </a:rPr>
              <a:t>Level 2: Grounded Workspace</a:t>
            </a:r>
          </a:p>
        </p:txBody>
      </p:sp>
      <p:sp>
        <p:nvSpPr>
          <p:cNvPr id="4" name="">
            <a:extLst xmlns:a="http://schemas.openxmlformats.org/drawingml/2006/main">
              <a:ext uri="{FF2B5EF4-FFF2-40B4-BE49-F238E27FC236}">
                <a16:creationId xmlns:a16="http://schemas.microsoft.com/office/drawing/2014/main" id="{30D1A2C0-CE10-411C-85E8-996B19625BDB}"/>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6E6873"/>
                </a:solidFill>
              </a:defRPr>
            </a:pPr>
            <a:r>
              <a:rPr sz="750" b="1">
                <a:solidFill>
                  <a:srgbClr val="6E6873"/>
                </a:solidFill>
              </a:rPr>
              <a:t>FORGEX  |  AI FOR ABM</a:t>
            </a:r>
          </a:p>
        </p:txBody>
      </p:sp>
      <p:sp>
        <p:nvSpPr>
          <p:cNvPr id="5" name="">
            <a:extLst xmlns:a="http://schemas.openxmlformats.org/drawingml/2006/main">
              <a:ext uri="{FF2B5EF4-FFF2-40B4-BE49-F238E27FC236}">
                <a16:creationId xmlns:a16="http://schemas.microsoft.com/office/drawing/2014/main" id="{594D7646-8FB3-494F-A43E-75732EF09ADC}"/>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E63888"/>
                </a:solidFill>
              </a:defRPr>
            </a:pPr>
            <a:r>
              <a:rPr sz="825" b="1">
                <a:solidFill>
                  <a:srgbClr val="E63888"/>
                </a:solidFill>
              </a:rPr>
              <a:t>7</a:t>
            </a:r>
          </a:p>
        </p:txBody>
      </p:sp>
      <p:sp>
        <p:nvSpPr>
          <p:cNvPr id="6" name="">
            <a:extLst xmlns:a="http://schemas.openxmlformats.org/drawingml/2006/main">
              <a:ext uri="{FF2B5EF4-FFF2-40B4-BE49-F238E27FC236}">
                <a16:creationId xmlns:a16="http://schemas.microsoft.com/office/drawing/2014/main" id="{B8505C87-C899-41EB-9282-6316527E3EFE}"/>
              </a:ext>
            </a:extLst>
          </p:cNvPr>
          <p:cNvSpPr>
            <a:spLocks xmlns:a="http://schemas.openxmlformats.org/drawingml/2006/main" noGrp="1"/>
          </p:cNvSpPr>
          <p:nvPr/>
        </p:nvSpPr>
        <p:spPr>
          <a:xfrm xmlns:a="http://schemas.openxmlformats.org/drawingml/2006/main">
            <a:off x="609600" y="1943100"/>
            <a:ext cx="600075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19050">
            <a:solidFill>
              <a:srgbClr val="EAE3EC"/>
            </a:solidFill>
            <a:prstDash val="solid"/>
          </a:ln>
        </p:spPr>
      </p:sp>
      <p:sp>
        <p:nvSpPr>
          <p:cNvPr id="7" name="">
            <a:extLst xmlns:a="http://schemas.openxmlformats.org/drawingml/2006/main">
              <a:ext uri="{FF2B5EF4-FFF2-40B4-BE49-F238E27FC236}">
                <a16:creationId xmlns:a16="http://schemas.microsoft.com/office/drawing/2014/main" id="{8B9882E3-59F7-457F-B4D7-F106536D4ED8}"/>
              </a:ext>
            </a:extLst>
          </p:cNvPr>
          <p:cNvSpPr>
            <a:spLocks xmlns:a="http://schemas.openxmlformats.org/drawingml/2006/main" noGrp="1"/>
          </p:cNvSpPr>
          <p:nvPr/>
        </p:nvSpPr>
        <p:spPr>
          <a:xfrm xmlns:a="http://schemas.openxmlformats.org/drawingml/2006/main">
            <a:off x="838200" y="21336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E63888"/>
                </a:solidFill>
              </a:defRPr>
            </a:pPr>
            <a:r>
              <a:rPr sz="975" b="1">
                <a:solidFill>
                  <a:srgbClr val="E63888"/>
                </a:solidFill>
              </a:rPr>
              <a:t>INPUT</a:t>
            </a:r>
          </a:p>
        </p:txBody>
      </p:sp>
      <p:sp>
        <p:nvSpPr>
          <p:cNvPr id="8" name="">
            <a:extLst xmlns:a="http://schemas.openxmlformats.org/drawingml/2006/main">
              <a:ext uri="{FF2B5EF4-FFF2-40B4-BE49-F238E27FC236}">
                <a16:creationId xmlns:a16="http://schemas.microsoft.com/office/drawing/2014/main" id="{FC8DAE17-4A55-4E63-823B-A6C52E8E5639}"/>
              </a:ext>
            </a:extLst>
          </p:cNvPr>
          <p:cNvSpPr>
            <a:spLocks xmlns:a="http://schemas.openxmlformats.org/drawingml/2006/main" noGrp="1"/>
          </p:cNvSpPr>
          <p:nvPr/>
        </p:nvSpPr>
        <p:spPr>
          <a:xfrm xmlns:a="http://schemas.openxmlformats.org/drawingml/2006/main">
            <a:off x="838200" y="2457450"/>
            <a:ext cx="55435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26232A"/>
                </a:solidFill>
              </a:defRPr>
            </a:pPr>
            <a:r>
              <a:rPr sz="1425" b="0">
                <a:solidFill>
                  <a:srgbClr val="26232A"/>
                </a:solidFill>
              </a:rPr>
              <a:t>Use the North Peak company brain and Alder evidence pack. Recommend one campaign premise. Cite the source file for each material claim.</a:t>
            </a:r>
          </a:p>
        </p:txBody>
      </p:sp>
      <p:sp>
        <p:nvSpPr>
          <p:cNvPr id="9" name="">
            <a:extLst xmlns:a="http://schemas.openxmlformats.org/drawingml/2006/main">
              <a:ext uri="{FF2B5EF4-FFF2-40B4-BE49-F238E27FC236}">
                <a16:creationId xmlns:a16="http://schemas.microsoft.com/office/drawing/2014/main" id="{95EEAA8D-ADF5-4403-8BEE-D46098257A4F}"/>
              </a:ext>
            </a:extLst>
          </p:cNvPr>
          <p:cNvSpPr>
            <a:spLocks xmlns:a="http://schemas.openxmlformats.org/drawingml/2006/main" noGrp="1"/>
          </p:cNvSpPr>
          <p:nvPr/>
        </p:nvSpPr>
        <p:spPr>
          <a:xfrm xmlns:a="http://schemas.openxmlformats.org/drawingml/2006/main">
            <a:off x="6991350" y="1943100"/>
            <a:ext cx="4591050" cy="2381250"/>
          </a:xfrm>
          <a:prstGeom xmlns:a="http://schemas.openxmlformats.org/drawingml/2006/main" prst="roundRect">
            <a:avLst>
              <a:gd name="adj" fmla="val 3200"/>
            </a:avLst>
          </a:prstGeom>
          <a:solidFill xmlns:a="http://schemas.openxmlformats.org/drawingml/2006/main">
            <a:srgbClr val="3D1F5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64AA1B7-7A6E-4013-98B0-07ADA6EC199A}"/>
              </a:ext>
            </a:extLst>
          </p:cNvPr>
          <p:cNvSpPr>
            <a:spLocks xmlns:a="http://schemas.openxmlformats.org/drawingml/2006/main" noGrp="1"/>
          </p:cNvSpPr>
          <p:nvPr/>
        </p:nvSpPr>
        <p:spPr>
          <a:xfrm xmlns:a="http://schemas.openxmlformats.org/drawingml/2006/main">
            <a:off x="7219950" y="21336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OUTPUT</a:t>
            </a:r>
          </a:p>
        </p:txBody>
      </p:sp>
      <p:sp>
        <p:nvSpPr>
          <p:cNvPr id="11" name="">
            <a:extLst xmlns:a="http://schemas.openxmlformats.org/drawingml/2006/main">
              <a:ext uri="{FF2B5EF4-FFF2-40B4-BE49-F238E27FC236}">
                <a16:creationId xmlns:a16="http://schemas.microsoft.com/office/drawing/2014/main" id="{FDF5F8D8-7F22-48AA-8DA3-95E2ADD63C07}"/>
              </a:ext>
            </a:extLst>
          </p:cNvPr>
          <p:cNvSpPr>
            <a:spLocks xmlns:a="http://schemas.openxmlformats.org/drawingml/2006/main" noGrp="1"/>
          </p:cNvSpPr>
          <p:nvPr/>
        </p:nvSpPr>
        <p:spPr>
          <a:xfrm xmlns:a="http://schemas.openxmlformats.org/drawingml/2006/main">
            <a:off x="7219950" y="2495550"/>
            <a:ext cx="413385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FFFFFF"/>
                </a:solidFill>
              </a:defRPr>
            </a:pPr>
            <a:r>
              <a:rPr sz="1650" b="1">
                <a:solidFill>
                  <a:srgbClr val="FFFFFF"/>
                </a:solidFill>
              </a:rPr>
              <a:t>A grounded draft that uses the same brand, ICP, persona, product, and proof rules every time.</a:t>
            </a:r>
          </a:p>
        </p:txBody>
      </p:sp>
      <p:sp>
        <p:nvSpPr>
          <p:cNvPr id="12" name="">
            <a:extLst xmlns:a="http://schemas.openxmlformats.org/drawingml/2006/main">
              <a:ext uri="{FF2B5EF4-FFF2-40B4-BE49-F238E27FC236}">
                <a16:creationId xmlns:a16="http://schemas.microsoft.com/office/drawing/2014/main" id="{29F17BDB-CDA6-4A32-8F23-D3047B9EBFF5}"/>
              </a:ext>
            </a:extLst>
          </p:cNvPr>
          <p:cNvSpPr>
            <a:spLocks xmlns:a="http://schemas.openxmlformats.org/drawingml/2006/main" noGrp="1"/>
          </p:cNvSpPr>
          <p:nvPr/>
        </p:nvSpPr>
        <p:spPr>
          <a:xfrm xmlns:a="http://schemas.openxmlformats.org/drawingml/2006/main">
            <a:off x="1066800" y="4762500"/>
            <a:ext cx="10058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63888"/>
                </a:solidFill>
              </a:defRPr>
            </a:pPr>
            <a:r>
              <a:rPr sz="2250" b="1">
                <a:solidFill>
                  <a:srgbClr val="E63888"/>
                </a:solidFill>
              </a:rPr>
              <a:t>Stop making the model relearn the company.</a:t>
            </a:r>
          </a:p>
        </p:txBody>
      </p:sp>
      <p:sp>
        <p:nvSpPr>
          <p:cNvPr id="13" name="">
            <a:extLst xmlns:a="http://schemas.openxmlformats.org/drawingml/2006/main">
              <a:ext uri="{FF2B5EF4-FFF2-40B4-BE49-F238E27FC236}">
                <a16:creationId xmlns:a16="http://schemas.microsoft.com/office/drawing/2014/main" id="{45FF6A94-FFD3-4184-9DEB-A3CC5F740888}"/>
              </a:ext>
            </a:extLst>
          </p:cNvPr>
          <p:cNvSpPr>
            <a:spLocks xmlns:a="http://schemas.openxmlformats.org/drawingml/2006/main" noGrp="1"/>
          </p:cNvSpPr>
          <p:nvPr/>
        </p:nvSpPr>
        <p:spPr>
          <a:xfrm xmlns:a="http://schemas.openxmlformats.org/drawingml/2006/main">
            <a:off x="609600" y="5562600"/>
            <a:ext cx="10972800" cy="514350"/>
          </a:xfrm>
          <a:prstGeom xmlns:a="http://schemas.openxmlformats.org/drawingml/2006/main" prst="roundRect">
            <a:avLst>
              <a:gd name="adj" fmla="val 14815"/>
            </a:avLst>
          </a:prstGeom>
          <a:solidFill xmlns:a="http://schemas.openxmlformats.org/drawingml/2006/main">
            <a:srgbClr val="EAF8B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C1EBA80-0A28-4654-A875-ED9D4E108DF4}"/>
              </a:ext>
            </a:extLst>
          </p:cNvPr>
          <p:cNvSpPr>
            <a:spLocks xmlns:a="http://schemas.openxmlformats.org/drawingml/2006/main" noGrp="1"/>
          </p:cNvSpPr>
          <p:nvPr/>
        </p:nvSpPr>
        <p:spPr>
          <a:xfrm xmlns:a="http://schemas.openxmlformats.org/drawingml/2006/main">
            <a:off x="838200" y="57150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3D1F5C"/>
                </a:solidFill>
              </a:defRPr>
            </a:pPr>
            <a:r>
              <a:rPr sz="975" b="1">
                <a:solidFill>
                  <a:srgbClr val="3D1F5C"/>
                </a:solidFill>
              </a:rPr>
              <a:t>LAYER ADDED</a:t>
            </a:r>
          </a:p>
        </p:txBody>
      </p:sp>
      <p:sp>
        <p:nvSpPr>
          <p:cNvPr id="15" name="">
            <a:extLst xmlns:a="http://schemas.openxmlformats.org/drawingml/2006/main">
              <a:ext uri="{FF2B5EF4-FFF2-40B4-BE49-F238E27FC236}">
                <a16:creationId xmlns:a16="http://schemas.microsoft.com/office/drawing/2014/main" id="{1CD6A4AD-3947-4376-AA67-AD0E4F8D00FE}"/>
              </a:ext>
            </a:extLst>
          </p:cNvPr>
          <p:cNvSpPr>
            <a:spLocks xmlns:a="http://schemas.openxmlformats.org/drawingml/2006/main" noGrp="1"/>
          </p:cNvSpPr>
          <p:nvPr/>
        </p:nvSpPr>
        <p:spPr>
          <a:xfrm xmlns:a="http://schemas.openxmlformats.org/drawingml/2006/main">
            <a:off x="2190750" y="56769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3D1F5C"/>
                </a:solidFill>
              </a:defRPr>
            </a:pPr>
            <a:r>
              <a:rPr sz="1350" b="1">
                <a:solidFill>
                  <a:srgbClr val="3D1F5C"/>
                </a:solidFill>
              </a:rPr>
              <a:t>Persistent, approved context</a:t>
            </a:r>
          </a:p>
        </p:txBody>
      </p:sp>
    </p:spTree>
    <p:extLst>
      <p:ext uri="{BB962C8B-B14F-4D97-AF65-F5344CB8AC3E}">
        <p14:creationId xmlns:p14="http://schemas.microsoft.com/office/powerpoint/2010/main" val="1659601731"/>
      </p:ext>
    </p:extLst>
  </p:cSld>
</p:sld>
</file>

<file path=ppt/slides/slide8.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AF210E4-10EE-4441-85F4-954A52601691}"/>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B900F133-CB96-4B1C-A980-738282EB95E4}"/>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015A93E-493B-460A-8824-CF09FBEF4A39}"/>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26232A"/>
                </a:solidFill>
              </a:defRPr>
            </a:pPr>
            <a:r>
              <a:rPr sz="3150" b="1">
                <a:solidFill>
                  <a:srgbClr val="26232A"/>
                </a:solidFill>
              </a:rPr>
              <a:t>The company brain is only one layer of the system</a:t>
            </a:r>
          </a:p>
        </p:txBody>
      </p:sp>
      <p:sp>
        <p:nvSpPr>
          <p:cNvPr id="4" name="">
            <a:extLst xmlns:a="http://schemas.openxmlformats.org/drawingml/2006/main">
              <a:ext uri="{FF2B5EF4-FFF2-40B4-BE49-F238E27FC236}">
                <a16:creationId xmlns:a16="http://schemas.microsoft.com/office/drawing/2014/main" id="{181F8DB6-F82B-4C99-8688-A179CF70A385}"/>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6E6873"/>
                </a:solidFill>
              </a:defRPr>
            </a:pPr>
            <a:r>
              <a:rPr sz="750" b="1">
                <a:solidFill>
                  <a:srgbClr val="6E6873"/>
                </a:solidFill>
              </a:rPr>
              <a:t>FORGEX  |  AI FOR ABM</a:t>
            </a:r>
          </a:p>
        </p:txBody>
      </p:sp>
      <p:sp>
        <p:nvSpPr>
          <p:cNvPr id="5" name="">
            <a:extLst xmlns:a="http://schemas.openxmlformats.org/drawingml/2006/main">
              <a:ext uri="{FF2B5EF4-FFF2-40B4-BE49-F238E27FC236}">
                <a16:creationId xmlns:a16="http://schemas.microsoft.com/office/drawing/2014/main" id="{EF8E241C-00C6-4276-BE0F-3DD46093B108}"/>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E63888"/>
                </a:solidFill>
              </a:defRPr>
            </a:pPr>
            <a:r>
              <a:rPr sz="825" b="1">
                <a:solidFill>
                  <a:srgbClr val="E63888"/>
                </a:solidFill>
              </a:rPr>
              <a:t>8</a:t>
            </a:r>
          </a:p>
        </p:txBody>
      </p:sp>
      <p:sp>
        <p:nvSpPr>
          <p:cNvPr id="6" name="">
            <a:extLst xmlns:a="http://schemas.openxmlformats.org/drawingml/2006/main">
              <a:ext uri="{FF2B5EF4-FFF2-40B4-BE49-F238E27FC236}">
                <a16:creationId xmlns:a16="http://schemas.microsoft.com/office/drawing/2014/main" id="{BB2F18B9-2E5F-431F-B237-EE7719DFBAE8}"/>
              </a:ext>
            </a:extLst>
          </p:cNvPr>
          <p:cNvSpPr>
            <a:spLocks xmlns:a="http://schemas.openxmlformats.org/drawingml/2006/main" noGrp="1"/>
          </p:cNvSpPr>
          <p:nvPr/>
        </p:nvSpPr>
        <p:spPr>
          <a:xfrm xmlns:a="http://schemas.openxmlformats.org/drawingml/2006/main">
            <a:off x="666750" y="2000250"/>
            <a:ext cx="4953000" cy="3810000"/>
          </a:xfrm>
          <a:prstGeom xmlns:a="http://schemas.openxmlformats.org/drawingml/2006/main" prst="roundRect">
            <a:avLst>
              <a:gd name="adj" fmla="val 2000"/>
            </a:avLst>
          </a:prstGeom>
          <a:solidFill xmlns:a="http://schemas.openxmlformats.org/drawingml/2006/main">
            <a:srgbClr val="0B0B0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09F1D16-0FF3-44D6-A870-4667761FCA1C}"/>
              </a:ext>
            </a:extLst>
          </p:cNvPr>
          <p:cNvSpPr>
            <a:spLocks xmlns:a="http://schemas.openxmlformats.org/drawingml/2006/main" noGrp="1"/>
          </p:cNvSpPr>
          <p:nvPr/>
        </p:nvSpPr>
        <p:spPr>
          <a:xfrm xmlns:a="http://schemas.openxmlformats.org/drawingml/2006/main">
            <a:off x="971550" y="22669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NORTH PEAK / COMPANY BRAIN</a:t>
            </a:r>
          </a:p>
        </p:txBody>
      </p:sp>
      <p:sp>
        <p:nvSpPr>
          <p:cNvPr id="8" name="">
            <a:extLst xmlns:a="http://schemas.openxmlformats.org/drawingml/2006/main">
              <a:ext uri="{FF2B5EF4-FFF2-40B4-BE49-F238E27FC236}">
                <a16:creationId xmlns:a16="http://schemas.microsoft.com/office/drawing/2014/main" id="{F08F923A-BF44-4B85-B143-3447366D46F7}"/>
              </a:ext>
            </a:extLst>
          </p:cNvPr>
          <p:cNvSpPr>
            <a:spLocks xmlns:a="http://schemas.openxmlformats.org/drawingml/2006/main" noGrp="1"/>
          </p:cNvSpPr>
          <p:nvPr/>
        </p:nvSpPr>
        <p:spPr>
          <a:xfrm xmlns:a="http://schemas.openxmlformats.org/drawingml/2006/main">
            <a:off x="990600" y="26860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FFFFFF"/>
                </a:solidFill>
              </a:defRPr>
            </a:pPr>
            <a:r>
              <a:rPr sz="1350" b="0">
                <a:solidFill>
                  <a:srgbClr val="FFFFFF"/>
                </a:solidFill>
              </a:rPr>
              <a:t>/brand-guidelines.md</a:t>
            </a:r>
          </a:p>
        </p:txBody>
      </p:sp>
      <p:sp>
        <p:nvSpPr>
          <p:cNvPr id="9" name="">
            <a:extLst xmlns:a="http://schemas.openxmlformats.org/drawingml/2006/main">
              <a:ext uri="{FF2B5EF4-FFF2-40B4-BE49-F238E27FC236}">
                <a16:creationId xmlns:a16="http://schemas.microsoft.com/office/drawing/2014/main" id="{CA24A5F6-F67A-41E0-9F76-8E4D3B14CEB8}"/>
              </a:ext>
            </a:extLst>
          </p:cNvPr>
          <p:cNvSpPr>
            <a:spLocks xmlns:a="http://schemas.openxmlformats.org/drawingml/2006/main" noGrp="1"/>
          </p:cNvSpPr>
          <p:nvPr/>
        </p:nvSpPr>
        <p:spPr>
          <a:xfrm xmlns:a="http://schemas.openxmlformats.org/drawingml/2006/main">
            <a:off x="990600" y="30861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FFFFFF"/>
                </a:solidFill>
              </a:defRPr>
            </a:pPr>
            <a:r>
              <a:rPr sz="1350" b="0">
                <a:solidFill>
                  <a:srgbClr val="FFFFFF"/>
                </a:solidFill>
              </a:rPr>
              <a:t>/messaging-framework.md</a:t>
            </a:r>
          </a:p>
        </p:txBody>
      </p:sp>
      <p:sp>
        <p:nvSpPr>
          <p:cNvPr id="10" name="">
            <a:extLst xmlns:a="http://schemas.openxmlformats.org/drawingml/2006/main">
              <a:ext uri="{FF2B5EF4-FFF2-40B4-BE49-F238E27FC236}">
                <a16:creationId xmlns:a16="http://schemas.microsoft.com/office/drawing/2014/main" id="{8D6BA71C-E0CA-4959-B3E4-02848BDCA28B}"/>
              </a:ext>
            </a:extLst>
          </p:cNvPr>
          <p:cNvSpPr>
            <a:spLocks xmlns:a="http://schemas.openxmlformats.org/drawingml/2006/main" noGrp="1"/>
          </p:cNvSpPr>
          <p:nvPr/>
        </p:nvSpPr>
        <p:spPr>
          <a:xfrm xmlns:a="http://schemas.openxmlformats.org/drawingml/2006/main">
            <a:off x="990600" y="34861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FFFFFF"/>
                </a:solidFill>
              </a:defRPr>
            </a:pPr>
            <a:r>
              <a:rPr sz="1350" b="0">
                <a:solidFill>
                  <a:srgbClr val="FFFFFF"/>
                </a:solidFill>
              </a:rPr>
              <a:t>/icp.md</a:t>
            </a:r>
          </a:p>
        </p:txBody>
      </p:sp>
      <p:sp>
        <p:nvSpPr>
          <p:cNvPr id="11" name="">
            <a:extLst xmlns:a="http://schemas.openxmlformats.org/drawingml/2006/main">
              <a:ext uri="{FF2B5EF4-FFF2-40B4-BE49-F238E27FC236}">
                <a16:creationId xmlns:a16="http://schemas.microsoft.com/office/drawing/2014/main" id="{10C7C8B9-BDE2-4862-87B2-C35256EF53AD}"/>
              </a:ext>
            </a:extLst>
          </p:cNvPr>
          <p:cNvSpPr>
            <a:spLocks xmlns:a="http://schemas.openxmlformats.org/drawingml/2006/main" noGrp="1"/>
          </p:cNvSpPr>
          <p:nvPr/>
        </p:nvSpPr>
        <p:spPr>
          <a:xfrm xmlns:a="http://schemas.openxmlformats.org/drawingml/2006/main">
            <a:off x="990600" y="38862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FFFFFF"/>
                </a:solidFill>
              </a:defRPr>
            </a:pPr>
            <a:r>
              <a:rPr sz="1350" b="0">
                <a:solidFill>
                  <a:srgbClr val="FFFFFF"/>
                </a:solidFill>
              </a:rPr>
              <a:t>/personas.md</a:t>
            </a:r>
          </a:p>
        </p:txBody>
      </p:sp>
      <p:sp>
        <p:nvSpPr>
          <p:cNvPr id="12" name="">
            <a:extLst xmlns:a="http://schemas.openxmlformats.org/drawingml/2006/main">
              <a:ext uri="{FF2B5EF4-FFF2-40B4-BE49-F238E27FC236}">
                <a16:creationId xmlns:a16="http://schemas.microsoft.com/office/drawing/2014/main" id="{19C8A552-AEFC-481F-AACD-4FA4117CACDC}"/>
              </a:ext>
            </a:extLst>
          </p:cNvPr>
          <p:cNvSpPr>
            <a:spLocks xmlns:a="http://schemas.openxmlformats.org/drawingml/2006/main" noGrp="1"/>
          </p:cNvSpPr>
          <p:nvPr/>
        </p:nvSpPr>
        <p:spPr>
          <a:xfrm xmlns:a="http://schemas.openxmlformats.org/drawingml/2006/main">
            <a:off x="990600" y="42862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FFFFFF"/>
                </a:solidFill>
              </a:defRPr>
            </a:pPr>
            <a:r>
              <a:rPr sz="1350" b="0">
                <a:solidFill>
                  <a:srgbClr val="FFFFFF"/>
                </a:solidFill>
              </a:rPr>
              <a:t>/product-portfolio.md</a:t>
            </a:r>
          </a:p>
        </p:txBody>
      </p:sp>
      <p:sp>
        <p:nvSpPr>
          <p:cNvPr id="13" name="">
            <a:extLst xmlns:a="http://schemas.openxmlformats.org/drawingml/2006/main">
              <a:ext uri="{FF2B5EF4-FFF2-40B4-BE49-F238E27FC236}">
                <a16:creationId xmlns:a16="http://schemas.microsoft.com/office/drawing/2014/main" id="{DFADE5CE-8CD4-4429-A34C-1B42625609EA}"/>
              </a:ext>
            </a:extLst>
          </p:cNvPr>
          <p:cNvSpPr>
            <a:spLocks xmlns:a="http://schemas.openxmlformats.org/drawingml/2006/main" noGrp="1"/>
          </p:cNvSpPr>
          <p:nvPr/>
        </p:nvSpPr>
        <p:spPr>
          <a:xfrm xmlns:a="http://schemas.openxmlformats.org/drawingml/2006/main">
            <a:off x="990600" y="46863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FFFFFF"/>
                </a:solidFill>
              </a:defRPr>
            </a:pPr>
            <a:r>
              <a:rPr sz="1350" b="0">
                <a:solidFill>
                  <a:srgbClr val="FFFFFF"/>
                </a:solidFill>
              </a:rPr>
              <a:t>/proof-and-claims.md</a:t>
            </a:r>
          </a:p>
        </p:txBody>
      </p:sp>
      <p:sp>
        <p:nvSpPr>
          <p:cNvPr id="14" name="">
            <a:extLst xmlns:a="http://schemas.openxmlformats.org/drawingml/2006/main">
              <a:ext uri="{FF2B5EF4-FFF2-40B4-BE49-F238E27FC236}">
                <a16:creationId xmlns:a16="http://schemas.microsoft.com/office/drawing/2014/main" id="{4C71ECEC-8742-488E-B3E6-0975BA808FD4}"/>
              </a:ext>
            </a:extLst>
          </p:cNvPr>
          <p:cNvSpPr>
            <a:spLocks xmlns:a="http://schemas.openxmlformats.org/drawingml/2006/main" noGrp="1"/>
          </p:cNvSpPr>
          <p:nvPr/>
        </p:nvSpPr>
        <p:spPr>
          <a:xfrm xmlns:a="http://schemas.openxmlformats.org/drawingml/2006/main">
            <a:off x="990600" y="50863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C7F25C"/>
                </a:solidFill>
              </a:defRPr>
            </a:pPr>
            <a:r>
              <a:rPr sz="1350" b="1">
                <a:solidFill>
                  <a:srgbClr val="C7F25C"/>
                </a:solidFill>
              </a:rPr>
              <a:t>/source-manifest.md</a:t>
            </a:r>
          </a:p>
        </p:txBody>
      </p:sp>
      <p:sp>
        <p:nvSpPr>
          <p:cNvPr id="15" name="">
            <a:extLst xmlns:a="http://schemas.openxmlformats.org/drawingml/2006/main">
              <a:ext uri="{FF2B5EF4-FFF2-40B4-BE49-F238E27FC236}">
                <a16:creationId xmlns:a16="http://schemas.microsoft.com/office/drawing/2014/main" id="{680F053E-1B88-42BA-AE6C-445B125F674C}"/>
              </a:ext>
            </a:extLst>
          </p:cNvPr>
          <p:cNvSpPr>
            <a:spLocks xmlns:a="http://schemas.openxmlformats.org/drawingml/2006/main" noGrp="1"/>
          </p:cNvSpPr>
          <p:nvPr/>
        </p:nvSpPr>
        <p:spPr>
          <a:xfrm xmlns:a="http://schemas.openxmlformats.org/drawingml/2006/main">
            <a:off x="6286500" y="21336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COMPANY BRAIN</a:t>
            </a:r>
          </a:p>
        </p:txBody>
      </p:sp>
      <p:sp>
        <p:nvSpPr>
          <p:cNvPr id="16" name="">
            <a:extLst xmlns:a="http://schemas.openxmlformats.org/drawingml/2006/main">
              <a:ext uri="{FF2B5EF4-FFF2-40B4-BE49-F238E27FC236}">
                <a16:creationId xmlns:a16="http://schemas.microsoft.com/office/drawing/2014/main" id="{F5ADC7A0-FCD0-40A3-90CA-FF1D57B94D46}"/>
              </a:ext>
            </a:extLst>
          </p:cNvPr>
          <p:cNvSpPr>
            <a:spLocks xmlns:a="http://schemas.openxmlformats.org/drawingml/2006/main" noGrp="1"/>
          </p:cNvSpPr>
          <p:nvPr/>
        </p:nvSpPr>
        <p:spPr>
          <a:xfrm xmlns:a="http://schemas.openxmlformats.org/drawingml/2006/main">
            <a:off x="8477250" y="21336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Durable approved knowledge</a:t>
            </a:r>
          </a:p>
        </p:txBody>
      </p:sp>
      <p:sp>
        <p:nvSpPr>
          <p:cNvPr id="17" name="">
            <a:extLst xmlns:a="http://schemas.openxmlformats.org/drawingml/2006/main">
              <a:ext uri="{FF2B5EF4-FFF2-40B4-BE49-F238E27FC236}">
                <a16:creationId xmlns:a16="http://schemas.microsoft.com/office/drawing/2014/main" id="{0B2A094A-4356-4B76-9597-FBC4521C485B}"/>
              </a:ext>
            </a:extLst>
          </p:cNvPr>
          <p:cNvSpPr>
            <a:spLocks xmlns:a="http://schemas.openxmlformats.org/drawingml/2006/main" noGrp="1"/>
          </p:cNvSpPr>
          <p:nvPr/>
        </p:nvSpPr>
        <p:spPr>
          <a:xfrm xmlns:a="http://schemas.openxmlformats.org/drawingml/2006/main">
            <a:off x="6286500" y="28384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REPOSITORY</a:t>
            </a:r>
          </a:p>
        </p:txBody>
      </p:sp>
      <p:sp>
        <p:nvSpPr>
          <p:cNvPr id="18" name="">
            <a:extLst xmlns:a="http://schemas.openxmlformats.org/drawingml/2006/main">
              <a:ext uri="{FF2B5EF4-FFF2-40B4-BE49-F238E27FC236}">
                <a16:creationId xmlns:a16="http://schemas.microsoft.com/office/drawing/2014/main" id="{DA5FC0BE-3861-41B2-AC54-0157B9079833}"/>
              </a:ext>
            </a:extLst>
          </p:cNvPr>
          <p:cNvSpPr>
            <a:spLocks xmlns:a="http://schemas.openxmlformats.org/drawingml/2006/main" noGrp="1"/>
          </p:cNvSpPr>
          <p:nvPr/>
        </p:nvSpPr>
        <p:spPr>
          <a:xfrm xmlns:a="http://schemas.openxmlformats.org/drawingml/2006/main">
            <a:off x="8477250" y="28384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Versioning, review, portability</a:t>
            </a:r>
          </a:p>
        </p:txBody>
      </p:sp>
      <p:sp>
        <p:nvSpPr>
          <p:cNvPr id="19" name="">
            <a:extLst xmlns:a="http://schemas.openxmlformats.org/drawingml/2006/main">
              <a:ext uri="{FF2B5EF4-FFF2-40B4-BE49-F238E27FC236}">
                <a16:creationId xmlns:a16="http://schemas.microsoft.com/office/drawing/2014/main" id="{6CF06A75-CCAA-4C20-9B72-513B04DD9A98}"/>
              </a:ext>
            </a:extLst>
          </p:cNvPr>
          <p:cNvSpPr>
            <a:spLocks xmlns:a="http://schemas.openxmlformats.org/drawingml/2006/main" noGrp="1"/>
          </p:cNvSpPr>
          <p:nvPr/>
        </p:nvSpPr>
        <p:spPr>
          <a:xfrm xmlns:a="http://schemas.openxmlformats.org/drawingml/2006/main">
            <a:off x="6286500" y="3543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SHARED MEMORY</a:t>
            </a:r>
          </a:p>
        </p:txBody>
      </p:sp>
      <p:sp>
        <p:nvSpPr>
          <p:cNvPr id="20" name="">
            <a:extLst xmlns:a="http://schemas.openxmlformats.org/drawingml/2006/main">
              <a:ext uri="{FF2B5EF4-FFF2-40B4-BE49-F238E27FC236}">
                <a16:creationId xmlns:a16="http://schemas.microsoft.com/office/drawing/2014/main" id="{48641B92-3634-4FD9-8E1B-7E4E1D39DF05}"/>
              </a:ext>
            </a:extLst>
          </p:cNvPr>
          <p:cNvSpPr>
            <a:spLocks xmlns:a="http://schemas.openxmlformats.org/drawingml/2006/main" noGrp="1"/>
          </p:cNvSpPr>
          <p:nvPr/>
        </p:nvSpPr>
        <p:spPr>
          <a:xfrm xmlns:a="http://schemas.openxmlformats.org/drawingml/2006/main">
            <a:off x="8477250" y="35433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What carries across runs</a:t>
            </a:r>
          </a:p>
        </p:txBody>
      </p:sp>
      <p:sp>
        <p:nvSpPr>
          <p:cNvPr id="21" name="">
            <a:extLst xmlns:a="http://schemas.openxmlformats.org/drawingml/2006/main">
              <a:ext uri="{FF2B5EF4-FFF2-40B4-BE49-F238E27FC236}">
                <a16:creationId xmlns:a16="http://schemas.microsoft.com/office/drawing/2014/main" id="{F666F4FE-0F3F-4D5C-9E0F-9505373FE168}"/>
              </a:ext>
            </a:extLst>
          </p:cNvPr>
          <p:cNvSpPr>
            <a:spLocks xmlns:a="http://schemas.openxmlformats.org/drawingml/2006/main" noGrp="1"/>
          </p:cNvSpPr>
          <p:nvPr/>
        </p:nvSpPr>
        <p:spPr>
          <a:xfrm xmlns:a="http://schemas.openxmlformats.org/drawingml/2006/main">
            <a:off x="6286500" y="4248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CURRENT STATE</a:t>
            </a:r>
          </a:p>
        </p:txBody>
      </p:sp>
      <p:sp>
        <p:nvSpPr>
          <p:cNvPr id="22" name="">
            <a:extLst xmlns:a="http://schemas.openxmlformats.org/drawingml/2006/main">
              <a:ext uri="{FF2B5EF4-FFF2-40B4-BE49-F238E27FC236}">
                <a16:creationId xmlns:a16="http://schemas.microsoft.com/office/drawing/2014/main" id="{C0FEA02E-AA19-405D-8568-5D9CC72BA789}"/>
              </a:ext>
            </a:extLst>
          </p:cNvPr>
          <p:cNvSpPr>
            <a:spLocks xmlns:a="http://schemas.openxmlformats.org/drawingml/2006/main" noGrp="1"/>
          </p:cNvSpPr>
          <p:nvPr/>
        </p:nvSpPr>
        <p:spPr>
          <a:xfrm xmlns:a="http://schemas.openxmlformats.org/drawingml/2006/main">
            <a:off x="8477250" y="42481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What this job knows now</a:t>
            </a:r>
          </a:p>
        </p:txBody>
      </p:sp>
      <p:sp>
        <p:nvSpPr>
          <p:cNvPr id="23" name="">
            <a:extLst xmlns:a="http://schemas.openxmlformats.org/drawingml/2006/main">
              <a:ext uri="{FF2B5EF4-FFF2-40B4-BE49-F238E27FC236}">
                <a16:creationId xmlns:a16="http://schemas.microsoft.com/office/drawing/2014/main" id="{7B40237B-DEBB-4FE8-A198-C6E477D745CE}"/>
              </a:ext>
            </a:extLst>
          </p:cNvPr>
          <p:cNvSpPr>
            <a:spLocks xmlns:a="http://schemas.openxmlformats.org/drawingml/2006/main" noGrp="1"/>
          </p:cNvSpPr>
          <p:nvPr/>
        </p:nvSpPr>
        <p:spPr>
          <a:xfrm xmlns:a="http://schemas.openxmlformats.org/drawingml/2006/main">
            <a:off x="6286500" y="49530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SCOPED ACCESS</a:t>
            </a:r>
          </a:p>
        </p:txBody>
      </p:sp>
      <p:sp>
        <p:nvSpPr>
          <p:cNvPr id="24" name="">
            <a:extLst xmlns:a="http://schemas.openxmlformats.org/drawingml/2006/main">
              <a:ext uri="{FF2B5EF4-FFF2-40B4-BE49-F238E27FC236}">
                <a16:creationId xmlns:a16="http://schemas.microsoft.com/office/drawing/2014/main" id="{3540E210-C9A5-445F-A65D-D669FD7E46F4}"/>
              </a:ext>
            </a:extLst>
          </p:cNvPr>
          <p:cNvSpPr>
            <a:spLocks xmlns:a="http://schemas.openxmlformats.org/drawingml/2006/main" noGrp="1"/>
          </p:cNvSpPr>
          <p:nvPr/>
        </p:nvSpPr>
        <p:spPr>
          <a:xfrm xmlns:a="http://schemas.openxmlformats.org/drawingml/2006/main">
            <a:off x="8477250" y="49530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Only what role and task require</a:t>
            </a:r>
          </a:p>
        </p:txBody>
      </p:sp>
      <p:sp>
        <p:nvSpPr>
          <p:cNvPr id="25" name="">
            <a:extLst xmlns:a="http://schemas.openxmlformats.org/drawingml/2006/main">
              <a:ext uri="{FF2B5EF4-FFF2-40B4-BE49-F238E27FC236}">
                <a16:creationId xmlns:a16="http://schemas.microsoft.com/office/drawing/2014/main" id="{9A34C283-7AAD-44AE-9F0D-15420FAF7EAF}"/>
              </a:ext>
            </a:extLst>
          </p:cNvPr>
          <p:cNvSpPr>
            <a:spLocks xmlns:a="http://schemas.openxmlformats.org/drawingml/2006/main" noGrp="1"/>
          </p:cNvSpPr>
          <p:nvPr/>
        </p:nvSpPr>
        <p:spPr>
          <a:xfrm xmlns:a="http://schemas.openxmlformats.org/drawingml/2006/main">
            <a:off x="6286500" y="567690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3D1F5C"/>
                </a:solidFill>
              </a:defRPr>
            </a:pPr>
            <a:r>
              <a:rPr sz="1350" b="1">
                <a:solidFill>
                  <a:srgbClr val="3D1F5C"/>
                </a:solidFill>
              </a:rPr>
              <a:t>GitHub versions the brain. A vault carries memory. Neither grants blanket access.</a:t>
            </a:r>
          </a:p>
        </p:txBody>
      </p:sp>
    </p:spTree>
    <p:extLst>
      <p:ext uri="{BB962C8B-B14F-4D97-AF65-F5344CB8AC3E}">
        <p14:creationId xmlns:p14="http://schemas.microsoft.com/office/powerpoint/2010/main" val="2097130580"/>
      </p:ext>
    </p:extLst>
  </p:cSld>
</p:sld>
</file>

<file path=ppt/slides/slide9.xml><?xml version="1.0" encoding="utf-8"?>
<p:sld xmlns:p="http://schemas.openxmlformats.org/presentationml/2006/main">
  <p:cSld>
    <p:bg>
      <p:bgPr>
        <a:solidFill xmlns:a="http://schemas.openxmlformats.org/drawingml/2006/main">
          <a:srgbClr val="2B123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F9050DBF-86A9-4253-A14D-241EB1F8E7E0}"/>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26950C46-BC0F-495A-9397-92F4C32AC969}"/>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5EA2B0F-35AF-4091-A2A4-2AF26A54A8EA}"/>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FFFFFF"/>
                </a:solidFill>
              </a:defRPr>
            </a:pPr>
            <a:r>
              <a:rPr sz="3150" b="1">
                <a:solidFill>
                  <a:srgbClr val="FFFFFF"/>
                </a:solidFill>
              </a:rPr>
              <a:t>The company gives you the van. You bring the tools.</a:t>
            </a:r>
          </a:p>
        </p:txBody>
      </p:sp>
      <p:sp>
        <p:nvSpPr>
          <p:cNvPr id="4" name="">
            <a:extLst xmlns:a="http://schemas.openxmlformats.org/drawingml/2006/main">
              <a:ext uri="{FF2B5EF4-FFF2-40B4-BE49-F238E27FC236}">
                <a16:creationId xmlns:a16="http://schemas.microsoft.com/office/drawing/2014/main" id="{F4585F56-8D30-4517-A693-9E6D6935C3D6}"/>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EAE3EC"/>
                </a:solidFill>
              </a:defRPr>
            </a:pPr>
            <a:r>
              <a:rPr sz="750" b="1">
                <a:solidFill>
                  <a:srgbClr val="EAE3EC"/>
                </a:solidFill>
              </a:rPr>
              <a:t>FORGEX  |  AI FOR ABM</a:t>
            </a:r>
          </a:p>
        </p:txBody>
      </p:sp>
      <p:sp>
        <p:nvSpPr>
          <p:cNvPr id="5" name="">
            <a:extLst xmlns:a="http://schemas.openxmlformats.org/drawingml/2006/main">
              <a:ext uri="{FF2B5EF4-FFF2-40B4-BE49-F238E27FC236}">
                <a16:creationId xmlns:a16="http://schemas.microsoft.com/office/drawing/2014/main" id="{F145889B-C697-4D82-B72B-A23991506473}"/>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C7F25C"/>
                </a:solidFill>
              </a:defRPr>
            </a:pPr>
            <a:r>
              <a:rPr sz="825" b="1">
                <a:solidFill>
                  <a:srgbClr val="C7F25C"/>
                </a:solidFill>
              </a:rPr>
              <a:t>9</a:t>
            </a:r>
          </a:p>
        </p:txBody>
      </p:sp>
      <p:sp>
        <p:nvSpPr>
          <p:cNvPr id="6" name="">
            <a:extLst xmlns:a="http://schemas.openxmlformats.org/drawingml/2006/main">
              <a:ext uri="{FF2B5EF4-FFF2-40B4-BE49-F238E27FC236}">
                <a16:creationId xmlns:a16="http://schemas.microsoft.com/office/drawing/2014/main" id="{241E8142-3820-4B70-B31E-01255835007D}"/>
              </a:ext>
            </a:extLst>
          </p:cNvPr>
          <p:cNvSpPr>
            <a:spLocks xmlns:a="http://schemas.openxmlformats.org/drawingml/2006/main" noGrp="1"/>
          </p:cNvSpPr>
          <p:nvPr/>
        </p:nvSpPr>
        <p:spPr>
          <a:xfrm xmlns:a="http://schemas.openxmlformats.org/drawingml/2006/main">
            <a:off x="742950" y="20002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THE FIXTURES CHANGE</a:t>
            </a:r>
          </a:p>
        </p:txBody>
      </p:sp>
      <p:sp>
        <p:nvSpPr>
          <p:cNvPr id="7" name="">
            <a:extLst xmlns:a="http://schemas.openxmlformats.org/drawingml/2006/main">
              <a:ext uri="{FF2B5EF4-FFF2-40B4-BE49-F238E27FC236}">
                <a16:creationId xmlns:a16="http://schemas.microsoft.com/office/drawing/2014/main" id="{CFEDA6E8-04B4-4A3E-ABC7-A63BD00BA8E3}"/>
              </a:ext>
            </a:extLst>
          </p:cNvPr>
          <p:cNvSpPr>
            <a:spLocks xmlns:a="http://schemas.openxmlformats.org/drawingml/2006/main" noGrp="1"/>
          </p:cNvSpPr>
          <p:nvPr/>
        </p:nvSpPr>
        <p:spPr>
          <a:xfrm xmlns:a="http://schemas.openxmlformats.org/drawingml/2006/main">
            <a:off x="742950" y="2400300"/>
            <a:ext cx="2190750" cy="742950"/>
          </a:xfrm>
          <a:prstGeom xmlns:a="http://schemas.openxmlformats.org/drawingml/2006/main" prst="roundRect">
            <a:avLst>
              <a:gd name="adj" fmla="val 10256"/>
            </a:avLst>
          </a:prstGeom>
          <a:solidFill xmlns:a="http://schemas.openxmlformats.org/drawingml/2006/main">
            <a:srgbClr val="0B0B0F"/>
          </a:solidFill>
          <a:ln xmlns:a="http://schemas.openxmlformats.org/drawingml/2006/main" w="19050">
            <a:solidFill>
              <a:srgbClr val="E63888"/>
            </a:solidFill>
            <a:prstDash val="solid"/>
          </a:ln>
        </p:spPr>
      </p:sp>
      <p:sp>
        <p:nvSpPr>
          <p:cNvPr id="8" name="">
            <a:extLst xmlns:a="http://schemas.openxmlformats.org/drawingml/2006/main">
              <a:ext uri="{FF2B5EF4-FFF2-40B4-BE49-F238E27FC236}">
                <a16:creationId xmlns:a16="http://schemas.microsoft.com/office/drawing/2014/main" id="{E6725B75-2E0D-46FB-B61C-017A373BE2F5}"/>
              </a:ext>
            </a:extLst>
          </p:cNvPr>
          <p:cNvSpPr>
            <a:spLocks xmlns:a="http://schemas.openxmlformats.org/drawingml/2006/main" noGrp="1"/>
          </p:cNvSpPr>
          <p:nvPr/>
        </p:nvSpPr>
        <p:spPr>
          <a:xfrm xmlns:a="http://schemas.openxmlformats.org/drawingml/2006/main">
            <a:off x="857250" y="26098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FFFFF"/>
                </a:solidFill>
              </a:defRPr>
            </a:pPr>
            <a:r>
              <a:rPr sz="1500" b="1">
                <a:solidFill>
                  <a:srgbClr val="FFFFFF"/>
                </a:solidFill>
              </a:rPr>
              <a:t>MODELS</a:t>
            </a:r>
          </a:p>
        </p:txBody>
      </p:sp>
      <p:sp>
        <p:nvSpPr>
          <p:cNvPr id="9" name="">
            <a:extLst xmlns:a="http://schemas.openxmlformats.org/drawingml/2006/main">
              <a:ext uri="{FF2B5EF4-FFF2-40B4-BE49-F238E27FC236}">
                <a16:creationId xmlns:a16="http://schemas.microsoft.com/office/drawing/2014/main" id="{4917CF96-C2DB-4A20-8689-0D82CB43E0BA}"/>
              </a:ext>
            </a:extLst>
          </p:cNvPr>
          <p:cNvSpPr>
            <a:spLocks xmlns:a="http://schemas.openxmlformats.org/drawingml/2006/main" noGrp="1"/>
          </p:cNvSpPr>
          <p:nvPr/>
        </p:nvSpPr>
        <p:spPr>
          <a:xfrm xmlns:a="http://schemas.openxmlformats.org/drawingml/2006/main">
            <a:off x="3409950" y="2400300"/>
            <a:ext cx="2190750" cy="742950"/>
          </a:xfrm>
          <a:prstGeom xmlns:a="http://schemas.openxmlformats.org/drawingml/2006/main" prst="roundRect">
            <a:avLst>
              <a:gd name="adj" fmla="val 10256"/>
            </a:avLst>
          </a:prstGeom>
          <a:solidFill xmlns:a="http://schemas.openxmlformats.org/drawingml/2006/main">
            <a:srgbClr val="0B0B0F"/>
          </a:solidFill>
          <a:ln xmlns:a="http://schemas.openxmlformats.org/drawingml/2006/main" w="19050">
            <a:solidFill>
              <a:srgbClr val="E63888"/>
            </a:solidFill>
            <a:prstDash val="solid"/>
          </a:ln>
        </p:spPr>
      </p:sp>
      <p:sp>
        <p:nvSpPr>
          <p:cNvPr id="10" name="">
            <a:extLst xmlns:a="http://schemas.openxmlformats.org/drawingml/2006/main">
              <a:ext uri="{FF2B5EF4-FFF2-40B4-BE49-F238E27FC236}">
                <a16:creationId xmlns:a16="http://schemas.microsoft.com/office/drawing/2014/main" id="{798E075F-0438-4C61-BC1F-F6BDB7353BC0}"/>
              </a:ext>
            </a:extLst>
          </p:cNvPr>
          <p:cNvSpPr>
            <a:spLocks xmlns:a="http://schemas.openxmlformats.org/drawingml/2006/main" noGrp="1"/>
          </p:cNvSpPr>
          <p:nvPr/>
        </p:nvSpPr>
        <p:spPr>
          <a:xfrm xmlns:a="http://schemas.openxmlformats.org/drawingml/2006/main">
            <a:off x="3524250" y="26098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FFFFF"/>
                </a:solidFill>
              </a:defRPr>
            </a:pPr>
            <a:r>
              <a:rPr sz="1500" b="1">
                <a:solidFill>
                  <a:srgbClr val="FFFFFF"/>
                </a:solidFill>
              </a:rPr>
              <a:t>HARNESSES</a:t>
            </a:r>
          </a:p>
        </p:txBody>
      </p:sp>
      <p:sp>
        <p:nvSpPr>
          <p:cNvPr id="11" name="">
            <a:extLst xmlns:a="http://schemas.openxmlformats.org/drawingml/2006/main">
              <a:ext uri="{FF2B5EF4-FFF2-40B4-BE49-F238E27FC236}">
                <a16:creationId xmlns:a16="http://schemas.microsoft.com/office/drawing/2014/main" id="{F832EB18-F79E-4CE6-BF96-C1FB70BE5EDC}"/>
              </a:ext>
            </a:extLst>
          </p:cNvPr>
          <p:cNvSpPr>
            <a:spLocks xmlns:a="http://schemas.openxmlformats.org/drawingml/2006/main" noGrp="1"/>
          </p:cNvSpPr>
          <p:nvPr/>
        </p:nvSpPr>
        <p:spPr>
          <a:xfrm xmlns:a="http://schemas.openxmlformats.org/drawingml/2006/main">
            <a:off x="6076950" y="2400300"/>
            <a:ext cx="2190750" cy="742950"/>
          </a:xfrm>
          <a:prstGeom xmlns:a="http://schemas.openxmlformats.org/drawingml/2006/main" prst="roundRect">
            <a:avLst>
              <a:gd name="adj" fmla="val 10256"/>
            </a:avLst>
          </a:prstGeom>
          <a:solidFill xmlns:a="http://schemas.openxmlformats.org/drawingml/2006/main">
            <a:srgbClr val="0B0B0F"/>
          </a:solidFill>
          <a:ln xmlns:a="http://schemas.openxmlformats.org/drawingml/2006/main" w="19050">
            <a:solidFill>
              <a:srgbClr val="E63888"/>
            </a:solidFill>
            <a:prstDash val="solid"/>
          </a:ln>
        </p:spPr>
      </p:sp>
      <p:sp>
        <p:nvSpPr>
          <p:cNvPr id="12" name="">
            <a:extLst xmlns:a="http://schemas.openxmlformats.org/drawingml/2006/main">
              <a:ext uri="{FF2B5EF4-FFF2-40B4-BE49-F238E27FC236}">
                <a16:creationId xmlns:a16="http://schemas.microsoft.com/office/drawing/2014/main" id="{4DF162E3-4476-4691-A7D7-156811437C6A}"/>
              </a:ext>
            </a:extLst>
          </p:cNvPr>
          <p:cNvSpPr>
            <a:spLocks xmlns:a="http://schemas.openxmlformats.org/drawingml/2006/main" noGrp="1"/>
          </p:cNvSpPr>
          <p:nvPr/>
        </p:nvSpPr>
        <p:spPr>
          <a:xfrm xmlns:a="http://schemas.openxmlformats.org/drawingml/2006/main">
            <a:off x="6191250" y="26098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FFFFF"/>
                </a:solidFill>
              </a:defRPr>
            </a:pPr>
            <a:r>
              <a:rPr sz="1500" b="1">
                <a:solidFill>
                  <a:srgbClr val="FFFFFF"/>
                </a:solidFill>
              </a:rPr>
              <a:t>DATA + APIS</a:t>
            </a:r>
          </a:p>
        </p:txBody>
      </p:sp>
      <p:sp>
        <p:nvSpPr>
          <p:cNvPr id="13" name="">
            <a:extLst xmlns:a="http://schemas.openxmlformats.org/drawingml/2006/main">
              <a:ext uri="{FF2B5EF4-FFF2-40B4-BE49-F238E27FC236}">
                <a16:creationId xmlns:a16="http://schemas.microsoft.com/office/drawing/2014/main" id="{5B279958-071A-4917-B654-FCCBD88C33AD}"/>
              </a:ext>
            </a:extLst>
          </p:cNvPr>
          <p:cNvSpPr>
            <a:spLocks xmlns:a="http://schemas.openxmlformats.org/drawingml/2006/main" noGrp="1"/>
          </p:cNvSpPr>
          <p:nvPr/>
        </p:nvSpPr>
        <p:spPr>
          <a:xfrm xmlns:a="http://schemas.openxmlformats.org/drawingml/2006/main">
            <a:off x="8743950" y="2400300"/>
            <a:ext cx="2190750" cy="742950"/>
          </a:xfrm>
          <a:prstGeom xmlns:a="http://schemas.openxmlformats.org/drawingml/2006/main" prst="roundRect">
            <a:avLst>
              <a:gd name="adj" fmla="val 10256"/>
            </a:avLst>
          </a:prstGeom>
          <a:solidFill xmlns:a="http://schemas.openxmlformats.org/drawingml/2006/main">
            <a:srgbClr val="0B0B0F"/>
          </a:solidFill>
          <a:ln xmlns:a="http://schemas.openxmlformats.org/drawingml/2006/main" w="19050">
            <a:solidFill>
              <a:srgbClr val="E63888"/>
            </a:solidFill>
            <a:prstDash val="solid"/>
          </a:ln>
        </p:spPr>
      </p:sp>
      <p:sp>
        <p:nvSpPr>
          <p:cNvPr id="14" name="">
            <a:extLst xmlns:a="http://schemas.openxmlformats.org/drawingml/2006/main">
              <a:ext uri="{FF2B5EF4-FFF2-40B4-BE49-F238E27FC236}">
                <a16:creationId xmlns:a16="http://schemas.microsoft.com/office/drawing/2014/main" id="{01963049-18D3-4B48-B3B7-BE1564372347}"/>
              </a:ext>
            </a:extLst>
          </p:cNvPr>
          <p:cNvSpPr>
            <a:spLocks xmlns:a="http://schemas.openxmlformats.org/drawingml/2006/main" noGrp="1"/>
          </p:cNvSpPr>
          <p:nvPr/>
        </p:nvSpPr>
        <p:spPr>
          <a:xfrm xmlns:a="http://schemas.openxmlformats.org/drawingml/2006/main">
            <a:off x="8858250" y="26098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FFFFF"/>
                </a:solidFill>
              </a:defRPr>
            </a:pPr>
            <a:r>
              <a:rPr sz="1500" b="1">
                <a:solidFill>
                  <a:srgbClr val="FFFFFF"/>
                </a:solidFill>
              </a:rPr>
              <a:t>EMPLOYERS</a:t>
            </a:r>
          </a:p>
        </p:txBody>
      </p:sp>
      <p:sp>
        <p:nvSpPr>
          <p:cNvPr id="15" name="">
            <a:extLst xmlns:a="http://schemas.openxmlformats.org/drawingml/2006/main">
              <a:ext uri="{FF2B5EF4-FFF2-40B4-BE49-F238E27FC236}">
                <a16:creationId xmlns:a16="http://schemas.microsoft.com/office/drawing/2014/main" id="{92F2EC87-A3D4-4DA4-8AFC-2443F6FD5FE3}"/>
              </a:ext>
            </a:extLst>
          </p:cNvPr>
          <p:cNvSpPr>
            <a:spLocks xmlns:a="http://schemas.openxmlformats.org/drawingml/2006/main" noGrp="1"/>
          </p:cNvSpPr>
          <p:nvPr/>
        </p:nvSpPr>
        <p:spPr>
          <a:xfrm xmlns:a="http://schemas.openxmlformats.org/drawingml/2006/main">
            <a:off x="1143000" y="3486150"/>
            <a:ext cx="9906000" cy="76200"/>
          </a:xfrm>
          <a:prstGeom xmlns:a="http://schemas.openxmlformats.org/drawingml/2006/main" prst="roundRect">
            <a:avLst>
              <a:gd name="adj" fmla="val 50000"/>
            </a:avLst>
          </a:prstGeom>
          <a:solidFill xmlns:a="http://schemas.openxmlformats.org/drawingml/2006/main">
            <a:srgbClr val="E6388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DAD8C28-8C78-444F-BF59-8E53892A9D4A}"/>
              </a:ext>
            </a:extLst>
          </p:cNvPr>
          <p:cNvSpPr>
            <a:spLocks xmlns:a="http://schemas.openxmlformats.org/drawingml/2006/main" noGrp="1"/>
          </p:cNvSpPr>
          <p:nvPr/>
        </p:nvSpPr>
        <p:spPr>
          <a:xfrm xmlns:a="http://schemas.openxmlformats.org/drawingml/2006/main">
            <a:off x="1847850" y="3124200"/>
            <a:ext cx="76200" cy="762000"/>
          </a:xfrm>
          <a:prstGeom xmlns:a="http://schemas.openxmlformats.org/drawingml/2006/main" prst="roundRect">
            <a:avLst>
              <a:gd name="adj" fmla="val 50000"/>
            </a:avLst>
          </a:prstGeom>
          <a:solidFill xmlns:a="http://schemas.openxmlformats.org/drawingml/2006/main">
            <a:srgbClr val="E6388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1D71CDC-9E81-4094-9FB7-45F29383F1B3}"/>
              </a:ext>
            </a:extLst>
          </p:cNvPr>
          <p:cNvSpPr>
            <a:spLocks xmlns:a="http://schemas.openxmlformats.org/drawingml/2006/main" noGrp="1"/>
          </p:cNvSpPr>
          <p:nvPr/>
        </p:nvSpPr>
        <p:spPr>
          <a:xfrm xmlns:a="http://schemas.openxmlformats.org/drawingml/2006/main">
            <a:off x="4514850" y="3124200"/>
            <a:ext cx="76200" cy="762000"/>
          </a:xfrm>
          <a:prstGeom xmlns:a="http://schemas.openxmlformats.org/drawingml/2006/main" prst="roundRect">
            <a:avLst>
              <a:gd name="adj" fmla="val 50000"/>
            </a:avLst>
          </a:prstGeom>
          <a:solidFill xmlns:a="http://schemas.openxmlformats.org/drawingml/2006/main">
            <a:srgbClr val="E6388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8EBA0F7-AE63-4FFD-B5C1-655B154B580E}"/>
              </a:ext>
            </a:extLst>
          </p:cNvPr>
          <p:cNvSpPr>
            <a:spLocks xmlns:a="http://schemas.openxmlformats.org/drawingml/2006/main" noGrp="1"/>
          </p:cNvSpPr>
          <p:nvPr/>
        </p:nvSpPr>
        <p:spPr>
          <a:xfrm xmlns:a="http://schemas.openxmlformats.org/drawingml/2006/main">
            <a:off x="7181850" y="3124200"/>
            <a:ext cx="76200" cy="762000"/>
          </a:xfrm>
          <a:prstGeom xmlns:a="http://schemas.openxmlformats.org/drawingml/2006/main" prst="roundRect">
            <a:avLst>
              <a:gd name="adj" fmla="val 50000"/>
            </a:avLst>
          </a:prstGeom>
          <a:solidFill xmlns:a="http://schemas.openxmlformats.org/drawingml/2006/main">
            <a:srgbClr val="E6388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49A3923-7468-46F2-8D74-7D767B734C9B}"/>
              </a:ext>
            </a:extLst>
          </p:cNvPr>
          <p:cNvSpPr>
            <a:spLocks xmlns:a="http://schemas.openxmlformats.org/drawingml/2006/main" noGrp="1"/>
          </p:cNvSpPr>
          <p:nvPr/>
        </p:nvSpPr>
        <p:spPr>
          <a:xfrm xmlns:a="http://schemas.openxmlformats.org/drawingml/2006/main">
            <a:off x="9848850" y="3124200"/>
            <a:ext cx="76200" cy="762000"/>
          </a:xfrm>
          <a:prstGeom xmlns:a="http://schemas.openxmlformats.org/drawingml/2006/main" prst="roundRect">
            <a:avLst>
              <a:gd name="adj" fmla="val 50000"/>
            </a:avLst>
          </a:prstGeom>
          <a:solidFill xmlns:a="http://schemas.openxmlformats.org/drawingml/2006/main">
            <a:srgbClr val="E6388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2DC3542-995F-4FE9-9230-6A121146E84B}"/>
              </a:ext>
            </a:extLst>
          </p:cNvPr>
          <p:cNvSpPr>
            <a:spLocks xmlns:a="http://schemas.openxmlformats.org/drawingml/2006/main" noGrp="1"/>
          </p:cNvSpPr>
          <p:nvPr/>
        </p:nvSpPr>
        <p:spPr>
          <a:xfrm xmlns:a="http://schemas.openxmlformats.org/drawingml/2006/main">
            <a:off x="742950" y="39624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THE CRAFT COMPOUNDS</a:t>
            </a:r>
          </a:p>
        </p:txBody>
      </p:sp>
      <p:sp>
        <p:nvSpPr>
          <p:cNvPr id="21" name="">
            <a:extLst xmlns:a="http://schemas.openxmlformats.org/drawingml/2006/main">
              <a:ext uri="{FF2B5EF4-FFF2-40B4-BE49-F238E27FC236}">
                <a16:creationId xmlns:a16="http://schemas.microsoft.com/office/drawing/2014/main" id="{7898DB99-3BF4-4509-BED7-2597D9434664}"/>
              </a:ext>
            </a:extLst>
          </p:cNvPr>
          <p:cNvSpPr>
            <a:spLocks xmlns:a="http://schemas.openxmlformats.org/drawingml/2006/main" noGrp="1"/>
          </p:cNvSpPr>
          <p:nvPr/>
        </p:nvSpPr>
        <p:spPr>
          <a:xfrm xmlns:a="http://schemas.openxmlformats.org/drawingml/2006/main">
            <a:off x="742950" y="4438650"/>
            <a:ext cx="1619250" cy="876300"/>
          </a:xfrm>
          <a:prstGeom xmlns:a="http://schemas.openxmlformats.org/drawingml/2006/main" prst="roundRect">
            <a:avLst>
              <a:gd name="adj" fmla="val 8696"/>
            </a:avLst>
          </a:prstGeom>
          <a:solidFill xmlns:a="http://schemas.openxmlformats.org/drawingml/2006/main">
            <a:srgbClr val="3D1F5C"/>
          </a:solidFill>
          <a:ln xmlns:a="http://schemas.openxmlformats.org/drawingml/2006/main" w="19050">
            <a:solidFill>
              <a:srgbClr val="C7F25C"/>
            </a:solidFill>
            <a:prstDash val="solid"/>
          </a:ln>
        </p:spPr>
      </p:sp>
      <p:sp>
        <p:nvSpPr>
          <p:cNvPr id="22" name="">
            <a:extLst xmlns:a="http://schemas.openxmlformats.org/drawingml/2006/main">
              <a:ext uri="{FF2B5EF4-FFF2-40B4-BE49-F238E27FC236}">
                <a16:creationId xmlns:a16="http://schemas.microsoft.com/office/drawing/2014/main" id="{C196FFB7-63DC-4C13-A9F0-6D79B3397CD4}"/>
              </a:ext>
            </a:extLst>
          </p:cNvPr>
          <p:cNvSpPr>
            <a:spLocks xmlns:a="http://schemas.openxmlformats.org/drawingml/2006/main" noGrp="1"/>
          </p:cNvSpPr>
          <p:nvPr/>
        </p:nvSpPr>
        <p:spPr>
          <a:xfrm xmlns:a="http://schemas.openxmlformats.org/drawingml/2006/main">
            <a:off x="857250" y="4686300"/>
            <a:ext cx="1390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CONTEXT</a:t>
            </a:r>
          </a:p>
        </p:txBody>
      </p:sp>
      <p:sp>
        <p:nvSpPr>
          <p:cNvPr id="23" name="">
            <a:extLst xmlns:a="http://schemas.openxmlformats.org/drawingml/2006/main">
              <a:ext uri="{FF2B5EF4-FFF2-40B4-BE49-F238E27FC236}">
                <a16:creationId xmlns:a16="http://schemas.microsoft.com/office/drawing/2014/main" id="{731804F2-00D7-4057-986B-3ED19B0FC182}"/>
              </a:ext>
            </a:extLst>
          </p:cNvPr>
          <p:cNvSpPr>
            <a:spLocks xmlns:a="http://schemas.openxmlformats.org/drawingml/2006/main" noGrp="1"/>
          </p:cNvSpPr>
          <p:nvPr/>
        </p:nvSpPr>
        <p:spPr>
          <a:xfrm xmlns:a="http://schemas.openxmlformats.org/drawingml/2006/main">
            <a:off x="2571750" y="4438650"/>
            <a:ext cx="1428750" cy="876300"/>
          </a:xfrm>
          <a:prstGeom xmlns:a="http://schemas.openxmlformats.org/drawingml/2006/main" prst="roundRect">
            <a:avLst>
              <a:gd name="adj" fmla="val 8696"/>
            </a:avLst>
          </a:prstGeom>
          <a:solidFill xmlns:a="http://schemas.openxmlformats.org/drawingml/2006/main">
            <a:srgbClr val="3D1F5C"/>
          </a:solidFill>
          <a:ln xmlns:a="http://schemas.openxmlformats.org/drawingml/2006/main" w="19050">
            <a:solidFill>
              <a:srgbClr val="C7F25C"/>
            </a:solidFill>
            <a:prstDash val="solid"/>
          </a:ln>
        </p:spPr>
      </p:sp>
      <p:sp>
        <p:nvSpPr>
          <p:cNvPr id="24" name="">
            <a:extLst xmlns:a="http://schemas.openxmlformats.org/drawingml/2006/main">
              <a:ext uri="{FF2B5EF4-FFF2-40B4-BE49-F238E27FC236}">
                <a16:creationId xmlns:a16="http://schemas.microsoft.com/office/drawing/2014/main" id="{FCC9ABB8-F228-429A-92E5-D990155CEAB9}"/>
              </a:ext>
            </a:extLst>
          </p:cNvPr>
          <p:cNvSpPr>
            <a:spLocks xmlns:a="http://schemas.openxmlformats.org/drawingml/2006/main" noGrp="1"/>
          </p:cNvSpPr>
          <p:nvPr/>
        </p:nvSpPr>
        <p:spPr>
          <a:xfrm xmlns:a="http://schemas.openxmlformats.org/drawingml/2006/main">
            <a:off x="2686050" y="4686300"/>
            <a:ext cx="1200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SKILLS</a:t>
            </a:r>
          </a:p>
        </p:txBody>
      </p:sp>
      <p:sp>
        <p:nvSpPr>
          <p:cNvPr id="25" name="">
            <a:extLst xmlns:a="http://schemas.openxmlformats.org/drawingml/2006/main">
              <a:ext uri="{FF2B5EF4-FFF2-40B4-BE49-F238E27FC236}">
                <a16:creationId xmlns:a16="http://schemas.microsoft.com/office/drawing/2014/main" id="{F412CCB0-4D38-43F8-B67F-358B87CB0EB7}"/>
              </a:ext>
            </a:extLst>
          </p:cNvPr>
          <p:cNvSpPr>
            <a:spLocks xmlns:a="http://schemas.openxmlformats.org/drawingml/2006/main" noGrp="1"/>
          </p:cNvSpPr>
          <p:nvPr/>
        </p:nvSpPr>
        <p:spPr>
          <a:xfrm xmlns:a="http://schemas.openxmlformats.org/drawingml/2006/main">
            <a:off x="4210050" y="4438650"/>
            <a:ext cx="1714500" cy="876300"/>
          </a:xfrm>
          <a:prstGeom xmlns:a="http://schemas.openxmlformats.org/drawingml/2006/main" prst="roundRect">
            <a:avLst>
              <a:gd name="adj" fmla="val 8696"/>
            </a:avLst>
          </a:prstGeom>
          <a:solidFill xmlns:a="http://schemas.openxmlformats.org/drawingml/2006/main">
            <a:srgbClr val="3D1F5C"/>
          </a:solidFill>
          <a:ln xmlns:a="http://schemas.openxmlformats.org/drawingml/2006/main" w="19050">
            <a:solidFill>
              <a:srgbClr val="C7F25C"/>
            </a:solidFill>
            <a:prstDash val="solid"/>
          </a:ln>
        </p:spPr>
      </p:sp>
      <p:sp>
        <p:nvSpPr>
          <p:cNvPr id="26" name="">
            <a:extLst xmlns:a="http://schemas.openxmlformats.org/drawingml/2006/main">
              <a:ext uri="{FF2B5EF4-FFF2-40B4-BE49-F238E27FC236}">
                <a16:creationId xmlns:a16="http://schemas.microsoft.com/office/drawing/2014/main" id="{F496A6A9-71CA-4C48-86FA-84B8E2BDBC05}"/>
              </a:ext>
            </a:extLst>
          </p:cNvPr>
          <p:cNvSpPr>
            <a:spLocks xmlns:a="http://schemas.openxmlformats.org/drawingml/2006/main" noGrp="1"/>
          </p:cNvSpPr>
          <p:nvPr/>
        </p:nvSpPr>
        <p:spPr>
          <a:xfrm xmlns:a="http://schemas.openxmlformats.org/drawingml/2006/main">
            <a:off x="4324350" y="4686300"/>
            <a:ext cx="1485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TEMPLATES</a:t>
            </a:r>
          </a:p>
        </p:txBody>
      </p:sp>
      <p:sp>
        <p:nvSpPr>
          <p:cNvPr id="27" name="">
            <a:extLst xmlns:a="http://schemas.openxmlformats.org/drawingml/2006/main">
              <a:ext uri="{FF2B5EF4-FFF2-40B4-BE49-F238E27FC236}">
                <a16:creationId xmlns:a16="http://schemas.microsoft.com/office/drawing/2014/main" id="{35903DAC-CF9B-42B7-95FB-18D23D5260DD}"/>
              </a:ext>
            </a:extLst>
          </p:cNvPr>
          <p:cNvSpPr>
            <a:spLocks xmlns:a="http://schemas.openxmlformats.org/drawingml/2006/main" noGrp="1"/>
          </p:cNvSpPr>
          <p:nvPr/>
        </p:nvSpPr>
        <p:spPr>
          <a:xfrm xmlns:a="http://schemas.openxmlformats.org/drawingml/2006/main">
            <a:off x="6134100" y="4438650"/>
            <a:ext cx="1238250" cy="876300"/>
          </a:xfrm>
          <a:prstGeom xmlns:a="http://schemas.openxmlformats.org/drawingml/2006/main" prst="roundRect">
            <a:avLst>
              <a:gd name="adj" fmla="val 8696"/>
            </a:avLst>
          </a:prstGeom>
          <a:solidFill xmlns:a="http://schemas.openxmlformats.org/drawingml/2006/main">
            <a:srgbClr val="3D1F5C"/>
          </a:solidFill>
          <a:ln xmlns:a="http://schemas.openxmlformats.org/drawingml/2006/main" w="19050">
            <a:solidFill>
              <a:srgbClr val="C7F25C"/>
            </a:solidFill>
            <a:prstDash val="solid"/>
          </a:ln>
        </p:spPr>
      </p:sp>
      <p:sp>
        <p:nvSpPr>
          <p:cNvPr id="28" name="">
            <a:extLst xmlns:a="http://schemas.openxmlformats.org/drawingml/2006/main">
              <a:ext uri="{FF2B5EF4-FFF2-40B4-BE49-F238E27FC236}">
                <a16:creationId xmlns:a16="http://schemas.microsoft.com/office/drawing/2014/main" id="{AAB5BE97-E1B3-4631-8AE3-83D01ADB5AB0}"/>
              </a:ext>
            </a:extLst>
          </p:cNvPr>
          <p:cNvSpPr>
            <a:spLocks xmlns:a="http://schemas.openxmlformats.org/drawingml/2006/main" noGrp="1"/>
          </p:cNvSpPr>
          <p:nvPr/>
        </p:nvSpPr>
        <p:spPr>
          <a:xfrm xmlns:a="http://schemas.openxmlformats.org/drawingml/2006/main">
            <a:off x="6248400" y="4686300"/>
            <a:ext cx="1009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TESTS</a:t>
            </a:r>
          </a:p>
        </p:txBody>
      </p:sp>
      <p:sp>
        <p:nvSpPr>
          <p:cNvPr id="29" name="">
            <a:extLst xmlns:a="http://schemas.openxmlformats.org/drawingml/2006/main">
              <a:ext uri="{FF2B5EF4-FFF2-40B4-BE49-F238E27FC236}">
                <a16:creationId xmlns:a16="http://schemas.microsoft.com/office/drawing/2014/main" id="{0C22F2B0-7773-49D1-9DC9-EE42D22152AC}"/>
              </a:ext>
            </a:extLst>
          </p:cNvPr>
          <p:cNvSpPr>
            <a:spLocks xmlns:a="http://schemas.openxmlformats.org/drawingml/2006/main" noGrp="1"/>
          </p:cNvSpPr>
          <p:nvPr/>
        </p:nvSpPr>
        <p:spPr>
          <a:xfrm xmlns:a="http://schemas.openxmlformats.org/drawingml/2006/main">
            <a:off x="7581900" y="4438650"/>
            <a:ext cx="2286000" cy="876300"/>
          </a:xfrm>
          <a:prstGeom xmlns:a="http://schemas.openxmlformats.org/drawingml/2006/main" prst="roundRect">
            <a:avLst>
              <a:gd name="adj" fmla="val 8696"/>
            </a:avLst>
          </a:prstGeom>
          <a:solidFill xmlns:a="http://schemas.openxmlformats.org/drawingml/2006/main">
            <a:srgbClr val="3D1F5C"/>
          </a:solidFill>
          <a:ln xmlns:a="http://schemas.openxmlformats.org/drawingml/2006/main" w="19050">
            <a:solidFill>
              <a:srgbClr val="C7F25C"/>
            </a:solidFill>
            <a:prstDash val="solid"/>
          </a:ln>
        </p:spPr>
      </p:sp>
      <p:sp>
        <p:nvSpPr>
          <p:cNvPr id="30" name="">
            <a:extLst xmlns:a="http://schemas.openxmlformats.org/drawingml/2006/main">
              <a:ext uri="{FF2B5EF4-FFF2-40B4-BE49-F238E27FC236}">
                <a16:creationId xmlns:a16="http://schemas.microsoft.com/office/drawing/2014/main" id="{C18E446C-101C-47C7-B342-5265E3ACC93B}"/>
              </a:ext>
            </a:extLst>
          </p:cNvPr>
          <p:cNvSpPr>
            <a:spLocks xmlns:a="http://schemas.openxmlformats.org/drawingml/2006/main" noGrp="1"/>
          </p:cNvSpPr>
          <p:nvPr/>
        </p:nvSpPr>
        <p:spPr>
          <a:xfrm xmlns:a="http://schemas.openxmlformats.org/drawingml/2006/main">
            <a:off x="7696200" y="4686300"/>
            <a:ext cx="2057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DECISION LOGS</a:t>
            </a:r>
          </a:p>
        </p:txBody>
      </p:sp>
      <p:sp>
        <p:nvSpPr>
          <p:cNvPr id="31" name="">
            <a:extLst xmlns:a="http://schemas.openxmlformats.org/drawingml/2006/main">
              <a:ext uri="{FF2B5EF4-FFF2-40B4-BE49-F238E27FC236}">
                <a16:creationId xmlns:a16="http://schemas.microsoft.com/office/drawing/2014/main" id="{431F086C-93B2-441D-891A-387CC646F8CB}"/>
              </a:ext>
            </a:extLst>
          </p:cNvPr>
          <p:cNvSpPr>
            <a:spLocks xmlns:a="http://schemas.openxmlformats.org/drawingml/2006/main" noGrp="1"/>
          </p:cNvSpPr>
          <p:nvPr/>
        </p:nvSpPr>
        <p:spPr>
          <a:xfrm xmlns:a="http://schemas.openxmlformats.org/drawingml/2006/main">
            <a:off x="876300" y="5734050"/>
            <a:ext cx="1043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C7F25C"/>
                </a:solidFill>
              </a:defRPr>
            </a:pPr>
            <a:r>
              <a:rPr sz="1800" b="1">
                <a:solidFill>
                  <a:srgbClr val="C7F25C"/>
                </a:solidFill>
              </a:rPr>
              <a:t>Portable craft: connection patterns, blank templates, and tests. Employer data and IP stay behind.</a:t>
            </a:r>
          </a:p>
        </p:txBody>
      </p:sp>
    </p:spTree>
    <p:extLst>
      <p:ext uri="{BB962C8B-B14F-4D97-AF65-F5344CB8AC3E}">
        <p14:creationId xmlns:p14="http://schemas.microsoft.com/office/powerpoint/2010/main" val="193979179"/>
      </p:ext>
    </p:extLst>
  </p:cSld>
</p:sld>
</file>

<file path=ppt/slides/slide10.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2D3CAD7-C6EA-43D5-95DE-A1A07296BFFD}"/>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46B2AFFD-1E96-4AD1-B63A-E76D10407CE5}"/>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68F20C7-0B59-456D-A51E-F0FF34441768}"/>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26232A"/>
                </a:solidFill>
              </a:defRPr>
            </a:pPr>
            <a:r>
              <a:rPr sz="3150" b="1">
                <a:solidFill>
                  <a:srgbClr val="26232A"/>
                </a:solidFill>
              </a:rPr>
              <a:t>Level 3: Reusable Skill</a:t>
            </a:r>
          </a:p>
        </p:txBody>
      </p:sp>
      <p:sp>
        <p:nvSpPr>
          <p:cNvPr id="4" name="">
            <a:extLst xmlns:a="http://schemas.openxmlformats.org/drawingml/2006/main">
              <a:ext uri="{FF2B5EF4-FFF2-40B4-BE49-F238E27FC236}">
                <a16:creationId xmlns:a16="http://schemas.microsoft.com/office/drawing/2014/main" id="{54FA9475-23FF-4CB3-BBC7-058D392BB255}"/>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6E6873"/>
                </a:solidFill>
              </a:defRPr>
            </a:pPr>
            <a:r>
              <a:rPr sz="750" b="1">
                <a:solidFill>
                  <a:srgbClr val="6E6873"/>
                </a:solidFill>
              </a:rPr>
              <a:t>FORGEX  |  AI FOR ABM</a:t>
            </a:r>
          </a:p>
        </p:txBody>
      </p:sp>
      <p:sp>
        <p:nvSpPr>
          <p:cNvPr id="5" name="">
            <a:extLst xmlns:a="http://schemas.openxmlformats.org/drawingml/2006/main">
              <a:ext uri="{FF2B5EF4-FFF2-40B4-BE49-F238E27FC236}">
                <a16:creationId xmlns:a16="http://schemas.microsoft.com/office/drawing/2014/main" id="{CADB4F99-F869-4AB6-8DBA-748AC6595A64}"/>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E63888"/>
                </a:solidFill>
              </a:defRPr>
            </a:pPr>
            <a:r>
              <a:rPr sz="825" b="1">
                <a:solidFill>
                  <a:srgbClr val="E63888"/>
                </a:solidFill>
              </a:rPr>
              <a:t>10</a:t>
            </a:r>
          </a:p>
        </p:txBody>
      </p:sp>
      <p:sp>
        <p:nvSpPr>
          <p:cNvPr id="6" name="">
            <a:extLst xmlns:a="http://schemas.openxmlformats.org/drawingml/2006/main">
              <a:ext uri="{FF2B5EF4-FFF2-40B4-BE49-F238E27FC236}">
                <a16:creationId xmlns:a16="http://schemas.microsoft.com/office/drawing/2014/main" id="{252A7AF4-884B-45D7-A50D-6BD44926A0E5}"/>
              </a:ext>
            </a:extLst>
          </p:cNvPr>
          <p:cNvSpPr>
            <a:spLocks xmlns:a="http://schemas.openxmlformats.org/drawingml/2006/main" noGrp="1"/>
          </p:cNvSpPr>
          <p:nvPr/>
        </p:nvSpPr>
        <p:spPr>
          <a:xfrm xmlns:a="http://schemas.openxmlformats.org/drawingml/2006/main">
            <a:off x="800100" y="1962150"/>
            <a:ext cx="4095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6E6873"/>
                </a:solidFill>
              </a:defRPr>
            </a:pPr>
            <a:r>
              <a:rPr sz="2100" b="1">
                <a:solidFill>
                  <a:srgbClr val="6E6873"/>
                </a:solidFill>
              </a:rPr>
              <a:t>TELL ME X ANSWER</a:t>
            </a:r>
          </a:p>
        </p:txBody>
      </p:sp>
      <p:sp>
        <p:nvSpPr>
          <p:cNvPr id="7" name="">
            <a:extLst xmlns:a="http://schemas.openxmlformats.org/drawingml/2006/main">
              <a:ext uri="{FF2B5EF4-FFF2-40B4-BE49-F238E27FC236}">
                <a16:creationId xmlns:a16="http://schemas.microsoft.com/office/drawing/2014/main" id="{A836DE03-7A47-4409-86A8-9A663D4732B7}"/>
              </a:ext>
            </a:extLst>
          </p:cNvPr>
          <p:cNvSpPr>
            <a:spLocks xmlns:a="http://schemas.openxmlformats.org/drawingml/2006/main" noGrp="1"/>
          </p:cNvSpPr>
          <p:nvPr/>
        </p:nvSpPr>
        <p:spPr>
          <a:xfrm xmlns:a="http://schemas.openxmlformats.org/drawingml/2006/main">
            <a:off x="4953000" y="19431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E63888"/>
                </a:solidFill>
              </a:defRPr>
            </a:pPr>
            <a:r>
              <a:rPr sz="2850" b="1">
                <a:solidFill>
                  <a:srgbClr val="E63888"/>
                </a:solidFill>
              </a:rPr>
              <a:t>→</a:t>
            </a:r>
          </a:p>
        </p:txBody>
      </p:sp>
      <p:sp>
        <p:nvSpPr>
          <p:cNvPr id="8" name="">
            <a:extLst xmlns:a="http://schemas.openxmlformats.org/drawingml/2006/main">
              <a:ext uri="{FF2B5EF4-FFF2-40B4-BE49-F238E27FC236}">
                <a16:creationId xmlns:a16="http://schemas.microsoft.com/office/drawing/2014/main" id="{3A30B91C-3DF5-4E9A-8796-8630E45E770C}"/>
              </a:ext>
            </a:extLst>
          </p:cNvPr>
          <p:cNvSpPr>
            <a:spLocks xmlns:a="http://schemas.openxmlformats.org/drawingml/2006/main" noGrp="1"/>
          </p:cNvSpPr>
          <p:nvPr/>
        </p:nvSpPr>
        <p:spPr>
          <a:xfrm xmlns:a="http://schemas.openxmlformats.org/drawingml/2006/main">
            <a:off x="5715000" y="1847850"/>
            <a:ext cx="5429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400" b="1">
                <a:solidFill>
                  <a:srgbClr val="3D1F5C"/>
                </a:solidFill>
              </a:defRPr>
            </a:pPr>
            <a:r>
              <a:rPr sz="2400" b="1">
                <a:solidFill>
                  <a:srgbClr val="3D1F5C"/>
                </a:solidFill>
              </a:rPr>
              <a:t>PRODUCE Y OUTCOME</a:t>
            </a:r>
          </a:p>
          <a:p xmlns:a="http://schemas.openxmlformats.org/drawingml/2006/main">
            <a:pPr algn="l">
              <a:buNone/>
              <a:defRPr sz="2400" b="1">
                <a:solidFill>
                  <a:srgbClr val="3D1F5C"/>
                </a:solidFill>
              </a:defRPr>
            </a:pPr>
            <a:r>
              <a:rPr sz="2400" b="1">
                <a:solidFill>
                  <a:srgbClr val="3D1F5C"/>
                </a:solidFill>
              </a:rPr>
              <a:t>THROUGH THIS PROCESS</a:t>
            </a:r>
          </a:p>
        </p:txBody>
      </p:sp>
      <p:sp>
        <p:nvSpPr>
          <p:cNvPr id="9" name="">
            <a:extLst xmlns:a="http://schemas.openxmlformats.org/drawingml/2006/main">
              <a:ext uri="{FF2B5EF4-FFF2-40B4-BE49-F238E27FC236}">
                <a16:creationId xmlns:a16="http://schemas.microsoft.com/office/drawing/2014/main" id="{536206F8-FF54-4186-AB49-C5AE376DCF07}"/>
              </a:ext>
            </a:extLst>
          </p:cNvPr>
          <p:cNvSpPr>
            <a:spLocks xmlns:a="http://schemas.openxmlformats.org/drawingml/2006/main" noGrp="1"/>
          </p:cNvSpPr>
          <p:nvPr/>
        </p:nvSpPr>
        <p:spPr>
          <a:xfrm xmlns:a="http://schemas.openxmlformats.org/drawingml/2006/main">
            <a:off x="609600" y="3028950"/>
            <a:ext cx="6286500" cy="2152650"/>
          </a:xfrm>
          <a:prstGeom xmlns:a="http://schemas.openxmlformats.org/drawingml/2006/main" prst="roundRect">
            <a:avLst>
              <a:gd name="adj" fmla="val 3540"/>
            </a:avLst>
          </a:prstGeom>
          <a:solidFill xmlns:a="http://schemas.openxmlformats.org/drawingml/2006/main">
            <a:srgbClr val="FFFFFF"/>
          </a:solidFill>
          <a:ln xmlns:a="http://schemas.openxmlformats.org/drawingml/2006/main" w="19050">
            <a:solidFill>
              <a:srgbClr val="EAE3EC"/>
            </a:solidFill>
            <a:prstDash val="solid"/>
          </a:ln>
        </p:spPr>
      </p:sp>
      <p:sp>
        <p:nvSpPr>
          <p:cNvPr id="10" name="">
            <a:extLst xmlns:a="http://schemas.openxmlformats.org/drawingml/2006/main">
              <a:ext uri="{FF2B5EF4-FFF2-40B4-BE49-F238E27FC236}">
                <a16:creationId xmlns:a16="http://schemas.microsoft.com/office/drawing/2014/main" id="{BE35FA64-9933-413F-B04C-703DCA1EFCD9}"/>
              </a:ext>
            </a:extLst>
          </p:cNvPr>
          <p:cNvSpPr>
            <a:spLocks xmlns:a="http://schemas.openxmlformats.org/drawingml/2006/main" noGrp="1"/>
          </p:cNvSpPr>
          <p:nvPr/>
        </p:nvSpPr>
        <p:spPr>
          <a:xfrm xmlns:a="http://schemas.openxmlformats.org/drawingml/2006/main">
            <a:off x="838200" y="321945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E63888"/>
                </a:solidFill>
              </a:defRPr>
            </a:pPr>
            <a:r>
              <a:rPr sz="975" b="1">
                <a:solidFill>
                  <a:srgbClr val="E63888"/>
                </a:solidFill>
              </a:rPr>
              <a:t>INPUT</a:t>
            </a:r>
          </a:p>
        </p:txBody>
      </p:sp>
      <p:sp>
        <p:nvSpPr>
          <p:cNvPr id="11" name="">
            <a:extLst xmlns:a="http://schemas.openxmlformats.org/drawingml/2006/main">
              <a:ext uri="{FF2B5EF4-FFF2-40B4-BE49-F238E27FC236}">
                <a16:creationId xmlns:a16="http://schemas.microsoft.com/office/drawing/2014/main" id="{E0ADA090-74C0-4F3C-B098-6FC3C6B642FB}"/>
              </a:ext>
            </a:extLst>
          </p:cNvPr>
          <p:cNvSpPr>
            <a:spLocks xmlns:a="http://schemas.openxmlformats.org/drawingml/2006/main" noGrp="1"/>
          </p:cNvSpPr>
          <p:nvPr/>
        </p:nvSpPr>
        <p:spPr>
          <a:xfrm xmlns:a="http://schemas.openxmlformats.org/drawingml/2006/main">
            <a:off x="838200" y="3543300"/>
            <a:ext cx="58293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26232A"/>
                </a:solidFill>
              </a:defRPr>
            </a:pPr>
            <a:r>
              <a:rPr sz="1425" b="0">
                <a:solidFill>
                  <a:srgbClr val="26232A"/>
                </a:solidFill>
              </a:rPr>
              <a:t>Follow the ABM Strategist skill. Use the North Peak corpus and Alder evidence. Produce the required campaign brief. Apply the output contract and QA. Stop before creative or outreach.</a:t>
            </a:r>
          </a:p>
        </p:txBody>
      </p:sp>
      <p:sp>
        <p:nvSpPr>
          <p:cNvPr id="12" name="">
            <a:extLst xmlns:a="http://schemas.openxmlformats.org/drawingml/2006/main">
              <a:ext uri="{FF2B5EF4-FFF2-40B4-BE49-F238E27FC236}">
                <a16:creationId xmlns:a16="http://schemas.microsoft.com/office/drawing/2014/main" id="{1B089F7A-CEEB-42B6-9CD0-4CC0147B6CEA}"/>
              </a:ext>
            </a:extLst>
          </p:cNvPr>
          <p:cNvSpPr>
            <a:spLocks xmlns:a="http://schemas.openxmlformats.org/drawingml/2006/main" noGrp="1"/>
          </p:cNvSpPr>
          <p:nvPr/>
        </p:nvSpPr>
        <p:spPr>
          <a:xfrm xmlns:a="http://schemas.openxmlformats.org/drawingml/2006/main">
            <a:off x="7219950" y="3028950"/>
            <a:ext cx="4362450" cy="2152650"/>
          </a:xfrm>
          <a:prstGeom xmlns:a="http://schemas.openxmlformats.org/drawingml/2006/main" prst="roundRect">
            <a:avLst>
              <a:gd name="adj" fmla="val 3540"/>
            </a:avLst>
          </a:prstGeom>
          <a:solidFill xmlns:a="http://schemas.openxmlformats.org/drawingml/2006/main">
            <a:srgbClr val="3D1F5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BFB651A-1EF4-4BC3-8830-8F8E90055FF0}"/>
              </a:ext>
            </a:extLst>
          </p:cNvPr>
          <p:cNvSpPr>
            <a:spLocks xmlns:a="http://schemas.openxmlformats.org/drawingml/2006/main" noGrp="1"/>
          </p:cNvSpPr>
          <p:nvPr/>
        </p:nvSpPr>
        <p:spPr>
          <a:xfrm xmlns:a="http://schemas.openxmlformats.org/drawingml/2006/main">
            <a:off x="7448550" y="32194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OUTPUT</a:t>
            </a:r>
          </a:p>
        </p:txBody>
      </p:sp>
      <p:sp>
        <p:nvSpPr>
          <p:cNvPr id="14" name="">
            <a:extLst xmlns:a="http://schemas.openxmlformats.org/drawingml/2006/main">
              <a:ext uri="{FF2B5EF4-FFF2-40B4-BE49-F238E27FC236}">
                <a16:creationId xmlns:a16="http://schemas.microsoft.com/office/drawing/2014/main" id="{73028BF0-B47A-4D63-ADDB-F4117F74838C}"/>
              </a:ext>
            </a:extLst>
          </p:cNvPr>
          <p:cNvSpPr>
            <a:spLocks xmlns:a="http://schemas.openxmlformats.org/drawingml/2006/main" noGrp="1"/>
          </p:cNvSpPr>
          <p:nvPr/>
        </p:nvSpPr>
        <p:spPr>
          <a:xfrm xmlns:a="http://schemas.openxmlformats.org/drawingml/2006/main">
            <a:off x="7448550" y="3581400"/>
            <a:ext cx="39052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FFFFFF"/>
                </a:solidFill>
              </a:defRPr>
            </a:pPr>
            <a:r>
              <a:rPr sz="1650" b="1">
                <a:solidFill>
                  <a:srgbClr val="FFFFFF"/>
                </a:solidFill>
              </a:rPr>
              <a:t>The same inspectable brief structure across accounts and users.</a:t>
            </a:r>
          </a:p>
        </p:txBody>
      </p:sp>
      <p:sp>
        <p:nvSpPr>
          <p:cNvPr id="15" name="">
            <a:extLst xmlns:a="http://schemas.openxmlformats.org/drawingml/2006/main">
              <a:ext uri="{FF2B5EF4-FFF2-40B4-BE49-F238E27FC236}">
                <a16:creationId xmlns:a16="http://schemas.microsoft.com/office/drawing/2014/main" id="{CE25BFF5-8021-441B-85AC-8CD2E2FD51F1}"/>
              </a:ext>
            </a:extLst>
          </p:cNvPr>
          <p:cNvSpPr>
            <a:spLocks xmlns:a="http://schemas.openxmlformats.org/drawingml/2006/main" noGrp="1"/>
          </p:cNvSpPr>
          <p:nvPr/>
        </p:nvSpPr>
        <p:spPr>
          <a:xfrm xmlns:a="http://schemas.openxmlformats.org/drawingml/2006/main">
            <a:off x="609600" y="5562600"/>
            <a:ext cx="10972800" cy="514350"/>
          </a:xfrm>
          <a:prstGeom xmlns:a="http://schemas.openxmlformats.org/drawingml/2006/main" prst="roundRect">
            <a:avLst>
              <a:gd name="adj" fmla="val 14815"/>
            </a:avLst>
          </a:prstGeom>
          <a:solidFill xmlns:a="http://schemas.openxmlformats.org/drawingml/2006/main">
            <a:srgbClr val="EAF8B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FF9F8DB-B9E1-4F9F-8E16-66ABF3C7F3E6}"/>
              </a:ext>
            </a:extLst>
          </p:cNvPr>
          <p:cNvSpPr>
            <a:spLocks xmlns:a="http://schemas.openxmlformats.org/drawingml/2006/main" noGrp="1"/>
          </p:cNvSpPr>
          <p:nvPr/>
        </p:nvSpPr>
        <p:spPr>
          <a:xfrm xmlns:a="http://schemas.openxmlformats.org/drawingml/2006/main">
            <a:off x="838200" y="57150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3D1F5C"/>
                </a:solidFill>
              </a:defRPr>
            </a:pPr>
            <a:r>
              <a:rPr sz="975" b="1">
                <a:solidFill>
                  <a:srgbClr val="3D1F5C"/>
                </a:solidFill>
              </a:rPr>
              <a:t>LAYER ADDED</a:t>
            </a:r>
          </a:p>
        </p:txBody>
      </p:sp>
      <p:sp>
        <p:nvSpPr>
          <p:cNvPr id="17" name="">
            <a:extLst xmlns:a="http://schemas.openxmlformats.org/drawingml/2006/main">
              <a:ext uri="{FF2B5EF4-FFF2-40B4-BE49-F238E27FC236}">
                <a16:creationId xmlns:a16="http://schemas.microsoft.com/office/drawing/2014/main" id="{B71BECFA-38F0-45C6-9774-684A5F30618B}"/>
              </a:ext>
            </a:extLst>
          </p:cNvPr>
          <p:cNvSpPr>
            <a:spLocks xmlns:a="http://schemas.openxmlformats.org/drawingml/2006/main" noGrp="1"/>
          </p:cNvSpPr>
          <p:nvPr/>
        </p:nvSpPr>
        <p:spPr>
          <a:xfrm xmlns:a="http://schemas.openxmlformats.org/drawingml/2006/main">
            <a:off x="2190750" y="56769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3D1F5C"/>
                </a:solidFill>
              </a:defRPr>
            </a:pPr>
            <a:r>
              <a:rPr sz="1350" b="1">
                <a:solidFill>
                  <a:srgbClr val="3D1F5C"/>
                </a:solidFill>
              </a:rPr>
              <a:t>Skill  +  template  +  output contract  +  QA  +  stop conditions</a:t>
            </a:r>
          </a:p>
        </p:txBody>
      </p:sp>
    </p:spTree>
    <p:extLst>
      <p:ext uri="{BB962C8B-B14F-4D97-AF65-F5344CB8AC3E}">
        <p14:creationId xmlns:p14="http://schemas.microsoft.com/office/powerpoint/2010/main" val="296113869"/>
      </p:ext>
    </p:extLst>
  </p:cSld>
</p:sld>
</file>

<file path=ppt/slides/slide11.xml><?xml version="1.0" encoding="utf-8"?>
<p:sld xmlns:p="http://schemas.openxmlformats.org/presentationml/2006/main">
  <p:cSld>
    <p:bg>
      <p:bgPr>
        <a:solidFill xmlns:a="http://schemas.openxmlformats.org/drawingml/2006/main">
          <a:srgbClr val="2B123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37A1881F-21D5-4699-A9B0-2C3383501E4A}"/>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6C9D2B76-E12A-44C5-B2EA-910ECBFDFA1C}"/>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D9B838A-FA0F-4D34-B820-0D716E066094}"/>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FFFFFF"/>
                </a:solidFill>
              </a:defRPr>
            </a:pPr>
            <a:r>
              <a:rPr sz="3150" b="1">
                <a:solidFill>
                  <a:srgbClr val="FFFFFF"/>
                </a:solidFill>
              </a:rPr>
              <a:t>The model thinks. The harness makes it work</a:t>
            </a:r>
          </a:p>
        </p:txBody>
      </p:sp>
      <p:sp>
        <p:nvSpPr>
          <p:cNvPr id="4" name="">
            <a:extLst xmlns:a="http://schemas.openxmlformats.org/drawingml/2006/main">
              <a:ext uri="{FF2B5EF4-FFF2-40B4-BE49-F238E27FC236}">
                <a16:creationId xmlns:a16="http://schemas.microsoft.com/office/drawing/2014/main" id="{9AD9403C-6D86-4068-88F5-148FF76B96AA}"/>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EAE3EC"/>
                </a:solidFill>
              </a:defRPr>
            </a:pPr>
            <a:r>
              <a:rPr sz="750" b="1">
                <a:solidFill>
                  <a:srgbClr val="EAE3EC"/>
                </a:solidFill>
              </a:rPr>
              <a:t>FORGEX  |  AI FOR ABM</a:t>
            </a:r>
          </a:p>
        </p:txBody>
      </p:sp>
      <p:sp>
        <p:nvSpPr>
          <p:cNvPr id="5" name="">
            <a:extLst xmlns:a="http://schemas.openxmlformats.org/drawingml/2006/main">
              <a:ext uri="{FF2B5EF4-FFF2-40B4-BE49-F238E27FC236}">
                <a16:creationId xmlns:a16="http://schemas.microsoft.com/office/drawing/2014/main" id="{6604EB77-ED83-49E0-8395-4250E6E483EB}"/>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C7F25C"/>
                </a:solidFill>
              </a:defRPr>
            </a:pPr>
            <a:r>
              <a:rPr sz="825" b="1">
                <a:solidFill>
                  <a:srgbClr val="C7F25C"/>
                </a:solidFill>
              </a:rPr>
              <a:t>11</a:t>
            </a:r>
          </a:p>
        </p:txBody>
      </p:sp>
      <p:sp>
        <p:nvSpPr>
          <p:cNvPr id="6" name="">
            <a:extLst xmlns:a="http://schemas.openxmlformats.org/drawingml/2006/main">
              <a:ext uri="{FF2B5EF4-FFF2-40B4-BE49-F238E27FC236}">
                <a16:creationId xmlns:a16="http://schemas.microsoft.com/office/drawing/2014/main" id="{90DEB3C5-E65E-483D-B556-CEFFFD129E5F}"/>
              </a:ext>
            </a:extLst>
          </p:cNvPr>
          <p:cNvSpPr>
            <a:spLocks xmlns:a="http://schemas.openxmlformats.org/drawingml/2006/main" noGrp="1"/>
          </p:cNvSpPr>
          <p:nvPr/>
        </p:nvSpPr>
        <p:spPr>
          <a:xfrm xmlns:a="http://schemas.openxmlformats.org/drawingml/2006/main">
            <a:off x="514350" y="2362200"/>
            <a:ext cx="1714500" cy="1524000"/>
          </a:xfrm>
          <a:prstGeom xmlns:a="http://schemas.openxmlformats.org/drawingml/2006/main" prst="roundRect">
            <a:avLst>
              <a:gd name="adj" fmla="val 5000"/>
            </a:avLst>
          </a:prstGeom>
          <a:solidFill xmlns:a="http://schemas.openxmlformats.org/drawingml/2006/main">
            <a:srgbClr val="3D1F5C"/>
          </a:solidFill>
          <a:ln xmlns:a="http://schemas.openxmlformats.org/drawingml/2006/main" w="19050">
            <a:solidFill>
              <a:srgbClr val="C7F25C"/>
            </a:solidFill>
            <a:prstDash val="solid"/>
          </a:ln>
        </p:spPr>
      </p:sp>
      <p:sp>
        <p:nvSpPr>
          <p:cNvPr id="7" name="">
            <a:extLst xmlns:a="http://schemas.openxmlformats.org/drawingml/2006/main">
              <a:ext uri="{FF2B5EF4-FFF2-40B4-BE49-F238E27FC236}">
                <a16:creationId xmlns:a16="http://schemas.microsoft.com/office/drawing/2014/main" id="{446BFF76-6C54-4809-833A-57828918D18B}"/>
              </a:ext>
            </a:extLst>
          </p:cNvPr>
          <p:cNvSpPr>
            <a:spLocks xmlns:a="http://schemas.openxmlformats.org/drawingml/2006/main" noGrp="1"/>
          </p:cNvSpPr>
          <p:nvPr/>
        </p:nvSpPr>
        <p:spPr>
          <a:xfrm xmlns:a="http://schemas.openxmlformats.org/drawingml/2006/main">
            <a:off x="666750" y="251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7F25C"/>
                </a:solidFill>
              </a:defRPr>
            </a:pPr>
            <a:r>
              <a:rPr sz="1050" b="1">
                <a:solidFill>
                  <a:srgbClr val="C7F25C"/>
                </a:solidFill>
              </a:rPr>
              <a:t>1</a:t>
            </a:r>
          </a:p>
        </p:txBody>
      </p:sp>
      <p:sp>
        <p:nvSpPr>
          <p:cNvPr id="8" name="">
            <a:extLst xmlns:a="http://schemas.openxmlformats.org/drawingml/2006/main">
              <a:ext uri="{FF2B5EF4-FFF2-40B4-BE49-F238E27FC236}">
                <a16:creationId xmlns:a16="http://schemas.microsoft.com/office/drawing/2014/main" id="{8695BDFF-1B55-4782-BCF4-B182B0172DCB}"/>
              </a:ext>
            </a:extLst>
          </p:cNvPr>
          <p:cNvSpPr>
            <a:spLocks xmlns:a="http://schemas.openxmlformats.org/drawingml/2006/main" noGrp="1"/>
          </p:cNvSpPr>
          <p:nvPr/>
        </p:nvSpPr>
        <p:spPr>
          <a:xfrm xmlns:a="http://schemas.openxmlformats.org/drawingml/2006/main">
            <a:off x="666750" y="3028950"/>
            <a:ext cx="1409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CONTEXT + MEMORY</a:t>
            </a:r>
          </a:p>
        </p:txBody>
      </p:sp>
      <p:sp>
        <p:nvSpPr>
          <p:cNvPr id="9" name="">
            <a:extLst xmlns:a="http://schemas.openxmlformats.org/drawingml/2006/main">
              <a:ext uri="{FF2B5EF4-FFF2-40B4-BE49-F238E27FC236}">
                <a16:creationId xmlns:a16="http://schemas.microsoft.com/office/drawing/2014/main" id="{7AB4AA21-0419-4842-8766-E27D8AD17E14}"/>
              </a:ext>
            </a:extLst>
          </p:cNvPr>
          <p:cNvSpPr>
            <a:spLocks xmlns:a="http://schemas.openxmlformats.org/drawingml/2006/main" noGrp="1"/>
          </p:cNvSpPr>
          <p:nvPr/>
        </p:nvSpPr>
        <p:spPr>
          <a:xfrm xmlns:a="http://schemas.openxmlformats.org/drawingml/2006/main">
            <a:off x="2209800" y="29718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63888"/>
                </a:solidFill>
              </a:defRPr>
            </a:pPr>
            <a:r>
              <a:rPr sz="1650" b="1">
                <a:solidFill>
                  <a:srgbClr val="E63888"/>
                </a:solidFill>
              </a:rPr>
              <a:t>→</a:t>
            </a:r>
          </a:p>
        </p:txBody>
      </p:sp>
      <p:sp>
        <p:nvSpPr>
          <p:cNvPr id="10" name="">
            <a:extLst xmlns:a="http://schemas.openxmlformats.org/drawingml/2006/main">
              <a:ext uri="{FF2B5EF4-FFF2-40B4-BE49-F238E27FC236}">
                <a16:creationId xmlns:a16="http://schemas.microsoft.com/office/drawing/2014/main" id="{A7C848CE-1E9A-4A6A-9B99-3D60EAB51A23}"/>
              </a:ext>
            </a:extLst>
          </p:cNvPr>
          <p:cNvSpPr>
            <a:spLocks xmlns:a="http://schemas.openxmlformats.org/drawingml/2006/main" noGrp="1"/>
          </p:cNvSpPr>
          <p:nvPr/>
        </p:nvSpPr>
        <p:spPr>
          <a:xfrm xmlns:a="http://schemas.openxmlformats.org/drawingml/2006/main">
            <a:off x="2457450" y="2362200"/>
            <a:ext cx="1714500" cy="1524000"/>
          </a:xfrm>
          <a:prstGeom xmlns:a="http://schemas.openxmlformats.org/drawingml/2006/main" prst="roundRect">
            <a:avLst>
              <a:gd name="adj" fmla="val 5000"/>
            </a:avLst>
          </a:prstGeom>
          <a:solidFill xmlns:a="http://schemas.openxmlformats.org/drawingml/2006/main">
            <a:srgbClr val="3D1F5C"/>
          </a:solidFill>
          <a:ln xmlns:a="http://schemas.openxmlformats.org/drawingml/2006/main" w="19050">
            <a:solidFill>
              <a:srgbClr val="C7F25C"/>
            </a:solidFill>
            <a:prstDash val="solid"/>
          </a:ln>
        </p:spPr>
      </p:sp>
      <p:sp>
        <p:nvSpPr>
          <p:cNvPr id="11" name="">
            <a:extLst xmlns:a="http://schemas.openxmlformats.org/drawingml/2006/main">
              <a:ext uri="{FF2B5EF4-FFF2-40B4-BE49-F238E27FC236}">
                <a16:creationId xmlns:a16="http://schemas.microsoft.com/office/drawing/2014/main" id="{CC75C8AA-18DA-44D4-813D-93C02E21C969}"/>
              </a:ext>
            </a:extLst>
          </p:cNvPr>
          <p:cNvSpPr>
            <a:spLocks xmlns:a="http://schemas.openxmlformats.org/drawingml/2006/main" noGrp="1"/>
          </p:cNvSpPr>
          <p:nvPr/>
        </p:nvSpPr>
        <p:spPr>
          <a:xfrm xmlns:a="http://schemas.openxmlformats.org/drawingml/2006/main">
            <a:off x="2609850" y="251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7F25C"/>
                </a:solidFill>
              </a:defRPr>
            </a:pPr>
            <a:r>
              <a:rPr sz="1050" b="1">
                <a:solidFill>
                  <a:srgbClr val="C7F25C"/>
                </a:solidFill>
              </a:rPr>
              <a:t>2</a:t>
            </a:r>
          </a:p>
        </p:txBody>
      </p:sp>
      <p:sp>
        <p:nvSpPr>
          <p:cNvPr id="12" name="">
            <a:extLst xmlns:a="http://schemas.openxmlformats.org/drawingml/2006/main">
              <a:ext uri="{FF2B5EF4-FFF2-40B4-BE49-F238E27FC236}">
                <a16:creationId xmlns:a16="http://schemas.microsoft.com/office/drawing/2014/main" id="{4BD66431-B319-4F41-8119-9420060A4EF9}"/>
              </a:ext>
            </a:extLst>
          </p:cNvPr>
          <p:cNvSpPr>
            <a:spLocks xmlns:a="http://schemas.openxmlformats.org/drawingml/2006/main" noGrp="1"/>
          </p:cNvSpPr>
          <p:nvPr/>
        </p:nvSpPr>
        <p:spPr>
          <a:xfrm xmlns:a="http://schemas.openxmlformats.org/drawingml/2006/main">
            <a:off x="2609850" y="3028950"/>
            <a:ext cx="1409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SKILLS</a:t>
            </a:r>
          </a:p>
        </p:txBody>
      </p:sp>
      <p:sp>
        <p:nvSpPr>
          <p:cNvPr id="13" name="">
            <a:extLst xmlns:a="http://schemas.openxmlformats.org/drawingml/2006/main">
              <a:ext uri="{FF2B5EF4-FFF2-40B4-BE49-F238E27FC236}">
                <a16:creationId xmlns:a16="http://schemas.microsoft.com/office/drawing/2014/main" id="{31803A31-A8D6-4099-B2FC-E278AE6C914A}"/>
              </a:ext>
            </a:extLst>
          </p:cNvPr>
          <p:cNvSpPr>
            <a:spLocks xmlns:a="http://schemas.openxmlformats.org/drawingml/2006/main" noGrp="1"/>
          </p:cNvSpPr>
          <p:nvPr/>
        </p:nvSpPr>
        <p:spPr>
          <a:xfrm xmlns:a="http://schemas.openxmlformats.org/drawingml/2006/main">
            <a:off x="4152900" y="29718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63888"/>
                </a:solidFill>
              </a:defRPr>
            </a:pPr>
            <a:r>
              <a:rPr sz="1650" b="1">
                <a:solidFill>
                  <a:srgbClr val="E63888"/>
                </a:solidFill>
              </a:rPr>
              <a:t>→</a:t>
            </a:r>
          </a:p>
        </p:txBody>
      </p:sp>
      <p:sp>
        <p:nvSpPr>
          <p:cNvPr id="14" name="">
            <a:extLst xmlns:a="http://schemas.openxmlformats.org/drawingml/2006/main">
              <a:ext uri="{FF2B5EF4-FFF2-40B4-BE49-F238E27FC236}">
                <a16:creationId xmlns:a16="http://schemas.microsoft.com/office/drawing/2014/main" id="{7FDC3465-569F-424F-B923-54AF1AFC0087}"/>
              </a:ext>
            </a:extLst>
          </p:cNvPr>
          <p:cNvSpPr>
            <a:spLocks xmlns:a="http://schemas.openxmlformats.org/drawingml/2006/main" noGrp="1"/>
          </p:cNvSpPr>
          <p:nvPr/>
        </p:nvSpPr>
        <p:spPr>
          <a:xfrm xmlns:a="http://schemas.openxmlformats.org/drawingml/2006/main">
            <a:off x="4400550" y="2362200"/>
            <a:ext cx="1714500" cy="1524000"/>
          </a:xfrm>
          <a:prstGeom xmlns:a="http://schemas.openxmlformats.org/drawingml/2006/main" prst="roundRect">
            <a:avLst>
              <a:gd name="adj" fmla="val 5000"/>
            </a:avLst>
          </a:prstGeom>
          <a:solidFill xmlns:a="http://schemas.openxmlformats.org/drawingml/2006/main">
            <a:srgbClr val="3D1F5C"/>
          </a:solidFill>
          <a:ln xmlns:a="http://schemas.openxmlformats.org/drawingml/2006/main" w="19050">
            <a:solidFill>
              <a:srgbClr val="C7F25C"/>
            </a:solidFill>
            <a:prstDash val="solid"/>
          </a:ln>
        </p:spPr>
      </p:sp>
      <p:sp>
        <p:nvSpPr>
          <p:cNvPr id="15" name="">
            <a:extLst xmlns:a="http://schemas.openxmlformats.org/drawingml/2006/main">
              <a:ext uri="{FF2B5EF4-FFF2-40B4-BE49-F238E27FC236}">
                <a16:creationId xmlns:a16="http://schemas.microsoft.com/office/drawing/2014/main" id="{DDB617FF-8E1D-4B8E-B4F2-D602B55D4DD0}"/>
              </a:ext>
            </a:extLst>
          </p:cNvPr>
          <p:cNvSpPr>
            <a:spLocks xmlns:a="http://schemas.openxmlformats.org/drawingml/2006/main" noGrp="1"/>
          </p:cNvSpPr>
          <p:nvPr/>
        </p:nvSpPr>
        <p:spPr>
          <a:xfrm xmlns:a="http://schemas.openxmlformats.org/drawingml/2006/main">
            <a:off x="4552950" y="251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7F25C"/>
                </a:solidFill>
              </a:defRPr>
            </a:pPr>
            <a:r>
              <a:rPr sz="1050" b="1">
                <a:solidFill>
                  <a:srgbClr val="C7F25C"/>
                </a:solidFill>
              </a:rPr>
              <a:t>3</a:t>
            </a:r>
          </a:p>
        </p:txBody>
      </p:sp>
      <p:sp>
        <p:nvSpPr>
          <p:cNvPr id="16" name="">
            <a:extLst xmlns:a="http://schemas.openxmlformats.org/drawingml/2006/main">
              <a:ext uri="{FF2B5EF4-FFF2-40B4-BE49-F238E27FC236}">
                <a16:creationId xmlns:a16="http://schemas.microsoft.com/office/drawing/2014/main" id="{61B3C7A2-817F-4A16-AB29-8D577AE9BA5E}"/>
              </a:ext>
            </a:extLst>
          </p:cNvPr>
          <p:cNvSpPr>
            <a:spLocks xmlns:a="http://schemas.openxmlformats.org/drawingml/2006/main" noGrp="1"/>
          </p:cNvSpPr>
          <p:nvPr/>
        </p:nvSpPr>
        <p:spPr>
          <a:xfrm xmlns:a="http://schemas.openxmlformats.org/drawingml/2006/main">
            <a:off x="4552950" y="3028950"/>
            <a:ext cx="1409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TOOLS + MCP</a:t>
            </a:r>
          </a:p>
        </p:txBody>
      </p:sp>
      <p:sp>
        <p:nvSpPr>
          <p:cNvPr id="17" name="">
            <a:extLst xmlns:a="http://schemas.openxmlformats.org/drawingml/2006/main">
              <a:ext uri="{FF2B5EF4-FFF2-40B4-BE49-F238E27FC236}">
                <a16:creationId xmlns:a16="http://schemas.microsoft.com/office/drawing/2014/main" id="{E4C185C8-2F5F-491C-AB1B-E2DA9E8B070D}"/>
              </a:ext>
            </a:extLst>
          </p:cNvPr>
          <p:cNvSpPr>
            <a:spLocks xmlns:a="http://schemas.openxmlformats.org/drawingml/2006/main" noGrp="1"/>
          </p:cNvSpPr>
          <p:nvPr/>
        </p:nvSpPr>
        <p:spPr>
          <a:xfrm xmlns:a="http://schemas.openxmlformats.org/drawingml/2006/main">
            <a:off x="6096000" y="29718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63888"/>
                </a:solidFill>
              </a:defRPr>
            </a:pPr>
            <a:r>
              <a:rPr sz="1650" b="1">
                <a:solidFill>
                  <a:srgbClr val="E63888"/>
                </a:solidFill>
              </a:rPr>
              <a:t>→</a:t>
            </a:r>
          </a:p>
        </p:txBody>
      </p:sp>
      <p:sp>
        <p:nvSpPr>
          <p:cNvPr id="18" name="">
            <a:extLst xmlns:a="http://schemas.openxmlformats.org/drawingml/2006/main">
              <a:ext uri="{FF2B5EF4-FFF2-40B4-BE49-F238E27FC236}">
                <a16:creationId xmlns:a16="http://schemas.microsoft.com/office/drawing/2014/main" id="{4DD949C0-F632-4255-9D98-7D76790BE469}"/>
              </a:ext>
            </a:extLst>
          </p:cNvPr>
          <p:cNvSpPr>
            <a:spLocks xmlns:a="http://schemas.openxmlformats.org/drawingml/2006/main" noGrp="1"/>
          </p:cNvSpPr>
          <p:nvPr/>
        </p:nvSpPr>
        <p:spPr>
          <a:xfrm xmlns:a="http://schemas.openxmlformats.org/drawingml/2006/main">
            <a:off x="6343650" y="2362200"/>
            <a:ext cx="1714500" cy="1524000"/>
          </a:xfrm>
          <a:prstGeom xmlns:a="http://schemas.openxmlformats.org/drawingml/2006/main" prst="roundRect">
            <a:avLst>
              <a:gd name="adj" fmla="val 5000"/>
            </a:avLst>
          </a:prstGeom>
          <a:solidFill xmlns:a="http://schemas.openxmlformats.org/drawingml/2006/main">
            <a:srgbClr val="3D1F5C"/>
          </a:solidFill>
          <a:ln xmlns:a="http://schemas.openxmlformats.org/drawingml/2006/main" w="19050">
            <a:solidFill>
              <a:srgbClr val="C7F25C"/>
            </a:solidFill>
            <a:prstDash val="solid"/>
          </a:ln>
        </p:spPr>
      </p:sp>
      <p:sp>
        <p:nvSpPr>
          <p:cNvPr id="19" name="">
            <a:extLst xmlns:a="http://schemas.openxmlformats.org/drawingml/2006/main">
              <a:ext uri="{FF2B5EF4-FFF2-40B4-BE49-F238E27FC236}">
                <a16:creationId xmlns:a16="http://schemas.microsoft.com/office/drawing/2014/main" id="{D441FA28-AA1B-4049-B84F-C8C8165AF7A7}"/>
              </a:ext>
            </a:extLst>
          </p:cNvPr>
          <p:cNvSpPr>
            <a:spLocks xmlns:a="http://schemas.openxmlformats.org/drawingml/2006/main" noGrp="1"/>
          </p:cNvSpPr>
          <p:nvPr/>
        </p:nvSpPr>
        <p:spPr>
          <a:xfrm xmlns:a="http://schemas.openxmlformats.org/drawingml/2006/main">
            <a:off x="6496050" y="251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7F25C"/>
                </a:solidFill>
              </a:defRPr>
            </a:pPr>
            <a:r>
              <a:rPr sz="1050" b="1">
                <a:solidFill>
                  <a:srgbClr val="C7F25C"/>
                </a:solidFill>
              </a:rPr>
              <a:t>4</a:t>
            </a:r>
          </a:p>
        </p:txBody>
      </p:sp>
      <p:sp>
        <p:nvSpPr>
          <p:cNvPr id="20" name="">
            <a:extLst xmlns:a="http://schemas.openxmlformats.org/drawingml/2006/main">
              <a:ext uri="{FF2B5EF4-FFF2-40B4-BE49-F238E27FC236}">
                <a16:creationId xmlns:a16="http://schemas.microsoft.com/office/drawing/2014/main" id="{A489B1FC-A700-4BEB-94A5-23B8E4546DA0}"/>
              </a:ext>
            </a:extLst>
          </p:cNvPr>
          <p:cNvSpPr>
            <a:spLocks xmlns:a="http://schemas.openxmlformats.org/drawingml/2006/main" noGrp="1"/>
          </p:cNvSpPr>
          <p:nvPr/>
        </p:nvSpPr>
        <p:spPr>
          <a:xfrm xmlns:a="http://schemas.openxmlformats.org/drawingml/2006/main">
            <a:off x="6496050" y="3028950"/>
            <a:ext cx="1409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STATE + LOOP</a:t>
            </a:r>
          </a:p>
        </p:txBody>
      </p:sp>
      <p:sp>
        <p:nvSpPr>
          <p:cNvPr id="21" name="">
            <a:extLst xmlns:a="http://schemas.openxmlformats.org/drawingml/2006/main">
              <a:ext uri="{FF2B5EF4-FFF2-40B4-BE49-F238E27FC236}">
                <a16:creationId xmlns:a16="http://schemas.microsoft.com/office/drawing/2014/main" id="{FB58A9D6-0179-47A8-8E33-B7AA11D9D01F}"/>
              </a:ext>
            </a:extLst>
          </p:cNvPr>
          <p:cNvSpPr>
            <a:spLocks xmlns:a="http://schemas.openxmlformats.org/drawingml/2006/main" noGrp="1"/>
          </p:cNvSpPr>
          <p:nvPr/>
        </p:nvSpPr>
        <p:spPr>
          <a:xfrm xmlns:a="http://schemas.openxmlformats.org/drawingml/2006/main">
            <a:off x="8039100" y="29718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63888"/>
                </a:solidFill>
              </a:defRPr>
            </a:pPr>
            <a:r>
              <a:rPr sz="1650" b="1">
                <a:solidFill>
                  <a:srgbClr val="E63888"/>
                </a:solidFill>
              </a:rPr>
              <a:t>→</a:t>
            </a:r>
          </a:p>
        </p:txBody>
      </p:sp>
      <p:sp>
        <p:nvSpPr>
          <p:cNvPr id="22" name="">
            <a:extLst xmlns:a="http://schemas.openxmlformats.org/drawingml/2006/main">
              <a:ext uri="{FF2B5EF4-FFF2-40B4-BE49-F238E27FC236}">
                <a16:creationId xmlns:a16="http://schemas.microsoft.com/office/drawing/2014/main" id="{F33942F5-6B23-42E6-A91D-CD49FBC556CA}"/>
              </a:ext>
            </a:extLst>
          </p:cNvPr>
          <p:cNvSpPr>
            <a:spLocks xmlns:a="http://schemas.openxmlformats.org/drawingml/2006/main" noGrp="1"/>
          </p:cNvSpPr>
          <p:nvPr/>
        </p:nvSpPr>
        <p:spPr>
          <a:xfrm xmlns:a="http://schemas.openxmlformats.org/drawingml/2006/main">
            <a:off x="8286750" y="2362200"/>
            <a:ext cx="1714500" cy="1524000"/>
          </a:xfrm>
          <a:prstGeom xmlns:a="http://schemas.openxmlformats.org/drawingml/2006/main" prst="roundRect">
            <a:avLst>
              <a:gd name="adj" fmla="val 5000"/>
            </a:avLst>
          </a:prstGeom>
          <a:solidFill xmlns:a="http://schemas.openxmlformats.org/drawingml/2006/main">
            <a:srgbClr val="3D1F5C"/>
          </a:solidFill>
          <a:ln xmlns:a="http://schemas.openxmlformats.org/drawingml/2006/main" w="19050">
            <a:solidFill>
              <a:srgbClr val="C7F25C"/>
            </a:solidFill>
            <a:prstDash val="solid"/>
          </a:ln>
        </p:spPr>
      </p:sp>
      <p:sp>
        <p:nvSpPr>
          <p:cNvPr id="23" name="">
            <a:extLst xmlns:a="http://schemas.openxmlformats.org/drawingml/2006/main">
              <a:ext uri="{FF2B5EF4-FFF2-40B4-BE49-F238E27FC236}">
                <a16:creationId xmlns:a16="http://schemas.microsoft.com/office/drawing/2014/main" id="{65B62549-75BC-4C15-BF25-D7C95BCF0040}"/>
              </a:ext>
            </a:extLst>
          </p:cNvPr>
          <p:cNvSpPr>
            <a:spLocks xmlns:a="http://schemas.openxmlformats.org/drawingml/2006/main" noGrp="1"/>
          </p:cNvSpPr>
          <p:nvPr/>
        </p:nvSpPr>
        <p:spPr>
          <a:xfrm xmlns:a="http://schemas.openxmlformats.org/drawingml/2006/main">
            <a:off x="8439150" y="251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7F25C"/>
                </a:solidFill>
              </a:defRPr>
            </a:pPr>
            <a:r>
              <a:rPr sz="1050" b="1">
                <a:solidFill>
                  <a:srgbClr val="C7F25C"/>
                </a:solidFill>
              </a:rPr>
              <a:t>5</a:t>
            </a:r>
          </a:p>
        </p:txBody>
      </p:sp>
      <p:sp>
        <p:nvSpPr>
          <p:cNvPr id="24" name="">
            <a:extLst xmlns:a="http://schemas.openxmlformats.org/drawingml/2006/main">
              <a:ext uri="{FF2B5EF4-FFF2-40B4-BE49-F238E27FC236}">
                <a16:creationId xmlns:a16="http://schemas.microsoft.com/office/drawing/2014/main" id="{F2F0EC97-D107-4D57-9B1C-8C5893745B93}"/>
              </a:ext>
            </a:extLst>
          </p:cNvPr>
          <p:cNvSpPr>
            <a:spLocks xmlns:a="http://schemas.openxmlformats.org/drawingml/2006/main" noGrp="1"/>
          </p:cNvSpPr>
          <p:nvPr/>
        </p:nvSpPr>
        <p:spPr>
          <a:xfrm xmlns:a="http://schemas.openxmlformats.org/drawingml/2006/main">
            <a:off x="8439150" y="3028950"/>
            <a:ext cx="1409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EVALUATION</a:t>
            </a:r>
          </a:p>
        </p:txBody>
      </p:sp>
      <p:sp>
        <p:nvSpPr>
          <p:cNvPr id="25" name="">
            <a:extLst xmlns:a="http://schemas.openxmlformats.org/drawingml/2006/main">
              <a:ext uri="{FF2B5EF4-FFF2-40B4-BE49-F238E27FC236}">
                <a16:creationId xmlns:a16="http://schemas.microsoft.com/office/drawing/2014/main" id="{7CBF511A-9AAF-4AC8-801E-9A6110EB9EAF}"/>
              </a:ext>
            </a:extLst>
          </p:cNvPr>
          <p:cNvSpPr>
            <a:spLocks xmlns:a="http://schemas.openxmlformats.org/drawingml/2006/main" noGrp="1"/>
          </p:cNvSpPr>
          <p:nvPr/>
        </p:nvSpPr>
        <p:spPr>
          <a:xfrm xmlns:a="http://schemas.openxmlformats.org/drawingml/2006/main">
            <a:off x="9982200" y="29718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63888"/>
                </a:solidFill>
              </a:defRPr>
            </a:pPr>
            <a:r>
              <a:rPr sz="1650" b="1">
                <a:solidFill>
                  <a:srgbClr val="E63888"/>
                </a:solidFill>
              </a:rPr>
              <a:t>→</a:t>
            </a:r>
          </a:p>
        </p:txBody>
      </p:sp>
      <p:sp>
        <p:nvSpPr>
          <p:cNvPr id="26" name="">
            <a:extLst xmlns:a="http://schemas.openxmlformats.org/drawingml/2006/main">
              <a:ext uri="{FF2B5EF4-FFF2-40B4-BE49-F238E27FC236}">
                <a16:creationId xmlns:a16="http://schemas.microsoft.com/office/drawing/2014/main" id="{A8FC330B-6BA0-44F7-9C69-F419628C4A43}"/>
              </a:ext>
            </a:extLst>
          </p:cNvPr>
          <p:cNvSpPr>
            <a:spLocks xmlns:a="http://schemas.openxmlformats.org/drawingml/2006/main" noGrp="1"/>
          </p:cNvSpPr>
          <p:nvPr/>
        </p:nvSpPr>
        <p:spPr>
          <a:xfrm xmlns:a="http://schemas.openxmlformats.org/drawingml/2006/main">
            <a:off x="10229850" y="2362200"/>
            <a:ext cx="1714500" cy="1524000"/>
          </a:xfrm>
          <a:prstGeom xmlns:a="http://schemas.openxmlformats.org/drawingml/2006/main" prst="roundRect">
            <a:avLst>
              <a:gd name="adj" fmla="val 5000"/>
            </a:avLst>
          </a:prstGeom>
          <a:solidFill xmlns:a="http://schemas.openxmlformats.org/drawingml/2006/main">
            <a:srgbClr val="E63888"/>
          </a:solidFill>
          <a:ln xmlns:a="http://schemas.openxmlformats.org/drawingml/2006/main" w="19050">
            <a:solidFill>
              <a:srgbClr val="E63888"/>
            </a:solidFill>
            <a:prstDash val="solid"/>
          </a:ln>
        </p:spPr>
      </p:sp>
      <p:sp>
        <p:nvSpPr>
          <p:cNvPr id="27" name="">
            <a:extLst xmlns:a="http://schemas.openxmlformats.org/drawingml/2006/main">
              <a:ext uri="{FF2B5EF4-FFF2-40B4-BE49-F238E27FC236}">
                <a16:creationId xmlns:a16="http://schemas.microsoft.com/office/drawing/2014/main" id="{B2CCD1B9-A55E-44E6-A6A0-9E3A0B18AD94}"/>
              </a:ext>
            </a:extLst>
          </p:cNvPr>
          <p:cNvSpPr>
            <a:spLocks xmlns:a="http://schemas.openxmlformats.org/drawingml/2006/main" noGrp="1"/>
          </p:cNvSpPr>
          <p:nvPr/>
        </p:nvSpPr>
        <p:spPr>
          <a:xfrm xmlns:a="http://schemas.openxmlformats.org/drawingml/2006/main">
            <a:off x="10382250" y="251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7F25C"/>
                </a:solidFill>
              </a:defRPr>
            </a:pPr>
            <a:r>
              <a:rPr sz="1050" b="1">
                <a:solidFill>
                  <a:srgbClr val="C7F25C"/>
                </a:solidFill>
              </a:rPr>
              <a:t>6</a:t>
            </a:r>
          </a:p>
        </p:txBody>
      </p:sp>
      <p:sp>
        <p:nvSpPr>
          <p:cNvPr id="28" name="">
            <a:extLst xmlns:a="http://schemas.openxmlformats.org/drawingml/2006/main">
              <a:ext uri="{FF2B5EF4-FFF2-40B4-BE49-F238E27FC236}">
                <a16:creationId xmlns:a16="http://schemas.microsoft.com/office/drawing/2014/main" id="{70F88E16-207D-4EAC-A520-1F443A82C2CE}"/>
              </a:ext>
            </a:extLst>
          </p:cNvPr>
          <p:cNvSpPr>
            <a:spLocks xmlns:a="http://schemas.openxmlformats.org/drawingml/2006/main" noGrp="1"/>
          </p:cNvSpPr>
          <p:nvPr/>
        </p:nvSpPr>
        <p:spPr>
          <a:xfrm xmlns:a="http://schemas.openxmlformats.org/drawingml/2006/main">
            <a:off x="10382250" y="3028950"/>
            <a:ext cx="1409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HUMAN + PERMISSIONS</a:t>
            </a:r>
          </a:p>
        </p:txBody>
      </p:sp>
      <p:sp>
        <p:nvSpPr>
          <p:cNvPr id="29" name="">
            <a:extLst xmlns:a="http://schemas.openxmlformats.org/drawingml/2006/main">
              <a:ext uri="{FF2B5EF4-FFF2-40B4-BE49-F238E27FC236}">
                <a16:creationId xmlns:a16="http://schemas.microsoft.com/office/drawing/2014/main" id="{D53D96D6-B38E-4FEF-98A8-7F7C29C92804}"/>
              </a:ext>
            </a:extLst>
          </p:cNvPr>
          <p:cNvSpPr>
            <a:spLocks xmlns:a="http://schemas.openxmlformats.org/drawingml/2006/main" noGrp="1"/>
          </p:cNvSpPr>
          <p:nvPr/>
        </p:nvSpPr>
        <p:spPr>
          <a:xfrm xmlns:a="http://schemas.openxmlformats.org/drawingml/2006/main">
            <a:off x="1143000" y="45720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FFFFF"/>
                </a:solidFill>
              </a:defRPr>
            </a:pPr>
            <a:r>
              <a:rPr sz="1950" b="1">
                <a:solidFill>
                  <a:srgbClr val="FFFFFF"/>
                </a:solidFill>
              </a:rPr>
              <a:t>The harness loads evidence, runs the loop, uses approved tools, checks the result, and knows when to stop.</a:t>
            </a:r>
          </a:p>
        </p:txBody>
      </p:sp>
      <p:sp>
        <p:nvSpPr>
          <p:cNvPr id="30" name="">
            <a:extLst xmlns:a="http://schemas.openxmlformats.org/drawingml/2006/main">
              <a:ext uri="{FF2B5EF4-FFF2-40B4-BE49-F238E27FC236}">
                <a16:creationId xmlns:a16="http://schemas.microsoft.com/office/drawing/2014/main" id="{6B4A3305-6598-480F-96DB-5D2A103DC025}"/>
              </a:ext>
            </a:extLst>
          </p:cNvPr>
          <p:cNvSpPr>
            <a:spLocks xmlns:a="http://schemas.openxmlformats.org/drawingml/2006/main" noGrp="1"/>
          </p:cNvSpPr>
          <p:nvPr/>
        </p:nvSpPr>
        <p:spPr>
          <a:xfrm xmlns:a="http://schemas.openxmlformats.org/drawingml/2006/main">
            <a:off x="1524000" y="5314950"/>
            <a:ext cx="914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C7F25C"/>
                </a:solidFill>
              </a:defRPr>
            </a:pPr>
            <a:r>
              <a:rPr sz="1575" b="1">
                <a:solidFill>
                  <a:srgbClr val="C7F25C"/>
                </a:solidFill>
              </a:rPr>
              <a:t>The model produces. The harness runs and governs the work.</a:t>
            </a:r>
          </a:p>
        </p:txBody>
      </p:sp>
    </p:spTree>
    <p:extLst>
      <p:ext uri="{BB962C8B-B14F-4D97-AF65-F5344CB8AC3E}">
        <p14:creationId xmlns:p14="http://schemas.microsoft.com/office/powerpoint/2010/main" val="1492209285"/>
      </p:ext>
    </p:extLst>
  </p:cSld>
</p:sld>
</file>

<file path=ppt/slides/slide12.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1D44F0B-0225-4CE0-BC74-40A43F1BBB11}"/>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B5CB3EBC-E827-46CF-8CE3-554DC9E7216F}"/>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FA148C6-7948-43C3-A2D1-A505C408A1E9}"/>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26232A"/>
                </a:solidFill>
              </a:defRPr>
            </a:pPr>
            <a:r>
              <a:rPr sz="3150" b="1">
                <a:solidFill>
                  <a:srgbClr val="26232A"/>
                </a:solidFill>
              </a:rPr>
              <a:t>Verify, interpret, qualify, then draft.</a:t>
            </a:r>
          </a:p>
        </p:txBody>
      </p:sp>
      <p:sp>
        <p:nvSpPr>
          <p:cNvPr id="4" name="">
            <a:extLst xmlns:a="http://schemas.openxmlformats.org/drawingml/2006/main">
              <a:ext uri="{FF2B5EF4-FFF2-40B4-BE49-F238E27FC236}">
                <a16:creationId xmlns:a16="http://schemas.microsoft.com/office/drawing/2014/main" id="{A02002F8-2AD8-416D-8147-8D29546C656C}"/>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6E6873"/>
                </a:solidFill>
              </a:defRPr>
            </a:pPr>
            <a:r>
              <a:rPr sz="750" b="1">
                <a:solidFill>
                  <a:srgbClr val="6E6873"/>
                </a:solidFill>
              </a:rPr>
              <a:t>FORGEX  |  AI FOR ABM</a:t>
            </a:r>
          </a:p>
        </p:txBody>
      </p:sp>
      <p:sp>
        <p:nvSpPr>
          <p:cNvPr id="5" name="">
            <a:extLst xmlns:a="http://schemas.openxmlformats.org/drawingml/2006/main">
              <a:ext uri="{FF2B5EF4-FFF2-40B4-BE49-F238E27FC236}">
                <a16:creationId xmlns:a16="http://schemas.microsoft.com/office/drawing/2014/main" id="{A1BED357-0B15-4963-A0E3-794FF9B36A23}"/>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E63888"/>
                </a:solidFill>
              </a:defRPr>
            </a:pPr>
            <a:r>
              <a:rPr sz="825" b="1">
                <a:solidFill>
                  <a:srgbClr val="E63888"/>
                </a:solidFill>
              </a:rPr>
              <a:t>12</a:t>
            </a:r>
          </a:p>
        </p:txBody>
      </p:sp>
      <p:sp>
        <p:nvSpPr>
          <p:cNvPr id="6" name="">
            <a:extLst xmlns:a="http://schemas.openxmlformats.org/drawingml/2006/main">
              <a:ext uri="{FF2B5EF4-FFF2-40B4-BE49-F238E27FC236}">
                <a16:creationId xmlns:a16="http://schemas.microsoft.com/office/drawing/2014/main" id="{715BD202-D2FB-45C0-87AD-D29F4F0AF4E6}"/>
              </a:ext>
            </a:extLst>
          </p:cNvPr>
          <p:cNvSpPr>
            <a:spLocks xmlns:a="http://schemas.openxmlformats.org/drawingml/2006/main" noGrp="1"/>
          </p:cNvSpPr>
          <p:nvPr/>
        </p:nvSpPr>
        <p:spPr>
          <a:xfrm xmlns:a="http://schemas.openxmlformats.org/drawingml/2006/main">
            <a:off x="628650" y="1981200"/>
            <a:ext cx="109347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EAE3EC"/>
            </a:solidFill>
            <a:prstDash val="solid"/>
          </a:ln>
        </p:spPr>
      </p:sp>
      <p:sp>
        <p:nvSpPr>
          <p:cNvPr id="7" name="">
            <a:extLst xmlns:a="http://schemas.openxmlformats.org/drawingml/2006/main">
              <a:ext uri="{FF2B5EF4-FFF2-40B4-BE49-F238E27FC236}">
                <a16:creationId xmlns:a16="http://schemas.microsoft.com/office/drawing/2014/main" id="{291A2EE8-720C-4F40-888B-1BC45F1BCACA}"/>
              </a:ext>
            </a:extLst>
          </p:cNvPr>
          <p:cNvSpPr>
            <a:spLocks xmlns:a="http://schemas.openxmlformats.org/drawingml/2006/main" noGrp="1"/>
          </p:cNvSpPr>
          <p:nvPr/>
        </p:nvSpPr>
        <p:spPr>
          <a:xfrm xmlns:a="http://schemas.openxmlformats.org/drawingml/2006/main">
            <a:off x="895350" y="21526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3D1F5C"/>
                </a:solidFill>
              </a:defRPr>
            </a:pPr>
            <a:r>
              <a:rPr sz="1500" b="1">
                <a:solidFill>
                  <a:srgbClr val="3D1F5C"/>
                </a:solidFill>
              </a:rPr>
              <a:t>1 VERIFY | HIRING SIGNAL VERIFICATION</a:t>
            </a:r>
          </a:p>
        </p:txBody>
      </p:sp>
      <p:sp>
        <p:nvSpPr>
          <p:cNvPr id="8" name="">
            <a:extLst xmlns:a="http://schemas.openxmlformats.org/drawingml/2006/main">
              <a:ext uri="{FF2B5EF4-FFF2-40B4-BE49-F238E27FC236}">
                <a16:creationId xmlns:a16="http://schemas.microsoft.com/office/drawing/2014/main" id="{E1AA2032-8738-47AB-AB7B-27E0A8D5EBC7}"/>
              </a:ext>
            </a:extLst>
          </p:cNvPr>
          <p:cNvSpPr>
            <a:spLocks xmlns:a="http://schemas.openxmlformats.org/drawingml/2006/main" noGrp="1"/>
          </p:cNvSpPr>
          <p:nvPr/>
        </p:nvSpPr>
        <p:spPr>
          <a:xfrm xmlns:a="http://schemas.openxmlformats.org/drawingml/2006/main">
            <a:off x="895350" y="247650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E63888"/>
                </a:solidFill>
              </a:defRPr>
            </a:pPr>
            <a:r>
              <a:rPr sz="1050" b="1">
                <a:solidFill>
                  <a:srgbClr val="E63888"/>
                </a:solidFill>
              </a:rPr>
              <a:t>Peter S. Borkovich | T3 synthetic + T4 live read-only</a:t>
            </a:r>
          </a:p>
        </p:txBody>
      </p:sp>
      <p:sp>
        <p:nvSpPr>
          <p:cNvPr id="9" name="">
            <a:extLst xmlns:a="http://schemas.openxmlformats.org/drawingml/2006/main">
              <a:ext uri="{FF2B5EF4-FFF2-40B4-BE49-F238E27FC236}">
                <a16:creationId xmlns:a16="http://schemas.microsoft.com/office/drawing/2014/main" id="{870F07D3-0856-4561-B9D9-EBD013AE3FB4}"/>
              </a:ext>
            </a:extLst>
          </p:cNvPr>
          <p:cNvSpPr>
            <a:spLocks xmlns:a="http://schemas.openxmlformats.org/drawingml/2006/main" noGrp="1"/>
          </p:cNvSpPr>
          <p:nvPr/>
        </p:nvSpPr>
        <p:spPr>
          <a:xfrm xmlns:a="http://schemas.openxmlformats.org/drawingml/2006/main">
            <a:off x="5505450" y="2247900"/>
            <a:ext cx="5676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26232A"/>
                </a:solidFill>
              </a:defRPr>
            </a:pPr>
            <a:r>
              <a:rPr sz="1275" b="0">
                <a:solidFill>
                  <a:srgbClr val="26232A"/>
                </a:solidFill>
              </a:rPr>
              <a:t>2 INTERPRET | Signal Interpreter | Din Arbel
T3 synthetic | meaning + confidence + why-now | no routing or writes</a:t>
            </a:r>
          </a:p>
        </p:txBody>
      </p:sp>
      <p:sp>
        <p:nvSpPr>
          <p:cNvPr id="10" name="">
            <a:extLst xmlns:a="http://schemas.openxmlformats.org/drawingml/2006/main">
              <a:ext uri="{FF2B5EF4-FFF2-40B4-BE49-F238E27FC236}">
                <a16:creationId xmlns:a16="http://schemas.microsoft.com/office/drawing/2014/main" id="{84474EF7-84E9-4861-BD5F-1C0F471FCFBA}"/>
              </a:ext>
            </a:extLst>
          </p:cNvPr>
          <p:cNvSpPr>
            <a:spLocks xmlns:a="http://schemas.openxmlformats.org/drawingml/2006/main" noGrp="1"/>
          </p:cNvSpPr>
          <p:nvPr/>
        </p:nvSpPr>
        <p:spPr>
          <a:xfrm xmlns:a="http://schemas.openxmlformats.org/drawingml/2006/main">
            <a:off x="628650" y="3371850"/>
            <a:ext cx="10934700" cy="1123950"/>
          </a:xfrm>
          <a:prstGeom xmlns:a="http://schemas.openxmlformats.org/drawingml/2006/main" prst="roundRect">
            <a:avLst>
              <a:gd name="adj" fmla="val 6780"/>
            </a:avLst>
          </a:prstGeom>
          <a:solidFill xmlns:a="http://schemas.openxmlformats.org/drawingml/2006/main">
            <a:srgbClr val="3D1F5C"/>
          </a:solidFill>
          <a:ln xmlns:a="http://schemas.openxmlformats.org/drawingml/2006/main" w="19050">
            <a:solidFill>
              <a:srgbClr val="3D1F5C"/>
            </a:solidFill>
            <a:prstDash val="solid"/>
          </a:ln>
        </p:spPr>
      </p:sp>
      <p:sp>
        <p:nvSpPr>
          <p:cNvPr id="11" name="">
            <a:extLst xmlns:a="http://schemas.openxmlformats.org/drawingml/2006/main">
              <a:ext uri="{FF2B5EF4-FFF2-40B4-BE49-F238E27FC236}">
                <a16:creationId xmlns:a16="http://schemas.microsoft.com/office/drawing/2014/main" id="{7454963B-2223-44F1-A1AF-FBFB8934136A}"/>
              </a:ext>
            </a:extLst>
          </p:cNvPr>
          <p:cNvSpPr>
            <a:spLocks xmlns:a="http://schemas.openxmlformats.org/drawingml/2006/main" noGrp="1"/>
          </p:cNvSpPr>
          <p:nvPr/>
        </p:nvSpPr>
        <p:spPr>
          <a:xfrm xmlns:a="http://schemas.openxmlformats.org/drawingml/2006/main">
            <a:off x="895350" y="35433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FFFFF"/>
                </a:solidFill>
              </a:defRPr>
            </a:pPr>
            <a:r>
              <a:rPr sz="1500" b="1">
                <a:solidFill>
                  <a:srgbClr val="FFFFFF"/>
                </a:solidFill>
              </a:rPr>
              <a:t>3 QUALIFY | AUDIENCE ICP FILTER</a:t>
            </a:r>
          </a:p>
        </p:txBody>
      </p:sp>
      <p:sp>
        <p:nvSpPr>
          <p:cNvPr id="12" name="">
            <a:extLst xmlns:a="http://schemas.openxmlformats.org/drawingml/2006/main">
              <a:ext uri="{FF2B5EF4-FFF2-40B4-BE49-F238E27FC236}">
                <a16:creationId xmlns:a16="http://schemas.microsoft.com/office/drawing/2014/main" id="{9B274034-6686-4324-B81B-D91928A1BB5F}"/>
              </a:ext>
            </a:extLst>
          </p:cNvPr>
          <p:cNvSpPr>
            <a:spLocks xmlns:a="http://schemas.openxmlformats.org/drawingml/2006/main" noGrp="1"/>
          </p:cNvSpPr>
          <p:nvPr/>
        </p:nvSpPr>
        <p:spPr>
          <a:xfrm xmlns:a="http://schemas.openxmlformats.org/drawingml/2006/main">
            <a:off x="895350" y="38671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7F25C"/>
                </a:solidFill>
              </a:defRPr>
            </a:pPr>
            <a:r>
              <a:rPr sz="1050" b="1">
                <a:solidFill>
                  <a:srgbClr val="C7F25C"/>
                </a:solidFill>
              </a:rPr>
              <a:t>Erwann Lefevre | T3 synthetic | Keep / Exclude / Review</a:t>
            </a:r>
          </a:p>
        </p:txBody>
      </p:sp>
      <p:sp>
        <p:nvSpPr>
          <p:cNvPr id="13" name="">
            <a:extLst xmlns:a="http://schemas.openxmlformats.org/drawingml/2006/main">
              <a:ext uri="{FF2B5EF4-FFF2-40B4-BE49-F238E27FC236}">
                <a16:creationId xmlns:a16="http://schemas.microsoft.com/office/drawing/2014/main" id="{215F6E66-1181-4F26-9154-7C5AC1E5AEE2}"/>
              </a:ext>
            </a:extLst>
          </p:cNvPr>
          <p:cNvSpPr>
            <a:spLocks xmlns:a="http://schemas.openxmlformats.org/drawingml/2006/main" noGrp="1"/>
          </p:cNvSpPr>
          <p:nvPr/>
        </p:nvSpPr>
        <p:spPr>
          <a:xfrm xmlns:a="http://schemas.openxmlformats.org/drawingml/2006/main">
            <a:off x="5505450" y="3638550"/>
            <a:ext cx="5676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FFFFFF"/>
                </a:solidFill>
              </a:defRPr>
            </a:pPr>
            <a:r>
              <a:rPr sz="1275" b="0">
                <a:solidFill>
                  <a:srgbClr val="FFFFFF"/>
                </a:solidFill>
              </a:rPr>
              <a:t>4 DRAFT | Multichannel Campaign Builder | Erwann Lefevre
T3 conditional synthetic | source-backed inputs + mandatory human QA</a:t>
            </a:r>
          </a:p>
        </p:txBody>
      </p:sp>
      <p:sp>
        <p:nvSpPr>
          <p:cNvPr id="14" name="">
            <a:extLst xmlns:a="http://schemas.openxmlformats.org/drawingml/2006/main">
              <a:ext uri="{FF2B5EF4-FFF2-40B4-BE49-F238E27FC236}">
                <a16:creationId xmlns:a16="http://schemas.microsoft.com/office/drawing/2014/main" id="{18539F22-85B9-4138-AF43-4F689C9A595A}"/>
              </a:ext>
            </a:extLst>
          </p:cNvPr>
          <p:cNvSpPr>
            <a:spLocks xmlns:a="http://schemas.openxmlformats.org/drawingml/2006/main" noGrp="1"/>
          </p:cNvSpPr>
          <p:nvPr/>
        </p:nvSpPr>
        <p:spPr>
          <a:xfrm xmlns:a="http://schemas.openxmlformats.org/drawingml/2006/main">
            <a:off x="666750" y="4895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E63888"/>
                </a:solidFill>
              </a:defRPr>
            </a:pPr>
            <a:r>
              <a:rPr sz="975" b="1">
                <a:solidFill>
                  <a:srgbClr val="E63888"/>
                </a:solidFill>
              </a:rPr>
              <a:t>LEVEL 2 TO 3 SOURCE BRIDGE</a:t>
            </a:r>
          </a:p>
        </p:txBody>
      </p:sp>
      <p:sp>
        <p:nvSpPr>
          <p:cNvPr id="15" name="">
            <a:extLst xmlns:a="http://schemas.openxmlformats.org/drawingml/2006/main">
              <a:ext uri="{FF2B5EF4-FFF2-40B4-BE49-F238E27FC236}">
                <a16:creationId xmlns:a16="http://schemas.microsoft.com/office/drawing/2014/main" id="{AA996B37-03CE-4E59-B9C4-C4345064C014}"/>
              </a:ext>
            </a:extLst>
          </p:cNvPr>
          <p:cNvSpPr>
            <a:spLocks xmlns:a="http://schemas.openxmlformats.org/drawingml/2006/main" noGrp="1"/>
          </p:cNvSpPr>
          <p:nvPr/>
        </p:nvSpPr>
        <p:spPr>
          <a:xfrm xmlns:a="http://schemas.openxmlformats.org/drawingml/2006/main">
            <a:off x="666750" y="5219700"/>
            <a:ext cx="10820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3D1F5C"/>
                </a:solidFill>
              </a:defRPr>
            </a:pPr>
            <a:r>
              <a:rPr sz="1275" b="1">
                <a:solidFill>
                  <a:srgbClr val="3D1F5C"/>
                </a:solidFill>
              </a:rPr>
              <a:t>Company Deep Dive | Uriel Knorovich | T1 static only | source hierarchy, dated claims, contradictions, refresh deduplication</a:t>
            </a:r>
          </a:p>
        </p:txBody>
      </p:sp>
      <p:sp>
        <p:nvSpPr>
          <p:cNvPr id="16" name="">
            <a:extLst xmlns:a="http://schemas.openxmlformats.org/drawingml/2006/main">
              <a:ext uri="{FF2B5EF4-FFF2-40B4-BE49-F238E27FC236}">
                <a16:creationId xmlns:a16="http://schemas.microsoft.com/office/drawing/2014/main" id="{8982B7FC-AC07-4071-A0E1-F30BBB561AB0}"/>
              </a:ext>
            </a:extLst>
          </p:cNvPr>
          <p:cNvSpPr>
            <a:spLocks xmlns:a="http://schemas.openxmlformats.org/drawingml/2006/main" noGrp="1"/>
          </p:cNvSpPr>
          <p:nvPr/>
        </p:nvSpPr>
        <p:spPr>
          <a:xfrm xmlns:a="http://schemas.openxmlformats.org/drawingml/2006/main">
            <a:off x="666750" y="5600700"/>
            <a:ext cx="10820400" cy="457200"/>
          </a:xfrm>
          <a:prstGeom xmlns:a="http://schemas.openxmlformats.org/drawingml/2006/main" prst="roundRect">
            <a:avLst>
              <a:gd name="adj" fmla="val 16667"/>
            </a:avLst>
          </a:prstGeom>
          <a:solidFill xmlns:a="http://schemas.openxmlformats.org/drawingml/2006/main">
            <a:srgbClr val="EAF8B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0D9AE8A-1D66-44E6-8523-C1A8E03A9AB9}"/>
              </a:ext>
            </a:extLst>
          </p:cNvPr>
          <p:cNvSpPr>
            <a:spLocks xmlns:a="http://schemas.openxmlformats.org/drawingml/2006/main" noGrp="1"/>
          </p:cNvSpPr>
          <p:nvPr/>
        </p:nvSpPr>
        <p:spPr>
          <a:xfrm xmlns:a="http://schemas.openxmlformats.org/drawingml/2006/main">
            <a:off x="838200" y="571500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a:solidFill>
                  <a:srgbClr val="3D1F5C"/>
                </a:solidFill>
              </a:defRPr>
            </a:pPr>
            <a:r>
              <a:rPr sz="1050" b="1">
                <a:solidFill>
                  <a:srgbClr val="3D1F5C"/>
                </a:solidFill>
              </a:rPr>
              <a:t>22 ICP records reconciled | 45/45 checks | hiring audit: 2 accepted, 4 narrowed, 5 dropped</a:t>
            </a:r>
          </a:p>
        </p:txBody>
      </p:sp>
      <p:sp>
        <p:nvSpPr>
          <p:cNvPr id="18" name="">
            <a:extLst xmlns:a="http://schemas.openxmlformats.org/drawingml/2006/main">
              <a:ext uri="{FF2B5EF4-FFF2-40B4-BE49-F238E27FC236}">
                <a16:creationId xmlns:a16="http://schemas.microsoft.com/office/drawing/2014/main" id="{6D04F575-FF6C-4871-8245-0151B5B22D7D}"/>
              </a:ext>
            </a:extLst>
          </p:cNvPr>
          <p:cNvSpPr>
            <a:spLocks xmlns:a="http://schemas.openxmlformats.org/drawingml/2006/main" noGrp="1"/>
          </p:cNvSpPr>
          <p:nvPr/>
        </p:nvSpPr>
        <p:spPr>
          <a:xfrm xmlns:a="http://schemas.openxmlformats.org/drawingml/2006/main">
            <a:off x="666750" y="6134100"/>
            <a:ext cx="10820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825" b="0">
                <a:solidFill>
                  <a:srgbClr val="6E6873"/>
                </a:solidFill>
              </a:defRPr>
            </a:pPr>
            <a:r>
              <a:rPr sz="825" b="0">
                <a:solidFill>
                  <a:srgbClr val="6E6873"/>
                </a:solidFill>
              </a:rPr>
              <a:t>External community work. Teaching references only. No Swan packages in the live build or external actions from these examples.</a:t>
            </a:r>
          </a:p>
        </p:txBody>
      </p:sp>
    </p:spTree>
    <p:extLst>
      <p:ext uri="{BB962C8B-B14F-4D97-AF65-F5344CB8AC3E}">
        <p14:creationId xmlns:p14="http://schemas.microsoft.com/office/powerpoint/2010/main" val="1366424623"/>
      </p:ext>
    </p:extLst>
  </p:cSld>
</p:sld>
</file>

<file path=ppt/slides/slide13.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6F13A57-2433-4EFE-A6FA-22527AFE8BB3}"/>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3E2C083F-536E-4E28-9CE9-F737CB0AC5E2}"/>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078CE24-45FF-490D-BC49-E3196599E05D}"/>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26232A"/>
                </a:solidFill>
              </a:defRPr>
            </a:pPr>
            <a:r>
              <a:rPr sz="3150" b="1">
                <a:solidFill>
                  <a:srgbClr val="26232A"/>
                </a:solidFill>
              </a:rPr>
              <a:t>Level 4: Governed Automation</a:t>
            </a:r>
          </a:p>
        </p:txBody>
      </p:sp>
      <p:sp>
        <p:nvSpPr>
          <p:cNvPr id="4" name="">
            <a:extLst xmlns:a="http://schemas.openxmlformats.org/drawingml/2006/main">
              <a:ext uri="{FF2B5EF4-FFF2-40B4-BE49-F238E27FC236}">
                <a16:creationId xmlns:a16="http://schemas.microsoft.com/office/drawing/2014/main" id="{755A30DC-22E9-4C9D-86BE-F8163369E0F5}"/>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6E6873"/>
                </a:solidFill>
              </a:defRPr>
            </a:pPr>
            <a:r>
              <a:rPr sz="750" b="1">
                <a:solidFill>
                  <a:srgbClr val="6E6873"/>
                </a:solidFill>
              </a:rPr>
              <a:t>FORGEX  |  AI FOR ABM</a:t>
            </a:r>
          </a:p>
        </p:txBody>
      </p:sp>
      <p:sp>
        <p:nvSpPr>
          <p:cNvPr id="5" name="">
            <a:extLst xmlns:a="http://schemas.openxmlformats.org/drawingml/2006/main">
              <a:ext uri="{FF2B5EF4-FFF2-40B4-BE49-F238E27FC236}">
                <a16:creationId xmlns:a16="http://schemas.microsoft.com/office/drawing/2014/main" id="{1B2D6DF1-05E5-4894-9431-7E9B582D4A04}"/>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E63888"/>
                </a:solidFill>
              </a:defRPr>
            </a:pPr>
            <a:r>
              <a:rPr sz="825" b="1">
                <a:solidFill>
                  <a:srgbClr val="E63888"/>
                </a:solidFill>
              </a:rPr>
              <a:t>13</a:t>
            </a:r>
          </a:p>
        </p:txBody>
      </p:sp>
      <p:sp>
        <p:nvSpPr>
          <p:cNvPr id="6" name="">
            <a:extLst xmlns:a="http://schemas.openxmlformats.org/drawingml/2006/main">
              <a:ext uri="{FF2B5EF4-FFF2-40B4-BE49-F238E27FC236}">
                <a16:creationId xmlns:a16="http://schemas.microsoft.com/office/drawing/2014/main" id="{57BF2306-78AD-464F-A4BA-CC2DCE6AA4FD}"/>
              </a:ext>
            </a:extLst>
          </p:cNvPr>
          <p:cNvSpPr>
            <a:spLocks xmlns:a="http://schemas.openxmlformats.org/drawingml/2006/main" noGrp="1"/>
          </p:cNvSpPr>
          <p:nvPr/>
        </p:nvSpPr>
        <p:spPr>
          <a:xfrm xmlns:a="http://schemas.openxmlformats.org/drawingml/2006/main">
            <a:off x="609600" y="1943100"/>
            <a:ext cx="6191250" cy="2457450"/>
          </a:xfrm>
          <a:prstGeom xmlns:a="http://schemas.openxmlformats.org/drawingml/2006/main" prst="roundRect">
            <a:avLst>
              <a:gd name="adj" fmla="val 3101"/>
            </a:avLst>
          </a:prstGeom>
          <a:solidFill xmlns:a="http://schemas.openxmlformats.org/drawingml/2006/main">
            <a:srgbClr val="FFFFFF"/>
          </a:solidFill>
          <a:ln xmlns:a="http://schemas.openxmlformats.org/drawingml/2006/main" w="19050">
            <a:solidFill>
              <a:srgbClr val="EAE3EC"/>
            </a:solidFill>
            <a:prstDash val="solid"/>
          </a:ln>
        </p:spPr>
      </p:sp>
      <p:sp>
        <p:nvSpPr>
          <p:cNvPr id="7" name="">
            <a:extLst xmlns:a="http://schemas.openxmlformats.org/drawingml/2006/main">
              <a:ext uri="{FF2B5EF4-FFF2-40B4-BE49-F238E27FC236}">
                <a16:creationId xmlns:a16="http://schemas.microsoft.com/office/drawing/2014/main" id="{736264B3-EB25-4A51-8BFA-995FF7B6E434}"/>
              </a:ext>
            </a:extLst>
          </p:cNvPr>
          <p:cNvSpPr>
            <a:spLocks xmlns:a="http://schemas.openxmlformats.org/drawingml/2006/main" noGrp="1"/>
          </p:cNvSpPr>
          <p:nvPr/>
        </p:nvSpPr>
        <p:spPr>
          <a:xfrm xmlns:a="http://schemas.openxmlformats.org/drawingml/2006/main">
            <a:off x="838200" y="21336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E63888"/>
                </a:solidFill>
              </a:defRPr>
            </a:pPr>
            <a:r>
              <a:rPr sz="975" b="1">
                <a:solidFill>
                  <a:srgbClr val="E63888"/>
                </a:solidFill>
              </a:rPr>
              <a:t>INPUT</a:t>
            </a:r>
          </a:p>
        </p:txBody>
      </p:sp>
      <p:sp>
        <p:nvSpPr>
          <p:cNvPr id="8" name="">
            <a:extLst xmlns:a="http://schemas.openxmlformats.org/drawingml/2006/main">
              <a:ext uri="{FF2B5EF4-FFF2-40B4-BE49-F238E27FC236}">
                <a16:creationId xmlns:a16="http://schemas.microsoft.com/office/drawing/2014/main" id="{C2A43F1E-9B06-4AE5-9D46-36727A2D6C88}"/>
              </a:ext>
            </a:extLst>
          </p:cNvPr>
          <p:cNvSpPr>
            <a:spLocks xmlns:a="http://schemas.openxmlformats.org/drawingml/2006/main" noGrp="1"/>
          </p:cNvSpPr>
          <p:nvPr/>
        </p:nvSpPr>
        <p:spPr>
          <a:xfrm xmlns:a="http://schemas.openxmlformats.org/drawingml/2006/main">
            <a:off x="838200" y="2457450"/>
            <a:ext cx="57340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26232A"/>
                </a:solidFill>
              </a:defRPr>
            </a:pPr>
            <a:r>
              <a:rPr sz="1425" b="0">
                <a:solidFill>
                  <a:srgbClr val="26232A"/>
                </a:solidFill>
              </a:rPr>
              <a:t>Every Monday, check approved Alder sources. If material evidence changed, rerun the skills, update the brief, show the diff, and route exceptions. Do not publish or send.</a:t>
            </a:r>
          </a:p>
        </p:txBody>
      </p:sp>
      <p:sp>
        <p:nvSpPr>
          <p:cNvPr id="9" name="">
            <a:extLst xmlns:a="http://schemas.openxmlformats.org/drawingml/2006/main">
              <a:ext uri="{FF2B5EF4-FFF2-40B4-BE49-F238E27FC236}">
                <a16:creationId xmlns:a16="http://schemas.microsoft.com/office/drawing/2014/main" id="{30E4C2B4-D40D-4BA1-926A-016B3C88E192}"/>
              </a:ext>
            </a:extLst>
          </p:cNvPr>
          <p:cNvSpPr>
            <a:spLocks xmlns:a="http://schemas.openxmlformats.org/drawingml/2006/main" noGrp="1"/>
          </p:cNvSpPr>
          <p:nvPr/>
        </p:nvSpPr>
        <p:spPr>
          <a:xfrm xmlns:a="http://schemas.openxmlformats.org/drawingml/2006/main">
            <a:off x="7181850" y="1943100"/>
            <a:ext cx="4400550" cy="2457450"/>
          </a:xfrm>
          <a:prstGeom xmlns:a="http://schemas.openxmlformats.org/drawingml/2006/main" prst="roundRect">
            <a:avLst>
              <a:gd name="adj" fmla="val 3101"/>
            </a:avLst>
          </a:prstGeom>
          <a:solidFill xmlns:a="http://schemas.openxmlformats.org/drawingml/2006/main">
            <a:srgbClr val="3D1F5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D48B5D9-1740-481D-9604-8E57C04B4B3A}"/>
              </a:ext>
            </a:extLst>
          </p:cNvPr>
          <p:cNvSpPr>
            <a:spLocks xmlns:a="http://schemas.openxmlformats.org/drawingml/2006/main" noGrp="1"/>
          </p:cNvSpPr>
          <p:nvPr/>
        </p:nvSpPr>
        <p:spPr>
          <a:xfrm xmlns:a="http://schemas.openxmlformats.org/drawingml/2006/main">
            <a:off x="7410450" y="21336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OUTPUT</a:t>
            </a:r>
          </a:p>
        </p:txBody>
      </p:sp>
      <p:sp>
        <p:nvSpPr>
          <p:cNvPr id="11" name="">
            <a:extLst xmlns:a="http://schemas.openxmlformats.org/drawingml/2006/main">
              <a:ext uri="{FF2B5EF4-FFF2-40B4-BE49-F238E27FC236}">
                <a16:creationId xmlns:a16="http://schemas.microsoft.com/office/drawing/2014/main" id="{E114A331-183C-46DC-902C-092EECBAEF77}"/>
              </a:ext>
            </a:extLst>
          </p:cNvPr>
          <p:cNvSpPr>
            <a:spLocks xmlns:a="http://schemas.openxmlformats.org/drawingml/2006/main" noGrp="1"/>
          </p:cNvSpPr>
          <p:nvPr/>
        </p:nvSpPr>
        <p:spPr>
          <a:xfrm xmlns:a="http://schemas.openxmlformats.org/drawingml/2006/main">
            <a:off x="7410450" y="2495550"/>
            <a:ext cx="39433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FFFFFF"/>
                </a:solidFill>
              </a:defRPr>
            </a:pPr>
            <a:r>
              <a:rPr sz="1650" b="1">
                <a:solidFill>
                  <a:srgbClr val="FFFFFF"/>
                </a:solidFill>
              </a:rPr>
              <a:t>Updated brief</a:t>
            </a:r>
          </a:p>
          <a:p xmlns:a="http://schemas.openxmlformats.org/drawingml/2006/main">
            <a:pPr algn="l">
              <a:buNone/>
              <a:defRPr sz="1650" b="1">
                <a:solidFill>
                  <a:srgbClr val="FFFFFF"/>
                </a:solidFill>
              </a:defRPr>
            </a:pPr>
            <a:r>
              <a:rPr sz="1650" b="1">
                <a:solidFill>
                  <a:srgbClr val="FFFFFF"/>
                </a:solidFill>
              </a:rPr>
              <a:t>Diff</a:t>
            </a:r>
          </a:p>
          <a:p xmlns:a="http://schemas.openxmlformats.org/drawingml/2006/main">
            <a:pPr algn="l">
              <a:buNone/>
              <a:defRPr sz="1650" b="1">
                <a:solidFill>
                  <a:srgbClr val="FFFFFF"/>
                </a:solidFill>
              </a:defRPr>
            </a:pPr>
            <a:r>
              <a:rPr sz="1650" b="1">
                <a:solidFill>
                  <a:srgbClr val="FFFFFF"/>
                </a:solidFill>
              </a:rPr>
              <a:t>No-change record</a:t>
            </a:r>
          </a:p>
          <a:p xmlns:a="http://schemas.openxmlformats.org/drawingml/2006/main">
            <a:pPr algn="l">
              <a:buNone/>
              <a:defRPr sz="1650" b="1">
                <a:solidFill>
                  <a:srgbClr val="FFFFFF"/>
                </a:solidFill>
              </a:defRPr>
            </a:pPr>
            <a:r>
              <a:rPr sz="1650" b="1">
                <a:solidFill>
                  <a:srgbClr val="FFFFFF"/>
                </a:solidFill>
              </a:rPr>
              <a:t>Exception queue</a:t>
            </a:r>
          </a:p>
          <a:p xmlns:a="http://schemas.openxmlformats.org/drawingml/2006/main">
            <a:pPr algn="l">
              <a:buNone/>
              <a:defRPr sz="1650" b="1">
                <a:solidFill>
                  <a:srgbClr val="FFFFFF"/>
                </a:solidFill>
              </a:defRPr>
            </a:pPr>
            <a:r>
              <a:rPr sz="1650" b="1">
                <a:solidFill>
                  <a:srgbClr val="FFFFFF"/>
                </a:solidFill>
              </a:rPr>
              <a:t>Audit trail</a:t>
            </a:r>
          </a:p>
        </p:txBody>
      </p:sp>
      <p:sp>
        <p:nvSpPr>
          <p:cNvPr id="12" name="">
            <a:extLst xmlns:a="http://schemas.openxmlformats.org/drawingml/2006/main">
              <a:ext uri="{FF2B5EF4-FFF2-40B4-BE49-F238E27FC236}">
                <a16:creationId xmlns:a16="http://schemas.microsoft.com/office/drawing/2014/main" id="{C871FFDE-503E-4C0E-B749-905D7C0E3183}"/>
              </a:ext>
            </a:extLst>
          </p:cNvPr>
          <p:cNvSpPr>
            <a:spLocks xmlns:a="http://schemas.openxmlformats.org/drawingml/2006/main" noGrp="1"/>
          </p:cNvSpPr>
          <p:nvPr/>
        </p:nvSpPr>
        <p:spPr>
          <a:xfrm xmlns:a="http://schemas.openxmlformats.org/drawingml/2006/main">
            <a:off x="990600" y="4762500"/>
            <a:ext cx="10210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3D1F5C"/>
                </a:solidFill>
              </a:defRPr>
            </a:pPr>
            <a:r>
              <a:rPr sz="1875" b="1">
                <a:solidFill>
                  <a:srgbClr val="3D1F5C"/>
                </a:solidFill>
              </a:rPr>
              <a:t>A good workflow records no change when the evidence does not justify a change.</a:t>
            </a:r>
          </a:p>
        </p:txBody>
      </p:sp>
      <p:sp>
        <p:nvSpPr>
          <p:cNvPr id="13" name="">
            <a:extLst xmlns:a="http://schemas.openxmlformats.org/drawingml/2006/main">
              <a:ext uri="{FF2B5EF4-FFF2-40B4-BE49-F238E27FC236}">
                <a16:creationId xmlns:a16="http://schemas.microsoft.com/office/drawing/2014/main" id="{2DE203C2-2839-4502-B5FA-BA1D3E6480E5}"/>
              </a:ext>
            </a:extLst>
          </p:cNvPr>
          <p:cNvSpPr>
            <a:spLocks xmlns:a="http://schemas.openxmlformats.org/drawingml/2006/main" noGrp="1"/>
          </p:cNvSpPr>
          <p:nvPr/>
        </p:nvSpPr>
        <p:spPr>
          <a:xfrm xmlns:a="http://schemas.openxmlformats.org/drawingml/2006/main">
            <a:off x="609600" y="5562600"/>
            <a:ext cx="10972800" cy="514350"/>
          </a:xfrm>
          <a:prstGeom xmlns:a="http://schemas.openxmlformats.org/drawingml/2006/main" prst="roundRect">
            <a:avLst>
              <a:gd name="adj" fmla="val 14815"/>
            </a:avLst>
          </a:prstGeom>
          <a:solidFill xmlns:a="http://schemas.openxmlformats.org/drawingml/2006/main">
            <a:srgbClr val="EAF8B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4D1280A-8515-4C36-A78B-9F1BAC2BD3FA}"/>
              </a:ext>
            </a:extLst>
          </p:cNvPr>
          <p:cNvSpPr>
            <a:spLocks xmlns:a="http://schemas.openxmlformats.org/drawingml/2006/main" noGrp="1"/>
          </p:cNvSpPr>
          <p:nvPr/>
        </p:nvSpPr>
        <p:spPr>
          <a:xfrm xmlns:a="http://schemas.openxmlformats.org/drawingml/2006/main">
            <a:off x="838200" y="57150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3D1F5C"/>
                </a:solidFill>
              </a:defRPr>
            </a:pPr>
            <a:r>
              <a:rPr sz="975" b="1">
                <a:solidFill>
                  <a:srgbClr val="3D1F5C"/>
                </a:solidFill>
              </a:rPr>
              <a:t>LAYER ADDED</a:t>
            </a:r>
          </a:p>
        </p:txBody>
      </p:sp>
      <p:sp>
        <p:nvSpPr>
          <p:cNvPr id="15" name="">
            <a:extLst xmlns:a="http://schemas.openxmlformats.org/drawingml/2006/main">
              <a:ext uri="{FF2B5EF4-FFF2-40B4-BE49-F238E27FC236}">
                <a16:creationId xmlns:a16="http://schemas.microsoft.com/office/drawing/2014/main" id="{F059C147-19B5-4822-B50F-A33145A41F4D}"/>
              </a:ext>
            </a:extLst>
          </p:cNvPr>
          <p:cNvSpPr>
            <a:spLocks xmlns:a="http://schemas.openxmlformats.org/drawingml/2006/main" noGrp="1"/>
          </p:cNvSpPr>
          <p:nvPr/>
        </p:nvSpPr>
        <p:spPr>
          <a:xfrm xmlns:a="http://schemas.openxmlformats.org/drawingml/2006/main">
            <a:off x="2190750" y="56769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3D1F5C"/>
                </a:solidFill>
              </a:defRPr>
            </a:pPr>
            <a:r>
              <a:rPr sz="1350" b="1">
                <a:solidFill>
                  <a:srgbClr val="3D1F5C"/>
                </a:solidFill>
              </a:rPr>
              <a:t>Trigger  +  state  +  routing  +  retries  +  monitoring</a:t>
            </a:r>
          </a:p>
        </p:txBody>
      </p:sp>
    </p:spTree>
    <p:extLst>
      <p:ext uri="{BB962C8B-B14F-4D97-AF65-F5344CB8AC3E}">
        <p14:creationId xmlns:p14="http://schemas.microsoft.com/office/powerpoint/2010/main" val="506152751"/>
      </p:ext>
    </p:extLst>
  </p:cSld>
</p:sld>
</file>

<file path=ppt/slides/slide14.xml><?xml version="1.0" encoding="utf-8"?>
<p:sld xmlns:p="http://schemas.openxmlformats.org/presentationml/2006/main">
  <p:cSld>
    <p:bg>
      <p:bgPr>
        <a:solidFill xmlns:a="http://schemas.openxmlformats.org/drawingml/2006/main">
          <a:srgbClr val="2B123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B5C6A61-53DC-4755-8BFD-B4FF63B8B9F1}"/>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0EEA8BC4-9B08-4F85-8761-216A5143C7C6}"/>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F953A41-D44E-49D1-B795-058459C82A52}"/>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FFFFFF"/>
                </a:solidFill>
              </a:defRPr>
            </a:pPr>
            <a:r>
              <a:rPr sz="3150" b="1">
                <a:solidFill>
                  <a:srgbClr val="FFFFFF"/>
                </a:solidFill>
              </a:rPr>
              <a:t>A cron job IN a trench coat</a:t>
            </a:r>
          </a:p>
        </p:txBody>
      </p:sp>
      <p:sp>
        <p:nvSpPr>
          <p:cNvPr id="4" name="">
            <a:extLst xmlns:a="http://schemas.openxmlformats.org/drawingml/2006/main">
              <a:ext uri="{FF2B5EF4-FFF2-40B4-BE49-F238E27FC236}">
                <a16:creationId xmlns:a16="http://schemas.microsoft.com/office/drawing/2014/main" id="{22864564-AAA7-4C9A-AA1F-1E2912F58658}"/>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EAE3EC"/>
                </a:solidFill>
              </a:defRPr>
            </a:pPr>
            <a:r>
              <a:rPr sz="750" b="1">
                <a:solidFill>
                  <a:srgbClr val="EAE3EC"/>
                </a:solidFill>
              </a:rPr>
              <a:t>FORGEX  |  AI FOR ABM</a:t>
            </a:r>
          </a:p>
        </p:txBody>
      </p:sp>
      <p:sp>
        <p:nvSpPr>
          <p:cNvPr id="5" name="">
            <a:extLst xmlns:a="http://schemas.openxmlformats.org/drawingml/2006/main">
              <a:ext uri="{FF2B5EF4-FFF2-40B4-BE49-F238E27FC236}">
                <a16:creationId xmlns:a16="http://schemas.microsoft.com/office/drawing/2014/main" id="{91DD4602-41CC-4863-BB42-93ADCC9F5A4E}"/>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C7F25C"/>
                </a:solidFill>
              </a:defRPr>
            </a:pPr>
            <a:r>
              <a:rPr sz="825" b="1">
                <a:solidFill>
                  <a:srgbClr val="C7F25C"/>
                </a:solidFill>
              </a:rPr>
              <a:t>14</a:t>
            </a:r>
          </a:p>
        </p:txBody>
      </p:sp>
      <p:sp>
        <p:nvSpPr>
          <p:cNvPr id="6" name="">
            <a:extLst xmlns:a="http://schemas.openxmlformats.org/drawingml/2006/main">
              <a:ext uri="{FF2B5EF4-FFF2-40B4-BE49-F238E27FC236}">
                <a16:creationId xmlns:a16="http://schemas.microsoft.com/office/drawing/2014/main" id="{AA620EBC-E447-465A-87FF-2D4FA2CB214E}"/>
              </a:ext>
            </a:extLst>
          </p:cNvPr>
          <p:cNvSpPr>
            <a:spLocks xmlns:a="http://schemas.openxmlformats.org/drawingml/2006/main" noGrp="1"/>
          </p:cNvSpPr>
          <p:nvPr/>
        </p:nvSpPr>
        <p:spPr>
          <a:xfrm xmlns:a="http://schemas.openxmlformats.org/drawingml/2006/main">
            <a:off x="666750" y="2019300"/>
            <a:ext cx="581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FFFFFF"/>
                </a:solidFill>
              </a:defRPr>
            </a:pPr>
            <a:r>
              <a:rPr sz="2550" b="1">
                <a:solidFill>
                  <a:srgbClr val="FFFFFF"/>
                </a:solidFill>
              </a:rPr>
              <a:t>Do not dress up a brittle automation</a:t>
            </a:r>
          </a:p>
          <a:p xmlns:a="http://schemas.openxmlformats.org/drawingml/2006/main">
            <a:pPr algn="l">
              <a:buNone/>
              <a:defRPr sz="2550" b="1">
                <a:solidFill>
                  <a:srgbClr val="FFFFFF"/>
                </a:solidFill>
              </a:defRPr>
            </a:pPr>
            <a:r>
              <a:rPr sz="2550" b="1">
                <a:solidFill>
                  <a:srgbClr val="FFFFFF"/>
                </a:solidFill>
              </a:rPr>
              <a:t>and call it an agent.</a:t>
            </a:r>
          </a:p>
        </p:txBody>
      </p:sp>
      <p:sp>
        <p:nvSpPr>
          <p:cNvPr id="7" name="">
            <a:extLst xmlns:a="http://schemas.openxmlformats.org/drawingml/2006/main">
              <a:ext uri="{FF2B5EF4-FFF2-40B4-BE49-F238E27FC236}">
                <a16:creationId xmlns:a16="http://schemas.microsoft.com/office/drawing/2014/main" id="{F38F42A3-FFA4-496D-A729-015E5FCD6154}"/>
              </a:ext>
            </a:extLst>
          </p:cNvPr>
          <p:cNvSpPr>
            <a:spLocks xmlns:a="http://schemas.openxmlformats.org/drawingml/2006/main" noGrp="1"/>
          </p:cNvSpPr>
          <p:nvPr/>
        </p:nvSpPr>
        <p:spPr>
          <a:xfrm xmlns:a="http://schemas.openxmlformats.org/drawingml/2006/main">
            <a:off x="685800" y="33528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AUTOMATION</a:t>
            </a:r>
          </a:p>
        </p:txBody>
      </p:sp>
      <p:sp>
        <p:nvSpPr>
          <p:cNvPr id="8" name="">
            <a:extLst xmlns:a="http://schemas.openxmlformats.org/drawingml/2006/main">
              <a:ext uri="{FF2B5EF4-FFF2-40B4-BE49-F238E27FC236}">
                <a16:creationId xmlns:a16="http://schemas.microsoft.com/office/drawing/2014/main" id="{AD194B35-974A-4F4D-B2E8-326B6785F645}"/>
              </a:ext>
            </a:extLst>
          </p:cNvPr>
          <p:cNvSpPr>
            <a:spLocks xmlns:a="http://schemas.openxmlformats.org/drawingml/2006/main" noGrp="1"/>
          </p:cNvSpPr>
          <p:nvPr/>
        </p:nvSpPr>
        <p:spPr>
          <a:xfrm xmlns:a="http://schemas.openxmlformats.org/drawingml/2006/main">
            <a:off x="685800" y="367665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EAE3EC"/>
                </a:solidFill>
              </a:defRPr>
            </a:pPr>
            <a:r>
              <a:rPr sz="1650" b="0">
                <a:solidFill>
                  <a:srgbClr val="EAE3EC"/>
                </a:solidFill>
              </a:rPr>
              <a:t>Predetermined path and tools</a:t>
            </a:r>
          </a:p>
        </p:txBody>
      </p:sp>
      <p:sp>
        <p:nvSpPr>
          <p:cNvPr id="9" name="">
            <a:extLst xmlns:a="http://schemas.openxmlformats.org/drawingml/2006/main">
              <a:ext uri="{FF2B5EF4-FFF2-40B4-BE49-F238E27FC236}">
                <a16:creationId xmlns:a16="http://schemas.microsoft.com/office/drawing/2014/main" id="{CD038EDB-6A7F-48DC-8262-17117CE3BD9B}"/>
              </a:ext>
            </a:extLst>
          </p:cNvPr>
          <p:cNvSpPr>
            <a:spLocks xmlns:a="http://schemas.openxmlformats.org/drawingml/2006/main" noGrp="1"/>
          </p:cNvSpPr>
          <p:nvPr/>
        </p:nvSpPr>
        <p:spPr>
          <a:xfrm xmlns:a="http://schemas.openxmlformats.org/drawingml/2006/main">
            <a:off x="685800" y="44386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AGENT</a:t>
            </a:r>
          </a:p>
        </p:txBody>
      </p:sp>
      <p:sp>
        <p:nvSpPr>
          <p:cNvPr id="10" name="">
            <a:extLst xmlns:a="http://schemas.openxmlformats.org/drawingml/2006/main">
              <a:ext uri="{FF2B5EF4-FFF2-40B4-BE49-F238E27FC236}">
                <a16:creationId xmlns:a16="http://schemas.microsoft.com/office/drawing/2014/main" id="{8FDFEE8D-64C2-4B44-808F-8324CCD989B4}"/>
              </a:ext>
            </a:extLst>
          </p:cNvPr>
          <p:cNvSpPr>
            <a:spLocks xmlns:a="http://schemas.openxmlformats.org/drawingml/2006/main" noGrp="1"/>
          </p:cNvSpPr>
          <p:nvPr/>
        </p:nvSpPr>
        <p:spPr>
          <a:xfrm xmlns:a="http://schemas.openxmlformats.org/drawingml/2006/main">
            <a:off x="685800" y="47625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FFFFFF"/>
                </a:solidFill>
              </a:defRPr>
            </a:pPr>
            <a:r>
              <a:rPr sz="1650" b="0">
                <a:solidFill>
                  <a:srgbClr val="FFFFFF"/>
                </a:solidFill>
              </a:rPr>
              <a:t>Goal, dynamic planning, and tool choice</a:t>
            </a:r>
          </a:p>
        </p:txBody>
      </p:sp>
      <p:sp>
        <p:nvSpPr>
          <p:cNvPr id="11" name="">
            <a:extLst xmlns:a="http://schemas.openxmlformats.org/drawingml/2006/main">
              <a:ext uri="{FF2B5EF4-FFF2-40B4-BE49-F238E27FC236}">
                <a16:creationId xmlns:a16="http://schemas.microsoft.com/office/drawing/2014/main" id="{F860931C-C461-4192-AD43-68FC4E8967B5}"/>
              </a:ext>
            </a:extLst>
          </p:cNvPr>
          <p:cNvSpPr>
            <a:spLocks xmlns:a="http://schemas.openxmlformats.org/drawingml/2006/main" noGrp="1"/>
          </p:cNvSpPr>
          <p:nvPr/>
        </p:nvSpPr>
        <p:spPr>
          <a:xfrm xmlns:a="http://schemas.openxmlformats.org/drawingml/2006/main">
            <a:off x="685800" y="5619750"/>
            <a:ext cx="561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C7F25C"/>
                </a:solidFill>
              </a:defRPr>
            </a:pPr>
            <a:r>
              <a:rPr sz="1500" b="1">
                <a:solidFill>
                  <a:srgbClr val="C7F25C"/>
                </a:solidFill>
              </a:rPr>
              <a:t>Useful automation is still useful. Fake sophistication is the problem.</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639e55ab95aa406c"/>
          <a:stretch xmlns:a="http://schemas.openxmlformats.org/drawingml/2006/main"/>
        </p:blipFill>
        <p:spPr>
          <a:xfrm xmlns:a="http://schemas.openxmlformats.org/drawingml/2006/main">
            <a:off x="7575550" y="1562100"/>
            <a:ext cx="3175000" cy="4762500"/>
          </a:xfrm>
          <a:prstGeom xmlns:a="http://schemas.openxmlformats.org/drawingml/2006/main" prst="rect">
            <a:avLst/>
          </a:prstGeom>
        </p:spPr>
      </p:pic>
    </p:spTree>
    <p:extLst>
      <p:ext uri="{BB962C8B-B14F-4D97-AF65-F5344CB8AC3E}">
        <p14:creationId xmlns:p14="http://schemas.microsoft.com/office/powerpoint/2010/main" val="422766764"/>
      </p:ext>
    </p:extLst>
  </p:cSld>
</p:sld>
</file>

<file path=ppt/slides/slide15.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B2A7D6D-B9EA-4A9D-BD25-03EF8E45F92E}"/>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9B5B88C8-0F86-47A9-B60F-364C7B13E6A2}"/>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D01FAEB-44F5-4535-8579-FE7868E61CFD}"/>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26232A"/>
                </a:solidFill>
              </a:defRPr>
            </a:pPr>
            <a:r>
              <a:rPr sz="3150" b="1">
                <a:solidFill>
                  <a:srgbClr val="26232A"/>
                </a:solidFill>
              </a:rPr>
              <a:t>Every agent runs a loop</a:t>
            </a:r>
          </a:p>
        </p:txBody>
      </p:sp>
      <p:sp>
        <p:nvSpPr>
          <p:cNvPr id="4" name="">
            <a:extLst xmlns:a="http://schemas.openxmlformats.org/drawingml/2006/main">
              <a:ext uri="{FF2B5EF4-FFF2-40B4-BE49-F238E27FC236}">
                <a16:creationId xmlns:a16="http://schemas.microsoft.com/office/drawing/2014/main" id="{D06DEC60-AEAF-4339-A8A2-8D201E6DCA1D}"/>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6E6873"/>
                </a:solidFill>
              </a:defRPr>
            </a:pPr>
            <a:r>
              <a:rPr sz="750" b="1">
                <a:solidFill>
                  <a:srgbClr val="6E6873"/>
                </a:solidFill>
              </a:rPr>
              <a:t>FORGEX  |  AI FOR ABM</a:t>
            </a:r>
          </a:p>
        </p:txBody>
      </p:sp>
      <p:sp>
        <p:nvSpPr>
          <p:cNvPr id="5" name="">
            <a:extLst xmlns:a="http://schemas.openxmlformats.org/drawingml/2006/main">
              <a:ext uri="{FF2B5EF4-FFF2-40B4-BE49-F238E27FC236}">
                <a16:creationId xmlns:a16="http://schemas.microsoft.com/office/drawing/2014/main" id="{E4C229CD-67A9-428C-9B23-601F78467B53}"/>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E63888"/>
                </a:solidFill>
              </a:defRPr>
            </a:pPr>
            <a:r>
              <a:rPr sz="825" b="1">
                <a:solidFill>
                  <a:srgbClr val="E63888"/>
                </a:solidFill>
              </a:rPr>
              <a:t>15</a:t>
            </a:r>
          </a:p>
        </p:txBody>
      </p:sp>
      <p:sp>
        <p:nvSpPr>
          <p:cNvPr id="6" name="">
            <a:extLst xmlns:a="http://schemas.openxmlformats.org/drawingml/2006/main">
              <a:ext uri="{FF2B5EF4-FFF2-40B4-BE49-F238E27FC236}">
                <a16:creationId xmlns:a16="http://schemas.microsoft.com/office/drawing/2014/main" id="{B5811E66-2A5D-4233-8C57-7F2F9DD06228}"/>
              </a:ext>
            </a:extLst>
          </p:cNvPr>
          <p:cNvSpPr>
            <a:spLocks xmlns:a="http://schemas.openxmlformats.org/drawingml/2006/main" noGrp="1"/>
          </p:cNvSpPr>
          <p:nvPr/>
        </p:nvSpPr>
        <p:spPr>
          <a:xfrm xmlns:a="http://schemas.openxmlformats.org/drawingml/2006/main">
            <a:off x="1143000" y="3124200"/>
            <a:ext cx="9906000" cy="95250"/>
          </a:xfrm>
          <a:prstGeom xmlns:a="http://schemas.openxmlformats.org/drawingml/2006/main" prst="roundRect">
            <a:avLst>
              <a:gd name="adj" fmla="val 50000"/>
            </a:avLst>
          </a:prstGeom>
          <a:solidFill xmlns:a="http://schemas.openxmlformats.org/drawingml/2006/main">
            <a:srgbClr val="EAE3E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995F378-5E32-49EE-984B-027E056F15FF}"/>
              </a:ext>
            </a:extLst>
          </p:cNvPr>
          <p:cNvSpPr>
            <a:spLocks xmlns:a="http://schemas.openxmlformats.org/drawingml/2006/main" noGrp="1"/>
          </p:cNvSpPr>
          <p:nvPr/>
        </p:nvSpPr>
        <p:spPr>
          <a:xfrm xmlns:a="http://schemas.openxmlformats.org/drawingml/2006/main">
            <a:off x="1543050" y="2743200"/>
            <a:ext cx="762000" cy="762000"/>
          </a:xfrm>
          <a:prstGeom xmlns:a="http://schemas.openxmlformats.org/drawingml/2006/main" prst="ellipse">
            <a:avLst/>
          </a:prstGeom>
          <a:solidFill xmlns:a="http://schemas.openxmlformats.org/drawingml/2006/main">
            <a:srgbClr val="0B0B0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5CFAB9B-17FF-4A60-9AEC-FFDB5F3AF142}"/>
              </a:ext>
            </a:extLst>
          </p:cNvPr>
          <p:cNvSpPr>
            <a:spLocks xmlns:a="http://schemas.openxmlformats.org/drawingml/2006/main" noGrp="1"/>
          </p:cNvSpPr>
          <p:nvPr/>
        </p:nvSpPr>
        <p:spPr>
          <a:xfrm xmlns:a="http://schemas.openxmlformats.org/drawingml/2006/main">
            <a:off x="1714500" y="28956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1</a:t>
            </a:r>
          </a:p>
        </p:txBody>
      </p:sp>
      <p:sp>
        <p:nvSpPr>
          <p:cNvPr id="9" name="">
            <a:extLst xmlns:a="http://schemas.openxmlformats.org/drawingml/2006/main">
              <a:ext uri="{FF2B5EF4-FFF2-40B4-BE49-F238E27FC236}">
                <a16:creationId xmlns:a16="http://schemas.microsoft.com/office/drawing/2014/main" id="{01260BB6-84C5-47FF-8BBC-48E0F955728C}"/>
              </a:ext>
            </a:extLst>
          </p:cNvPr>
          <p:cNvSpPr>
            <a:spLocks xmlns:a="http://schemas.openxmlformats.org/drawingml/2006/main" noGrp="1"/>
          </p:cNvSpPr>
          <p:nvPr/>
        </p:nvSpPr>
        <p:spPr>
          <a:xfrm xmlns:a="http://schemas.openxmlformats.org/drawingml/2006/main">
            <a:off x="819150" y="3771900"/>
            <a:ext cx="2209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3D1F5C"/>
                </a:solidFill>
              </a:defRPr>
            </a:pPr>
            <a:r>
              <a:rPr sz="1575" b="1">
                <a:solidFill>
                  <a:srgbClr val="3D1F5C"/>
                </a:solidFill>
              </a:rPr>
              <a:t>LOAD CONTEXT</a:t>
            </a:r>
          </a:p>
        </p:txBody>
      </p:sp>
      <p:sp>
        <p:nvSpPr>
          <p:cNvPr id="10" name="">
            <a:extLst xmlns:a="http://schemas.openxmlformats.org/drawingml/2006/main">
              <a:ext uri="{FF2B5EF4-FFF2-40B4-BE49-F238E27FC236}">
                <a16:creationId xmlns:a16="http://schemas.microsoft.com/office/drawing/2014/main" id="{7428AB3F-C4E4-4DC6-BB06-A47220A92045}"/>
              </a:ext>
            </a:extLst>
          </p:cNvPr>
          <p:cNvSpPr>
            <a:spLocks xmlns:a="http://schemas.openxmlformats.org/drawingml/2006/main" noGrp="1"/>
          </p:cNvSpPr>
          <p:nvPr/>
        </p:nvSpPr>
        <p:spPr>
          <a:xfrm xmlns:a="http://schemas.openxmlformats.org/drawingml/2006/main">
            <a:off x="819150" y="4229100"/>
            <a:ext cx="2209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26232A"/>
                </a:solidFill>
              </a:defRPr>
            </a:pPr>
            <a:r>
              <a:rPr sz="1275" b="0">
                <a:solidFill>
                  <a:srgbClr val="26232A"/>
                </a:solidFill>
              </a:rPr>
              <a:t>company brain + current state</a:t>
            </a:r>
          </a:p>
        </p:txBody>
      </p:sp>
      <p:sp>
        <p:nvSpPr>
          <p:cNvPr id="11" name="">
            <a:extLst xmlns:a="http://schemas.openxmlformats.org/drawingml/2006/main">
              <a:ext uri="{FF2B5EF4-FFF2-40B4-BE49-F238E27FC236}">
                <a16:creationId xmlns:a16="http://schemas.microsoft.com/office/drawing/2014/main" id="{26EB59A4-6813-4416-B0C7-B8E9C77DB926}"/>
              </a:ext>
            </a:extLst>
          </p:cNvPr>
          <p:cNvSpPr>
            <a:spLocks xmlns:a="http://schemas.openxmlformats.org/drawingml/2006/main" noGrp="1"/>
          </p:cNvSpPr>
          <p:nvPr/>
        </p:nvSpPr>
        <p:spPr>
          <a:xfrm xmlns:a="http://schemas.openxmlformats.org/drawingml/2006/main">
            <a:off x="4352925" y="2743200"/>
            <a:ext cx="762000" cy="7620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97C1ED6-F538-46C9-9977-A35C6C93A30A}"/>
              </a:ext>
            </a:extLst>
          </p:cNvPr>
          <p:cNvSpPr>
            <a:spLocks xmlns:a="http://schemas.openxmlformats.org/drawingml/2006/main" noGrp="1"/>
          </p:cNvSpPr>
          <p:nvPr/>
        </p:nvSpPr>
        <p:spPr>
          <a:xfrm xmlns:a="http://schemas.openxmlformats.org/drawingml/2006/main">
            <a:off x="4524375" y="28956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2</a:t>
            </a:r>
          </a:p>
        </p:txBody>
      </p:sp>
      <p:sp>
        <p:nvSpPr>
          <p:cNvPr id="13" name="">
            <a:extLst xmlns:a="http://schemas.openxmlformats.org/drawingml/2006/main">
              <a:ext uri="{FF2B5EF4-FFF2-40B4-BE49-F238E27FC236}">
                <a16:creationId xmlns:a16="http://schemas.microsoft.com/office/drawing/2014/main" id="{920C096A-DDAE-4FC1-91D4-540E98C4FDAA}"/>
              </a:ext>
            </a:extLst>
          </p:cNvPr>
          <p:cNvSpPr>
            <a:spLocks xmlns:a="http://schemas.openxmlformats.org/drawingml/2006/main" noGrp="1"/>
          </p:cNvSpPr>
          <p:nvPr/>
        </p:nvSpPr>
        <p:spPr>
          <a:xfrm xmlns:a="http://schemas.openxmlformats.org/drawingml/2006/main">
            <a:off x="3629025" y="3771900"/>
            <a:ext cx="2209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3D1F5C"/>
                </a:solidFill>
              </a:defRPr>
            </a:pPr>
            <a:r>
              <a:rPr sz="1575" b="1">
                <a:solidFill>
                  <a:srgbClr val="3D1F5C"/>
                </a:solidFill>
              </a:rPr>
              <a:t>CHOOSE</a:t>
            </a:r>
          </a:p>
        </p:txBody>
      </p:sp>
      <p:sp>
        <p:nvSpPr>
          <p:cNvPr id="14" name="">
            <a:extLst xmlns:a="http://schemas.openxmlformats.org/drawingml/2006/main">
              <a:ext uri="{FF2B5EF4-FFF2-40B4-BE49-F238E27FC236}">
                <a16:creationId xmlns:a16="http://schemas.microsoft.com/office/drawing/2014/main" id="{9C37347A-A946-41D7-8B37-CBE0CE9FA63D}"/>
              </a:ext>
            </a:extLst>
          </p:cNvPr>
          <p:cNvSpPr>
            <a:spLocks xmlns:a="http://schemas.openxmlformats.org/drawingml/2006/main" noGrp="1"/>
          </p:cNvSpPr>
          <p:nvPr/>
        </p:nvSpPr>
        <p:spPr>
          <a:xfrm xmlns:a="http://schemas.openxmlformats.org/drawingml/2006/main">
            <a:off x="3629025" y="4229100"/>
            <a:ext cx="2209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26232A"/>
                </a:solidFill>
              </a:defRPr>
            </a:pPr>
            <a:r>
              <a:rPr sz="1275" b="0">
                <a:solidFill>
                  <a:srgbClr val="26232A"/>
                </a:solidFill>
              </a:rPr>
              <a:t>goal + plan + next step</a:t>
            </a:r>
          </a:p>
        </p:txBody>
      </p:sp>
      <p:sp>
        <p:nvSpPr>
          <p:cNvPr id="15" name="">
            <a:extLst xmlns:a="http://schemas.openxmlformats.org/drawingml/2006/main">
              <a:ext uri="{FF2B5EF4-FFF2-40B4-BE49-F238E27FC236}">
                <a16:creationId xmlns:a16="http://schemas.microsoft.com/office/drawing/2014/main" id="{D6962FBE-9714-41D8-9627-6A660F4FFF12}"/>
              </a:ext>
            </a:extLst>
          </p:cNvPr>
          <p:cNvSpPr>
            <a:spLocks xmlns:a="http://schemas.openxmlformats.org/drawingml/2006/main" noGrp="1"/>
          </p:cNvSpPr>
          <p:nvPr/>
        </p:nvSpPr>
        <p:spPr>
          <a:xfrm xmlns:a="http://schemas.openxmlformats.org/drawingml/2006/main">
            <a:off x="7162800" y="2743200"/>
            <a:ext cx="762000" cy="762000"/>
          </a:xfrm>
          <a:prstGeom xmlns:a="http://schemas.openxmlformats.org/drawingml/2006/main" prst="ellipse">
            <a:avLst/>
          </a:prstGeom>
          <a:solidFill xmlns:a="http://schemas.openxmlformats.org/drawingml/2006/main">
            <a:srgbClr val="E6388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8503C8A-7EE4-458A-9620-BA2C534E5B4E}"/>
              </a:ext>
            </a:extLst>
          </p:cNvPr>
          <p:cNvSpPr>
            <a:spLocks xmlns:a="http://schemas.openxmlformats.org/drawingml/2006/main" noGrp="1"/>
          </p:cNvSpPr>
          <p:nvPr/>
        </p:nvSpPr>
        <p:spPr>
          <a:xfrm xmlns:a="http://schemas.openxmlformats.org/drawingml/2006/main">
            <a:off x="7334250" y="28956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3</a:t>
            </a:r>
          </a:p>
        </p:txBody>
      </p:sp>
      <p:sp>
        <p:nvSpPr>
          <p:cNvPr id="17" name="">
            <a:extLst xmlns:a="http://schemas.openxmlformats.org/drawingml/2006/main">
              <a:ext uri="{FF2B5EF4-FFF2-40B4-BE49-F238E27FC236}">
                <a16:creationId xmlns:a16="http://schemas.microsoft.com/office/drawing/2014/main" id="{79DD8BF3-74D7-4347-992B-94AE57FE8684}"/>
              </a:ext>
            </a:extLst>
          </p:cNvPr>
          <p:cNvSpPr>
            <a:spLocks xmlns:a="http://schemas.openxmlformats.org/drawingml/2006/main" noGrp="1"/>
          </p:cNvSpPr>
          <p:nvPr/>
        </p:nvSpPr>
        <p:spPr>
          <a:xfrm xmlns:a="http://schemas.openxmlformats.org/drawingml/2006/main">
            <a:off x="6438900" y="3771900"/>
            <a:ext cx="2209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3D1F5C"/>
                </a:solidFill>
              </a:defRPr>
            </a:pPr>
            <a:r>
              <a:rPr sz="1575" b="1">
                <a:solidFill>
                  <a:srgbClr val="3D1F5C"/>
                </a:solidFill>
              </a:rPr>
              <a:t>ACT</a:t>
            </a:r>
          </a:p>
        </p:txBody>
      </p:sp>
      <p:sp>
        <p:nvSpPr>
          <p:cNvPr id="18" name="">
            <a:extLst xmlns:a="http://schemas.openxmlformats.org/drawingml/2006/main">
              <a:ext uri="{FF2B5EF4-FFF2-40B4-BE49-F238E27FC236}">
                <a16:creationId xmlns:a16="http://schemas.microsoft.com/office/drawing/2014/main" id="{82D6A8E3-77DD-4FE1-A900-4525BE424314}"/>
              </a:ext>
            </a:extLst>
          </p:cNvPr>
          <p:cNvSpPr>
            <a:spLocks xmlns:a="http://schemas.openxmlformats.org/drawingml/2006/main" noGrp="1"/>
          </p:cNvSpPr>
          <p:nvPr/>
        </p:nvSpPr>
        <p:spPr>
          <a:xfrm xmlns:a="http://schemas.openxmlformats.org/drawingml/2006/main">
            <a:off x="6438900" y="4229100"/>
            <a:ext cx="2209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26232A"/>
                </a:solidFill>
              </a:defRPr>
            </a:pPr>
            <a:r>
              <a:rPr sz="1275" b="0">
                <a:solidFill>
                  <a:srgbClr val="26232A"/>
                </a:solidFill>
              </a:rPr>
              <a:t>skill + approved tool or MCP</a:t>
            </a:r>
          </a:p>
        </p:txBody>
      </p:sp>
      <p:sp>
        <p:nvSpPr>
          <p:cNvPr id="19" name="">
            <a:extLst xmlns:a="http://schemas.openxmlformats.org/drawingml/2006/main">
              <a:ext uri="{FF2B5EF4-FFF2-40B4-BE49-F238E27FC236}">
                <a16:creationId xmlns:a16="http://schemas.microsoft.com/office/drawing/2014/main" id="{3EAB0A91-C1F7-4CFC-B17A-A9D7AF91E695}"/>
              </a:ext>
            </a:extLst>
          </p:cNvPr>
          <p:cNvSpPr>
            <a:spLocks xmlns:a="http://schemas.openxmlformats.org/drawingml/2006/main" noGrp="1"/>
          </p:cNvSpPr>
          <p:nvPr/>
        </p:nvSpPr>
        <p:spPr>
          <a:xfrm xmlns:a="http://schemas.openxmlformats.org/drawingml/2006/main">
            <a:off x="9972675" y="2743200"/>
            <a:ext cx="762000" cy="762000"/>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5D5A440-FC1B-45D7-AC81-4C0BFBED60DD}"/>
              </a:ext>
            </a:extLst>
          </p:cNvPr>
          <p:cNvSpPr>
            <a:spLocks xmlns:a="http://schemas.openxmlformats.org/drawingml/2006/main" noGrp="1"/>
          </p:cNvSpPr>
          <p:nvPr/>
        </p:nvSpPr>
        <p:spPr>
          <a:xfrm xmlns:a="http://schemas.openxmlformats.org/drawingml/2006/main">
            <a:off x="10144125" y="28956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3D1F5C"/>
                </a:solidFill>
              </a:defRPr>
            </a:pPr>
            <a:r>
              <a:rPr sz="1350" b="1">
                <a:solidFill>
                  <a:srgbClr val="3D1F5C"/>
                </a:solidFill>
              </a:rPr>
              <a:t>4</a:t>
            </a:r>
          </a:p>
        </p:txBody>
      </p:sp>
      <p:sp>
        <p:nvSpPr>
          <p:cNvPr id="21" name="">
            <a:extLst xmlns:a="http://schemas.openxmlformats.org/drawingml/2006/main">
              <a:ext uri="{FF2B5EF4-FFF2-40B4-BE49-F238E27FC236}">
                <a16:creationId xmlns:a16="http://schemas.microsoft.com/office/drawing/2014/main" id="{6F36E8B6-72C9-45AF-99CB-F28F76DF7103}"/>
              </a:ext>
            </a:extLst>
          </p:cNvPr>
          <p:cNvSpPr>
            <a:spLocks xmlns:a="http://schemas.openxmlformats.org/drawingml/2006/main" noGrp="1"/>
          </p:cNvSpPr>
          <p:nvPr/>
        </p:nvSpPr>
        <p:spPr>
          <a:xfrm xmlns:a="http://schemas.openxmlformats.org/drawingml/2006/main">
            <a:off x="9248775" y="3771900"/>
            <a:ext cx="2209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3D1F5C"/>
                </a:solidFill>
              </a:defRPr>
            </a:pPr>
            <a:r>
              <a:rPr sz="1575" b="1">
                <a:solidFill>
                  <a:srgbClr val="3D1F5C"/>
                </a:solidFill>
              </a:rPr>
              <a:t>EVALUATE</a:t>
            </a:r>
          </a:p>
        </p:txBody>
      </p:sp>
      <p:sp>
        <p:nvSpPr>
          <p:cNvPr id="22" name="">
            <a:extLst xmlns:a="http://schemas.openxmlformats.org/drawingml/2006/main">
              <a:ext uri="{FF2B5EF4-FFF2-40B4-BE49-F238E27FC236}">
                <a16:creationId xmlns:a16="http://schemas.microsoft.com/office/drawing/2014/main" id="{2E25ED5B-333A-4BDB-881D-1083CC77D4E1}"/>
              </a:ext>
            </a:extLst>
          </p:cNvPr>
          <p:cNvSpPr>
            <a:spLocks xmlns:a="http://schemas.openxmlformats.org/drawingml/2006/main" noGrp="1"/>
          </p:cNvSpPr>
          <p:nvPr/>
        </p:nvSpPr>
        <p:spPr>
          <a:xfrm xmlns:a="http://schemas.openxmlformats.org/drawingml/2006/main">
            <a:off x="9248775" y="4229100"/>
            <a:ext cx="2209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26232A"/>
                </a:solidFill>
              </a:defRPr>
            </a:pPr>
            <a:r>
              <a:rPr sz="1275" b="0">
                <a:solidFill>
                  <a:srgbClr val="26232A"/>
                </a:solidFill>
              </a:rPr>
              <a:t>finish, revise, or ask a human</a:t>
            </a:r>
          </a:p>
        </p:txBody>
      </p:sp>
      <p:sp>
        <p:nvSpPr>
          <p:cNvPr id="23" name="">
            <a:extLst xmlns:a="http://schemas.openxmlformats.org/drawingml/2006/main">
              <a:ext uri="{FF2B5EF4-FFF2-40B4-BE49-F238E27FC236}">
                <a16:creationId xmlns:a16="http://schemas.microsoft.com/office/drawing/2014/main" id="{86A086F0-E63E-4B5A-AB38-0C038CABAB42}"/>
              </a:ext>
            </a:extLst>
          </p:cNvPr>
          <p:cNvSpPr>
            <a:spLocks xmlns:a="http://schemas.openxmlformats.org/drawingml/2006/main" noGrp="1"/>
          </p:cNvSpPr>
          <p:nvPr/>
        </p:nvSpPr>
        <p:spPr>
          <a:xfrm xmlns:a="http://schemas.openxmlformats.org/drawingml/2006/main">
            <a:off x="1524000" y="5429250"/>
            <a:ext cx="914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63888"/>
                </a:solidFill>
              </a:defRPr>
            </a:pPr>
            <a:r>
              <a:rPr sz="2100" b="1">
                <a:solidFill>
                  <a:srgbClr val="E63888"/>
                </a:solidFill>
              </a:rPr>
              <a:t>Memory, permissions, logs, and guardrails surround every pass through the loop.</a:t>
            </a:r>
          </a:p>
        </p:txBody>
      </p:sp>
    </p:spTree>
    <p:extLst>
      <p:ext uri="{BB962C8B-B14F-4D97-AF65-F5344CB8AC3E}">
        <p14:creationId xmlns:p14="http://schemas.microsoft.com/office/powerpoint/2010/main" val="706053734"/>
      </p:ext>
    </p:extLst>
  </p:cSld>
</p:sld>
</file>

<file path=ppt/slides/slide16.xml><?xml version="1.0" encoding="utf-8"?>
<p:sld xmlns:p="http://schemas.openxmlformats.org/presentationml/2006/main">
  <p:cSld>
    <p:bg>
      <p:bgPr>
        <a:solidFill xmlns:a="http://schemas.openxmlformats.org/drawingml/2006/main">
          <a:srgbClr val="2B123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65CDB12-2336-47EB-91BB-656B3F3F6D0D}"/>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5F727A8E-BCDB-46A2-9562-2DCD756251B3}"/>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0BAF49F-CAFD-4972-BA68-E3ADBA8B601B}"/>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FFFFFF"/>
                </a:solidFill>
              </a:defRPr>
            </a:pPr>
            <a:r>
              <a:rPr sz="3150" b="1">
                <a:solidFill>
                  <a:srgbClr val="FFFFFF"/>
                </a:solidFill>
              </a:rPr>
              <a:t>Level 5: Goal-Driven Agent System</a:t>
            </a:r>
          </a:p>
        </p:txBody>
      </p:sp>
      <p:sp>
        <p:nvSpPr>
          <p:cNvPr id="4" name="">
            <a:extLst xmlns:a="http://schemas.openxmlformats.org/drawingml/2006/main">
              <a:ext uri="{FF2B5EF4-FFF2-40B4-BE49-F238E27FC236}">
                <a16:creationId xmlns:a16="http://schemas.microsoft.com/office/drawing/2014/main" id="{5DEA5427-38C2-46C6-9D3E-9DE1087698FD}"/>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EAE3EC"/>
                </a:solidFill>
              </a:defRPr>
            </a:pPr>
            <a:r>
              <a:rPr sz="750" b="1">
                <a:solidFill>
                  <a:srgbClr val="EAE3EC"/>
                </a:solidFill>
              </a:rPr>
              <a:t>FORGEX  |  AI FOR ABM</a:t>
            </a:r>
          </a:p>
        </p:txBody>
      </p:sp>
      <p:sp>
        <p:nvSpPr>
          <p:cNvPr id="5" name="">
            <a:extLst xmlns:a="http://schemas.openxmlformats.org/drawingml/2006/main">
              <a:ext uri="{FF2B5EF4-FFF2-40B4-BE49-F238E27FC236}">
                <a16:creationId xmlns:a16="http://schemas.microsoft.com/office/drawing/2014/main" id="{9A3CB36D-799F-4463-AB51-5851C921288E}"/>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C7F25C"/>
                </a:solidFill>
              </a:defRPr>
            </a:pPr>
            <a:r>
              <a:rPr sz="825" b="1">
                <a:solidFill>
                  <a:srgbClr val="C7F25C"/>
                </a:solidFill>
              </a:rPr>
              <a:t>16</a:t>
            </a:r>
          </a:p>
        </p:txBody>
      </p:sp>
      <p:sp>
        <p:nvSpPr>
          <p:cNvPr id="6" name="">
            <a:extLst xmlns:a="http://schemas.openxmlformats.org/drawingml/2006/main">
              <a:ext uri="{FF2B5EF4-FFF2-40B4-BE49-F238E27FC236}">
                <a16:creationId xmlns:a16="http://schemas.microsoft.com/office/drawing/2014/main" id="{477BB3B8-37F7-47CE-BFF8-3706CC875FCA}"/>
              </a:ext>
            </a:extLst>
          </p:cNvPr>
          <p:cNvSpPr>
            <a:spLocks xmlns:a="http://schemas.openxmlformats.org/drawingml/2006/main" noGrp="1"/>
          </p:cNvSpPr>
          <p:nvPr/>
        </p:nvSpPr>
        <p:spPr>
          <a:xfrm xmlns:a="http://schemas.openxmlformats.org/drawingml/2006/main">
            <a:off x="685800" y="1962150"/>
            <a:ext cx="4762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EAE3EC"/>
                </a:solidFill>
              </a:defRPr>
            </a:pPr>
            <a:r>
              <a:rPr sz="2100" b="1">
                <a:solidFill>
                  <a:srgbClr val="EAE3EC"/>
                </a:solidFill>
              </a:rPr>
              <a:t>I GIVE YOU TEXT,</a:t>
            </a:r>
          </a:p>
          <a:p xmlns:a="http://schemas.openxmlformats.org/drawingml/2006/main">
            <a:pPr algn="l">
              <a:buNone/>
              <a:defRPr sz="2100" b="1">
                <a:solidFill>
                  <a:srgbClr val="EAE3EC"/>
                </a:solidFill>
              </a:defRPr>
            </a:pPr>
            <a:r>
              <a:rPr sz="2100" b="1">
                <a:solidFill>
                  <a:srgbClr val="EAE3EC"/>
                </a:solidFill>
              </a:rPr>
              <a:t>YOU GIVE ME AN ANSWER</a:t>
            </a:r>
          </a:p>
        </p:txBody>
      </p:sp>
      <p:sp>
        <p:nvSpPr>
          <p:cNvPr id="7" name="">
            <a:extLst xmlns:a="http://schemas.openxmlformats.org/drawingml/2006/main">
              <a:ext uri="{FF2B5EF4-FFF2-40B4-BE49-F238E27FC236}">
                <a16:creationId xmlns:a16="http://schemas.microsoft.com/office/drawing/2014/main" id="{E6EA87F3-9479-468D-A6CB-4107AB603106}"/>
              </a:ext>
            </a:extLst>
          </p:cNvPr>
          <p:cNvSpPr>
            <a:spLocks xmlns:a="http://schemas.openxmlformats.org/drawingml/2006/main" noGrp="1"/>
          </p:cNvSpPr>
          <p:nvPr/>
        </p:nvSpPr>
        <p:spPr>
          <a:xfrm xmlns:a="http://schemas.openxmlformats.org/drawingml/2006/main">
            <a:off x="5429250" y="2171700"/>
            <a:ext cx="76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E63888"/>
                </a:solidFill>
              </a:defRPr>
            </a:pPr>
            <a:r>
              <a:rPr sz="2850" b="1">
                <a:solidFill>
                  <a:srgbClr val="E63888"/>
                </a:solidFill>
              </a:rPr>
              <a:t>→</a:t>
            </a:r>
          </a:p>
        </p:txBody>
      </p:sp>
      <p:sp>
        <p:nvSpPr>
          <p:cNvPr id="8" name="">
            <a:extLst xmlns:a="http://schemas.openxmlformats.org/drawingml/2006/main">
              <a:ext uri="{FF2B5EF4-FFF2-40B4-BE49-F238E27FC236}">
                <a16:creationId xmlns:a16="http://schemas.microsoft.com/office/drawing/2014/main" id="{ED69307B-5F98-419F-A148-503E7AF6A9D2}"/>
              </a:ext>
            </a:extLst>
          </p:cNvPr>
          <p:cNvSpPr>
            <a:spLocks xmlns:a="http://schemas.openxmlformats.org/drawingml/2006/main" noGrp="1"/>
          </p:cNvSpPr>
          <p:nvPr/>
        </p:nvSpPr>
        <p:spPr>
          <a:xfrm xmlns:a="http://schemas.openxmlformats.org/drawingml/2006/main">
            <a:off x="6286500" y="1962150"/>
            <a:ext cx="5238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400" b="1">
                <a:solidFill>
                  <a:srgbClr val="FFFFFF"/>
                </a:solidFill>
              </a:defRPr>
            </a:pPr>
            <a:r>
              <a:rPr sz="2400" b="1">
                <a:solidFill>
                  <a:srgbClr val="FFFFFF"/>
                </a:solidFill>
              </a:rPr>
              <a:t>I GIVE YOU A GOAL,</a:t>
            </a:r>
          </a:p>
          <a:p xmlns:a="http://schemas.openxmlformats.org/drawingml/2006/main">
            <a:pPr algn="l">
              <a:buNone/>
              <a:defRPr sz="2400" b="1">
                <a:solidFill>
                  <a:srgbClr val="FFFFFF"/>
                </a:solidFill>
              </a:defRPr>
            </a:pPr>
            <a:r>
              <a:rPr sz="2400" b="1">
                <a:solidFill>
                  <a:srgbClr val="FFFFFF"/>
                </a:solidFill>
              </a:rPr>
              <a:t>YOU PRODUCE THE OUTCOME</a:t>
            </a:r>
          </a:p>
        </p:txBody>
      </p:sp>
      <p:sp>
        <p:nvSpPr>
          <p:cNvPr id="9" name="">
            <a:extLst xmlns:a="http://schemas.openxmlformats.org/drawingml/2006/main">
              <a:ext uri="{FF2B5EF4-FFF2-40B4-BE49-F238E27FC236}">
                <a16:creationId xmlns:a16="http://schemas.microsoft.com/office/drawing/2014/main" id="{E03B633D-92AC-4B8A-A109-3768BADF939C}"/>
              </a:ext>
            </a:extLst>
          </p:cNvPr>
          <p:cNvSpPr>
            <a:spLocks xmlns:a="http://schemas.openxmlformats.org/drawingml/2006/main" noGrp="1"/>
          </p:cNvSpPr>
          <p:nvPr/>
        </p:nvSpPr>
        <p:spPr>
          <a:xfrm xmlns:a="http://schemas.openxmlformats.org/drawingml/2006/main">
            <a:off x="666750" y="3181350"/>
            <a:ext cx="6477000" cy="2019300"/>
          </a:xfrm>
          <a:prstGeom xmlns:a="http://schemas.openxmlformats.org/drawingml/2006/main" prst="roundRect">
            <a:avLst>
              <a:gd name="adj" fmla="val 3774"/>
            </a:avLst>
          </a:prstGeom>
          <a:solidFill xmlns:a="http://schemas.openxmlformats.org/drawingml/2006/main">
            <a:srgbClr val="3D1F5C"/>
          </a:solidFill>
          <a:ln xmlns:a="http://schemas.openxmlformats.org/drawingml/2006/main" w="19050">
            <a:solidFill>
              <a:srgbClr val="E63888"/>
            </a:solidFill>
            <a:prstDash val="solid"/>
          </a:ln>
        </p:spPr>
      </p:sp>
      <p:sp>
        <p:nvSpPr>
          <p:cNvPr id="10" name="">
            <a:extLst xmlns:a="http://schemas.openxmlformats.org/drawingml/2006/main">
              <a:ext uri="{FF2B5EF4-FFF2-40B4-BE49-F238E27FC236}">
                <a16:creationId xmlns:a16="http://schemas.microsoft.com/office/drawing/2014/main" id="{825E4B35-2D9D-416C-BB5F-4FDBAF8D9A3B}"/>
              </a:ext>
            </a:extLst>
          </p:cNvPr>
          <p:cNvSpPr>
            <a:spLocks xmlns:a="http://schemas.openxmlformats.org/drawingml/2006/main" noGrp="1"/>
          </p:cNvSpPr>
          <p:nvPr/>
        </p:nvSpPr>
        <p:spPr>
          <a:xfrm xmlns:a="http://schemas.openxmlformats.org/drawingml/2006/main">
            <a:off x="895350" y="337185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INPUT</a:t>
            </a:r>
          </a:p>
        </p:txBody>
      </p:sp>
      <p:sp>
        <p:nvSpPr>
          <p:cNvPr id="11" name="">
            <a:extLst xmlns:a="http://schemas.openxmlformats.org/drawingml/2006/main">
              <a:ext uri="{FF2B5EF4-FFF2-40B4-BE49-F238E27FC236}">
                <a16:creationId xmlns:a16="http://schemas.microsoft.com/office/drawing/2014/main" id="{E24A8216-3D23-4B7F-AB32-9B101DD1B401}"/>
              </a:ext>
            </a:extLst>
          </p:cNvPr>
          <p:cNvSpPr>
            <a:spLocks xmlns:a="http://schemas.openxmlformats.org/drawingml/2006/main" noGrp="1"/>
          </p:cNvSpPr>
          <p:nvPr/>
        </p:nvSpPr>
        <p:spPr>
          <a:xfrm xmlns:a="http://schemas.openxmlformats.org/drawingml/2006/main">
            <a:off x="895350" y="3695700"/>
            <a:ext cx="60198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FFFFFF"/>
                </a:solidFill>
              </a:defRPr>
            </a:pPr>
            <a:r>
              <a:rPr sz="1425" b="0">
                <a:solidFill>
                  <a:srgbClr val="FFFFFF"/>
                </a:solidFill>
              </a:rPr>
              <a:t>Increase qualified engagement across North Peak's top industrial AI accounts. Decide which accounts need research, a refreshed brief, a personalized experience, or no action. Evaluate the work and request approval before activation.</a:t>
            </a:r>
          </a:p>
        </p:txBody>
      </p:sp>
      <p:sp>
        <p:nvSpPr>
          <p:cNvPr id="12" name="">
            <a:extLst xmlns:a="http://schemas.openxmlformats.org/drawingml/2006/main">
              <a:ext uri="{FF2B5EF4-FFF2-40B4-BE49-F238E27FC236}">
                <a16:creationId xmlns:a16="http://schemas.microsoft.com/office/drawing/2014/main" id="{98411F8E-2DBC-49FB-95A8-72357A518DC2}"/>
              </a:ext>
            </a:extLst>
          </p:cNvPr>
          <p:cNvSpPr>
            <a:spLocks xmlns:a="http://schemas.openxmlformats.org/drawingml/2006/main" noGrp="1"/>
          </p:cNvSpPr>
          <p:nvPr/>
        </p:nvSpPr>
        <p:spPr>
          <a:xfrm xmlns:a="http://schemas.openxmlformats.org/drawingml/2006/main">
            <a:off x="7524750" y="3181350"/>
            <a:ext cx="4000500" cy="2019300"/>
          </a:xfrm>
          <a:prstGeom xmlns:a="http://schemas.openxmlformats.org/drawingml/2006/main" prst="roundRect">
            <a:avLst>
              <a:gd name="adj" fmla="val 3774"/>
            </a:avLst>
          </a:prstGeom>
          <a:solidFill xmlns:a="http://schemas.openxmlformats.org/drawingml/2006/main">
            <a:srgbClr val="0B0B0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41A849A-5F71-4675-A601-3FD6A98FCCAB}"/>
              </a:ext>
            </a:extLst>
          </p:cNvPr>
          <p:cNvSpPr>
            <a:spLocks xmlns:a="http://schemas.openxmlformats.org/drawingml/2006/main" noGrp="1"/>
          </p:cNvSpPr>
          <p:nvPr/>
        </p:nvSpPr>
        <p:spPr>
          <a:xfrm xmlns:a="http://schemas.openxmlformats.org/drawingml/2006/main">
            <a:off x="7753350" y="33718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OUTPUT</a:t>
            </a:r>
          </a:p>
        </p:txBody>
      </p:sp>
      <p:sp>
        <p:nvSpPr>
          <p:cNvPr id="14" name="">
            <a:extLst xmlns:a="http://schemas.openxmlformats.org/drawingml/2006/main">
              <a:ext uri="{FF2B5EF4-FFF2-40B4-BE49-F238E27FC236}">
                <a16:creationId xmlns:a16="http://schemas.microsoft.com/office/drawing/2014/main" id="{CBFED068-9921-4D2D-8A03-3ACBB0450503}"/>
              </a:ext>
            </a:extLst>
          </p:cNvPr>
          <p:cNvSpPr>
            <a:spLocks xmlns:a="http://schemas.openxmlformats.org/drawingml/2006/main" noGrp="1"/>
          </p:cNvSpPr>
          <p:nvPr/>
        </p:nvSpPr>
        <p:spPr>
          <a:xfrm xmlns:a="http://schemas.openxmlformats.org/drawingml/2006/main">
            <a:off x="7753350" y="3733800"/>
            <a:ext cx="35433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FFFFFF"/>
                </a:solidFill>
              </a:defRPr>
            </a:pPr>
            <a:r>
              <a:rPr sz="1650" b="1">
                <a:solidFill>
                  <a:srgbClr val="FFFFFF"/>
                </a:solidFill>
              </a:rPr>
              <a:t>A prioritized plan and the right mix of research, briefs, experiences, and next actions.</a:t>
            </a:r>
          </a:p>
        </p:txBody>
      </p:sp>
      <p:sp>
        <p:nvSpPr>
          <p:cNvPr id="15" name="">
            <a:extLst xmlns:a="http://schemas.openxmlformats.org/drawingml/2006/main">
              <a:ext uri="{FF2B5EF4-FFF2-40B4-BE49-F238E27FC236}">
                <a16:creationId xmlns:a16="http://schemas.microsoft.com/office/drawing/2014/main" id="{ED239476-2F4C-4167-A057-01192E73BC85}"/>
              </a:ext>
            </a:extLst>
          </p:cNvPr>
          <p:cNvSpPr>
            <a:spLocks xmlns:a="http://schemas.openxmlformats.org/drawingml/2006/main" noGrp="1"/>
          </p:cNvSpPr>
          <p:nvPr/>
        </p:nvSpPr>
        <p:spPr>
          <a:xfrm xmlns:a="http://schemas.openxmlformats.org/drawingml/2006/main">
            <a:off x="609600" y="5562600"/>
            <a:ext cx="10972800" cy="514350"/>
          </a:xfrm>
          <a:prstGeom xmlns:a="http://schemas.openxmlformats.org/drawingml/2006/main" prst="roundRect">
            <a:avLst>
              <a:gd name="adj" fmla="val 14815"/>
            </a:avLst>
          </a:prstGeom>
          <a:solidFill xmlns:a="http://schemas.openxmlformats.org/drawingml/2006/main">
            <a:srgbClr val="C7F25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BE2B4F1-D240-4A03-A057-BDB342249B0F}"/>
              </a:ext>
            </a:extLst>
          </p:cNvPr>
          <p:cNvSpPr>
            <a:spLocks xmlns:a="http://schemas.openxmlformats.org/drawingml/2006/main" noGrp="1"/>
          </p:cNvSpPr>
          <p:nvPr/>
        </p:nvSpPr>
        <p:spPr>
          <a:xfrm xmlns:a="http://schemas.openxmlformats.org/drawingml/2006/main">
            <a:off x="838200" y="57150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3D1F5C"/>
                </a:solidFill>
              </a:defRPr>
            </a:pPr>
            <a:r>
              <a:rPr sz="975" b="1">
                <a:solidFill>
                  <a:srgbClr val="3D1F5C"/>
                </a:solidFill>
              </a:rPr>
              <a:t>LAYER ADDED</a:t>
            </a:r>
          </a:p>
        </p:txBody>
      </p:sp>
      <p:sp>
        <p:nvSpPr>
          <p:cNvPr id="17" name="">
            <a:extLst xmlns:a="http://schemas.openxmlformats.org/drawingml/2006/main">
              <a:ext uri="{FF2B5EF4-FFF2-40B4-BE49-F238E27FC236}">
                <a16:creationId xmlns:a16="http://schemas.microsoft.com/office/drawing/2014/main" id="{DEC21339-C4E5-4921-A000-4E4C12087819}"/>
              </a:ext>
            </a:extLst>
          </p:cNvPr>
          <p:cNvSpPr>
            <a:spLocks xmlns:a="http://schemas.openxmlformats.org/drawingml/2006/main" noGrp="1"/>
          </p:cNvSpPr>
          <p:nvPr/>
        </p:nvSpPr>
        <p:spPr>
          <a:xfrm xmlns:a="http://schemas.openxmlformats.org/drawingml/2006/main">
            <a:off x="2190750" y="56769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3D1F5C"/>
                </a:solidFill>
              </a:defRPr>
            </a:pPr>
            <a:r>
              <a:rPr sz="1350" b="1">
                <a:solidFill>
                  <a:srgbClr val="3D1F5C"/>
                </a:solidFill>
              </a:rPr>
              <a:t>Goal  +  plan  +  context  +  skills  +  tools  +  state  +  evaluation  +  human interrupt</a:t>
            </a:r>
          </a:p>
        </p:txBody>
      </p:sp>
    </p:spTree>
    <p:extLst>
      <p:ext uri="{BB962C8B-B14F-4D97-AF65-F5344CB8AC3E}">
        <p14:creationId xmlns:p14="http://schemas.microsoft.com/office/powerpoint/2010/main" val="1446781679"/>
      </p:ext>
    </p:extLst>
  </p:cSld>
</p:sld>
</file>

<file path=ppt/slides/slide17.xml><?xml version="1.0" encoding="utf-8"?>
<p:sld xmlns:p="http://schemas.openxmlformats.org/presentationml/2006/main">
  <p:cSld>
    <p:bg>
      <p:bgPr>
        <a:solidFill xmlns:a="http://schemas.openxmlformats.org/drawingml/2006/main">
          <a:srgbClr val="2B123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F9050DBF-86A9-4253-A14D-241EB1F8E7E0}"/>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26950C46-BC0F-495A-9397-92F4C32AC969}"/>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5EA2B0F-35AF-4091-A2A4-2AF26A54A8EA}"/>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FFFFFF"/>
                </a:solidFill>
              </a:defRPr>
            </a:pPr>
            <a:r>
              <a:rPr sz="3150" b="1">
                <a:solidFill>
                  <a:srgbClr val="FFFFFF"/>
                </a:solidFill>
              </a:rPr>
              <a:t>Level 6: Agentic Operating System</a:t>
            </a:r>
          </a:p>
        </p:txBody>
      </p:sp>
      <p:sp>
        <p:nvSpPr>
          <p:cNvPr id="4" name="">
            <a:extLst xmlns:a="http://schemas.openxmlformats.org/drawingml/2006/main">
              <a:ext uri="{FF2B5EF4-FFF2-40B4-BE49-F238E27FC236}">
                <a16:creationId xmlns:a16="http://schemas.microsoft.com/office/drawing/2014/main" id="{F4585F56-8D30-4517-A693-9E6D6935C3D6}"/>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EAE3EC"/>
                </a:solidFill>
              </a:defRPr>
            </a:pPr>
            <a:r>
              <a:rPr sz="750" b="1">
                <a:solidFill>
                  <a:srgbClr val="EAE3EC"/>
                </a:solidFill>
              </a:rPr>
              <a:t>FORGEX  |  AI FOR ABM</a:t>
            </a:r>
          </a:p>
        </p:txBody>
      </p:sp>
      <p:sp>
        <p:nvSpPr>
          <p:cNvPr id="5" name="">
            <a:extLst xmlns:a="http://schemas.openxmlformats.org/drawingml/2006/main">
              <a:ext uri="{FF2B5EF4-FFF2-40B4-BE49-F238E27FC236}">
                <a16:creationId xmlns:a16="http://schemas.microsoft.com/office/drawing/2014/main" id="{F145889B-C697-4D82-B72B-A23991506473}"/>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C7F25C"/>
                </a:solidFill>
              </a:defRPr>
            </a:pPr>
            <a:r>
              <a:rPr sz="825" b="1">
                <a:solidFill>
                  <a:srgbClr val="C7F25C"/>
                </a:solidFill>
              </a:rPr>
              <a:t>17</a:t>
            </a:r>
          </a:p>
        </p:txBody>
      </p:sp>
      <p:sp>
        <p:nvSpPr>
          <p:cNvPr id="6" name="">
            <a:extLst xmlns:a="http://schemas.openxmlformats.org/drawingml/2006/main">
              <a:ext uri="{FF2B5EF4-FFF2-40B4-BE49-F238E27FC236}">
                <a16:creationId xmlns:a16="http://schemas.microsoft.com/office/drawing/2014/main" id="{241E8142-3820-4B70-B31E-01255835007D}"/>
              </a:ext>
            </a:extLst>
          </p:cNvPr>
          <p:cNvSpPr>
            <a:spLocks xmlns:a="http://schemas.openxmlformats.org/drawingml/2006/main" noGrp="1"/>
          </p:cNvSpPr>
          <p:nvPr/>
        </p:nvSpPr>
        <p:spPr>
          <a:xfrm xmlns:a="http://schemas.openxmlformats.org/drawingml/2006/main">
            <a:off x="742950" y="20002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CODEX ROUTES THE WORK</a:t>
            </a:r>
          </a:p>
        </p:txBody>
      </p:sp>
      <p:sp>
        <p:nvSpPr>
          <p:cNvPr id="7" name="">
            <a:extLst xmlns:a="http://schemas.openxmlformats.org/drawingml/2006/main">
              <a:ext uri="{FF2B5EF4-FFF2-40B4-BE49-F238E27FC236}">
                <a16:creationId xmlns:a16="http://schemas.microsoft.com/office/drawing/2014/main" id="{CFEDA6E8-04B4-4A3E-ABC7-A63BD00BA8E3}"/>
              </a:ext>
            </a:extLst>
          </p:cNvPr>
          <p:cNvSpPr>
            <a:spLocks xmlns:a="http://schemas.openxmlformats.org/drawingml/2006/main" noGrp="1"/>
          </p:cNvSpPr>
          <p:nvPr/>
        </p:nvSpPr>
        <p:spPr>
          <a:xfrm xmlns:a="http://schemas.openxmlformats.org/drawingml/2006/main">
            <a:off x="742950" y="2400300"/>
            <a:ext cx="2190750" cy="742950"/>
          </a:xfrm>
          <a:prstGeom xmlns:a="http://schemas.openxmlformats.org/drawingml/2006/main" prst="roundRect">
            <a:avLst>
              <a:gd name="adj" fmla="val 10256"/>
            </a:avLst>
          </a:prstGeom>
          <a:solidFill xmlns:a="http://schemas.openxmlformats.org/drawingml/2006/main">
            <a:srgbClr val="0B0B0F"/>
          </a:solidFill>
          <a:ln xmlns:a="http://schemas.openxmlformats.org/drawingml/2006/main" w="19050">
            <a:solidFill>
              <a:srgbClr val="E63888"/>
            </a:solidFill>
            <a:prstDash val="solid"/>
          </a:ln>
        </p:spPr>
      </p:sp>
      <p:sp>
        <p:nvSpPr>
          <p:cNvPr id="8" name="">
            <a:extLst xmlns:a="http://schemas.openxmlformats.org/drawingml/2006/main">
              <a:ext uri="{FF2B5EF4-FFF2-40B4-BE49-F238E27FC236}">
                <a16:creationId xmlns:a16="http://schemas.microsoft.com/office/drawing/2014/main" id="{E6725B75-2E0D-46FB-B61C-017A373BE2F5}"/>
              </a:ext>
            </a:extLst>
          </p:cNvPr>
          <p:cNvSpPr>
            <a:spLocks xmlns:a="http://schemas.openxmlformats.org/drawingml/2006/main" noGrp="1"/>
          </p:cNvSpPr>
          <p:nvPr/>
        </p:nvSpPr>
        <p:spPr>
          <a:xfrm xmlns:a="http://schemas.openxmlformats.org/drawingml/2006/main">
            <a:off x="857250" y="26098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FFFFF"/>
                </a:solidFill>
              </a:defRPr>
            </a:pPr>
            <a:r>
              <a:rPr sz="1500" b="1">
                <a:solidFill>
                  <a:srgbClr val="FFFFFF"/>
                </a:solidFill>
              </a:rPr>
              <a:t>SUB-AGENTS</a:t>
            </a:r>
          </a:p>
        </p:txBody>
      </p:sp>
      <p:sp>
        <p:nvSpPr>
          <p:cNvPr id="9" name="">
            <a:extLst xmlns:a="http://schemas.openxmlformats.org/drawingml/2006/main">
              <a:ext uri="{FF2B5EF4-FFF2-40B4-BE49-F238E27FC236}">
                <a16:creationId xmlns:a16="http://schemas.microsoft.com/office/drawing/2014/main" id="{4917CF96-C2DB-4A20-8689-0D82CB43E0BA}"/>
              </a:ext>
            </a:extLst>
          </p:cNvPr>
          <p:cNvSpPr>
            <a:spLocks xmlns:a="http://schemas.openxmlformats.org/drawingml/2006/main" noGrp="1"/>
          </p:cNvSpPr>
          <p:nvPr/>
        </p:nvSpPr>
        <p:spPr>
          <a:xfrm xmlns:a="http://schemas.openxmlformats.org/drawingml/2006/main">
            <a:off x="3409950" y="2400300"/>
            <a:ext cx="2190750" cy="742950"/>
          </a:xfrm>
          <a:prstGeom xmlns:a="http://schemas.openxmlformats.org/drawingml/2006/main" prst="roundRect">
            <a:avLst>
              <a:gd name="adj" fmla="val 10256"/>
            </a:avLst>
          </a:prstGeom>
          <a:solidFill xmlns:a="http://schemas.openxmlformats.org/drawingml/2006/main">
            <a:srgbClr val="0B0B0F"/>
          </a:solidFill>
          <a:ln xmlns:a="http://schemas.openxmlformats.org/drawingml/2006/main" w="19050">
            <a:solidFill>
              <a:srgbClr val="E63888"/>
            </a:solidFill>
            <a:prstDash val="solid"/>
          </a:ln>
        </p:spPr>
      </p:sp>
      <p:sp>
        <p:nvSpPr>
          <p:cNvPr id="10" name="">
            <a:extLst xmlns:a="http://schemas.openxmlformats.org/drawingml/2006/main">
              <a:ext uri="{FF2B5EF4-FFF2-40B4-BE49-F238E27FC236}">
                <a16:creationId xmlns:a16="http://schemas.microsoft.com/office/drawing/2014/main" id="{798E075F-0438-4C61-BC1F-F6BDB7353BC0}"/>
              </a:ext>
            </a:extLst>
          </p:cNvPr>
          <p:cNvSpPr>
            <a:spLocks xmlns:a="http://schemas.openxmlformats.org/drawingml/2006/main" noGrp="1"/>
          </p:cNvSpPr>
          <p:nvPr/>
        </p:nvSpPr>
        <p:spPr>
          <a:xfrm xmlns:a="http://schemas.openxmlformats.org/drawingml/2006/main">
            <a:off x="3524250" y="26098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FFFFF"/>
                </a:solidFill>
              </a:defRPr>
            </a:pPr>
            <a:r>
              <a:rPr sz="1500" b="1">
                <a:solidFill>
                  <a:srgbClr val="FFFFFF"/>
                </a:solidFill>
              </a:rPr>
              <a:t>CURSOR + HERMES</a:t>
            </a:r>
          </a:p>
        </p:txBody>
      </p:sp>
      <p:sp>
        <p:nvSpPr>
          <p:cNvPr id="11" name="">
            <a:extLst xmlns:a="http://schemas.openxmlformats.org/drawingml/2006/main">
              <a:ext uri="{FF2B5EF4-FFF2-40B4-BE49-F238E27FC236}">
                <a16:creationId xmlns:a16="http://schemas.microsoft.com/office/drawing/2014/main" id="{F832EB18-F79E-4CE6-BF96-C1FB70BE5EDC}"/>
              </a:ext>
            </a:extLst>
          </p:cNvPr>
          <p:cNvSpPr>
            <a:spLocks xmlns:a="http://schemas.openxmlformats.org/drawingml/2006/main" noGrp="1"/>
          </p:cNvSpPr>
          <p:nvPr/>
        </p:nvSpPr>
        <p:spPr>
          <a:xfrm xmlns:a="http://schemas.openxmlformats.org/drawingml/2006/main">
            <a:off x="6076950" y="2400300"/>
            <a:ext cx="2190750" cy="742950"/>
          </a:xfrm>
          <a:prstGeom xmlns:a="http://schemas.openxmlformats.org/drawingml/2006/main" prst="roundRect">
            <a:avLst>
              <a:gd name="adj" fmla="val 10256"/>
            </a:avLst>
          </a:prstGeom>
          <a:solidFill xmlns:a="http://schemas.openxmlformats.org/drawingml/2006/main">
            <a:srgbClr val="0B0B0F"/>
          </a:solidFill>
          <a:ln xmlns:a="http://schemas.openxmlformats.org/drawingml/2006/main" w="19050">
            <a:solidFill>
              <a:srgbClr val="E63888"/>
            </a:solidFill>
            <a:prstDash val="solid"/>
          </a:ln>
        </p:spPr>
      </p:sp>
      <p:sp>
        <p:nvSpPr>
          <p:cNvPr id="12" name="">
            <a:extLst xmlns:a="http://schemas.openxmlformats.org/drawingml/2006/main">
              <a:ext uri="{FF2B5EF4-FFF2-40B4-BE49-F238E27FC236}">
                <a16:creationId xmlns:a16="http://schemas.microsoft.com/office/drawing/2014/main" id="{4DF162E3-4476-4691-A7D7-156811437C6A}"/>
              </a:ext>
            </a:extLst>
          </p:cNvPr>
          <p:cNvSpPr>
            <a:spLocks xmlns:a="http://schemas.openxmlformats.org/drawingml/2006/main" noGrp="1"/>
          </p:cNvSpPr>
          <p:nvPr/>
        </p:nvSpPr>
        <p:spPr>
          <a:xfrm xmlns:a="http://schemas.openxmlformats.org/drawingml/2006/main">
            <a:off x="6191250" y="26098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FFFFF"/>
                </a:solidFill>
              </a:defRPr>
            </a:pPr>
            <a:r>
              <a:rPr sz="1500" b="1">
                <a:solidFill>
                  <a:srgbClr val="FFFFFF"/>
                </a:solidFill>
              </a:rPr>
              <a:t>OPENCLAW + GROKBOT</a:t>
            </a:r>
          </a:p>
        </p:txBody>
      </p:sp>
      <p:sp>
        <p:nvSpPr>
          <p:cNvPr id="13" name="">
            <a:extLst xmlns:a="http://schemas.openxmlformats.org/drawingml/2006/main">
              <a:ext uri="{FF2B5EF4-FFF2-40B4-BE49-F238E27FC236}">
                <a16:creationId xmlns:a16="http://schemas.microsoft.com/office/drawing/2014/main" id="{5B279958-071A-4917-B654-FCCBD88C33AD}"/>
              </a:ext>
            </a:extLst>
          </p:cNvPr>
          <p:cNvSpPr>
            <a:spLocks xmlns:a="http://schemas.openxmlformats.org/drawingml/2006/main" noGrp="1"/>
          </p:cNvSpPr>
          <p:nvPr/>
        </p:nvSpPr>
        <p:spPr>
          <a:xfrm xmlns:a="http://schemas.openxmlformats.org/drawingml/2006/main">
            <a:off x="8743950" y="2400300"/>
            <a:ext cx="2190750" cy="742950"/>
          </a:xfrm>
          <a:prstGeom xmlns:a="http://schemas.openxmlformats.org/drawingml/2006/main" prst="roundRect">
            <a:avLst>
              <a:gd name="adj" fmla="val 10256"/>
            </a:avLst>
          </a:prstGeom>
          <a:solidFill xmlns:a="http://schemas.openxmlformats.org/drawingml/2006/main">
            <a:srgbClr val="0B0B0F"/>
          </a:solidFill>
          <a:ln xmlns:a="http://schemas.openxmlformats.org/drawingml/2006/main" w="19050">
            <a:solidFill>
              <a:srgbClr val="E63888"/>
            </a:solidFill>
            <a:prstDash val="solid"/>
          </a:ln>
        </p:spPr>
      </p:sp>
      <p:sp>
        <p:nvSpPr>
          <p:cNvPr id="14" name="">
            <a:extLst xmlns:a="http://schemas.openxmlformats.org/drawingml/2006/main">
              <a:ext uri="{FF2B5EF4-FFF2-40B4-BE49-F238E27FC236}">
                <a16:creationId xmlns:a16="http://schemas.microsoft.com/office/drawing/2014/main" id="{01963049-18D3-4B48-B3B7-BE1564372347}"/>
              </a:ext>
            </a:extLst>
          </p:cNvPr>
          <p:cNvSpPr>
            <a:spLocks xmlns:a="http://schemas.openxmlformats.org/drawingml/2006/main" noGrp="1"/>
          </p:cNvSpPr>
          <p:nvPr/>
        </p:nvSpPr>
        <p:spPr>
          <a:xfrm xmlns:a="http://schemas.openxmlformats.org/drawingml/2006/main">
            <a:off x="8858250" y="26098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FFFFF"/>
                </a:solidFill>
              </a:defRPr>
            </a:pPr>
            <a:r>
              <a:rPr sz="1500" b="1">
                <a:solidFill>
                  <a:srgbClr val="FFFFFF"/>
                </a:solidFill>
              </a:rPr>
              <a:t>APPROVED SYSTEMS</a:t>
            </a:r>
          </a:p>
        </p:txBody>
      </p:sp>
      <p:sp>
        <p:nvSpPr>
          <p:cNvPr id="15" name="">
            <a:extLst xmlns:a="http://schemas.openxmlformats.org/drawingml/2006/main">
              <a:ext uri="{FF2B5EF4-FFF2-40B4-BE49-F238E27FC236}">
                <a16:creationId xmlns:a16="http://schemas.microsoft.com/office/drawing/2014/main" id="{92F2EC87-A3D4-4DA4-8AFC-2443F6FD5FE3}"/>
              </a:ext>
            </a:extLst>
          </p:cNvPr>
          <p:cNvSpPr>
            <a:spLocks xmlns:a="http://schemas.openxmlformats.org/drawingml/2006/main" noGrp="1"/>
          </p:cNvSpPr>
          <p:nvPr/>
        </p:nvSpPr>
        <p:spPr>
          <a:xfrm xmlns:a="http://schemas.openxmlformats.org/drawingml/2006/main">
            <a:off x="1143000" y="3486150"/>
            <a:ext cx="9906000" cy="76200"/>
          </a:xfrm>
          <a:prstGeom xmlns:a="http://schemas.openxmlformats.org/drawingml/2006/main" prst="roundRect">
            <a:avLst>
              <a:gd name="adj" fmla="val 50000"/>
            </a:avLst>
          </a:prstGeom>
          <a:solidFill xmlns:a="http://schemas.openxmlformats.org/drawingml/2006/main">
            <a:srgbClr val="E6388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DAD8C28-8C78-444F-BF59-8E53892A9D4A}"/>
              </a:ext>
            </a:extLst>
          </p:cNvPr>
          <p:cNvSpPr>
            <a:spLocks xmlns:a="http://schemas.openxmlformats.org/drawingml/2006/main" noGrp="1"/>
          </p:cNvSpPr>
          <p:nvPr/>
        </p:nvSpPr>
        <p:spPr>
          <a:xfrm xmlns:a="http://schemas.openxmlformats.org/drawingml/2006/main">
            <a:off x="1847850" y="3124200"/>
            <a:ext cx="76200" cy="762000"/>
          </a:xfrm>
          <a:prstGeom xmlns:a="http://schemas.openxmlformats.org/drawingml/2006/main" prst="roundRect">
            <a:avLst>
              <a:gd name="adj" fmla="val 50000"/>
            </a:avLst>
          </a:prstGeom>
          <a:solidFill xmlns:a="http://schemas.openxmlformats.org/drawingml/2006/main">
            <a:srgbClr val="E6388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1D71CDC-9E81-4094-9FB7-45F29383F1B3}"/>
              </a:ext>
            </a:extLst>
          </p:cNvPr>
          <p:cNvSpPr>
            <a:spLocks xmlns:a="http://schemas.openxmlformats.org/drawingml/2006/main" noGrp="1"/>
          </p:cNvSpPr>
          <p:nvPr/>
        </p:nvSpPr>
        <p:spPr>
          <a:xfrm xmlns:a="http://schemas.openxmlformats.org/drawingml/2006/main">
            <a:off x="4514850" y="3124200"/>
            <a:ext cx="76200" cy="762000"/>
          </a:xfrm>
          <a:prstGeom xmlns:a="http://schemas.openxmlformats.org/drawingml/2006/main" prst="roundRect">
            <a:avLst>
              <a:gd name="adj" fmla="val 50000"/>
            </a:avLst>
          </a:prstGeom>
          <a:solidFill xmlns:a="http://schemas.openxmlformats.org/drawingml/2006/main">
            <a:srgbClr val="E6388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8EBA0F7-AE63-4FFD-B5C1-655B154B580E}"/>
              </a:ext>
            </a:extLst>
          </p:cNvPr>
          <p:cNvSpPr>
            <a:spLocks xmlns:a="http://schemas.openxmlformats.org/drawingml/2006/main" noGrp="1"/>
          </p:cNvSpPr>
          <p:nvPr/>
        </p:nvSpPr>
        <p:spPr>
          <a:xfrm xmlns:a="http://schemas.openxmlformats.org/drawingml/2006/main">
            <a:off x="7181850" y="3124200"/>
            <a:ext cx="76200" cy="762000"/>
          </a:xfrm>
          <a:prstGeom xmlns:a="http://schemas.openxmlformats.org/drawingml/2006/main" prst="roundRect">
            <a:avLst>
              <a:gd name="adj" fmla="val 50000"/>
            </a:avLst>
          </a:prstGeom>
          <a:solidFill xmlns:a="http://schemas.openxmlformats.org/drawingml/2006/main">
            <a:srgbClr val="E6388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49A3923-7468-46F2-8D74-7D767B734C9B}"/>
              </a:ext>
            </a:extLst>
          </p:cNvPr>
          <p:cNvSpPr>
            <a:spLocks xmlns:a="http://schemas.openxmlformats.org/drawingml/2006/main" noGrp="1"/>
          </p:cNvSpPr>
          <p:nvPr/>
        </p:nvSpPr>
        <p:spPr>
          <a:xfrm xmlns:a="http://schemas.openxmlformats.org/drawingml/2006/main">
            <a:off x="9848850" y="3124200"/>
            <a:ext cx="76200" cy="762000"/>
          </a:xfrm>
          <a:prstGeom xmlns:a="http://schemas.openxmlformats.org/drawingml/2006/main" prst="roundRect">
            <a:avLst>
              <a:gd name="adj" fmla="val 50000"/>
            </a:avLst>
          </a:prstGeom>
          <a:solidFill xmlns:a="http://schemas.openxmlformats.org/drawingml/2006/main">
            <a:srgbClr val="E6388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2DC3542-995F-4FE9-9230-6A121146E84B}"/>
              </a:ext>
            </a:extLst>
          </p:cNvPr>
          <p:cNvSpPr>
            <a:spLocks xmlns:a="http://schemas.openxmlformats.org/drawingml/2006/main" noGrp="1"/>
          </p:cNvSpPr>
          <p:nvPr/>
        </p:nvSpPr>
        <p:spPr>
          <a:xfrm xmlns:a="http://schemas.openxmlformats.org/drawingml/2006/main">
            <a:off x="742950" y="39624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THE SYSTEM KEEPS RUNNING</a:t>
            </a:r>
          </a:p>
        </p:txBody>
      </p:sp>
      <p:sp>
        <p:nvSpPr>
          <p:cNvPr id="21" name="">
            <a:extLst xmlns:a="http://schemas.openxmlformats.org/drawingml/2006/main">
              <a:ext uri="{FF2B5EF4-FFF2-40B4-BE49-F238E27FC236}">
                <a16:creationId xmlns:a16="http://schemas.microsoft.com/office/drawing/2014/main" id="{7898DB99-3BF4-4509-BED7-2597D9434664}"/>
              </a:ext>
            </a:extLst>
          </p:cNvPr>
          <p:cNvSpPr>
            <a:spLocks xmlns:a="http://schemas.openxmlformats.org/drawingml/2006/main" noGrp="1"/>
          </p:cNvSpPr>
          <p:nvPr/>
        </p:nvSpPr>
        <p:spPr>
          <a:xfrm xmlns:a="http://schemas.openxmlformats.org/drawingml/2006/main">
            <a:off x="742950" y="4438650"/>
            <a:ext cx="1619250" cy="876300"/>
          </a:xfrm>
          <a:prstGeom xmlns:a="http://schemas.openxmlformats.org/drawingml/2006/main" prst="roundRect">
            <a:avLst>
              <a:gd name="adj" fmla="val 8696"/>
            </a:avLst>
          </a:prstGeom>
          <a:solidFill xmlns:a="http://schemas.openxmlformats.org/drawingml/2006/main">
            <a:srgbClr val="3D1F5C"/>
          </a:solidFill>
          <a:ln xmlns:a="http://schemas.openxmlformats.org/drawingml/2006/main" w="19050">
            <a:solidFill>
              <a:srgbClr val="C7F25C"/>
            </a:solidFill>
            <a:prstDash val="solid"/>
          </a:ln>
        </p:spPr>
      </p:sp>
      <p:sp>
        <p:nvSpPr>
          <p:cNvPr id="22" name="">
            <a:extLst xmlns:a="http://schemas.openxmlformats.org/drawingml/2006/main">
              <a:ext uri="{FF2B5EF4-FFF2-40B4-BE49-F238E27FC236}">
                <a16:creationId xmlns:a16="http://schemas.microsoft.com/office/drawing/2014/main" id="{C196FFB7-63DC-4C13-A9F0-6D79B3397CD4}"/>
              </a:ext>
            </a:extLst>
          </p:cNvPr>
          <p:cNvSpPr>
            <a:spLocks xmlns:a="http://schemas.openxmlformats.org/drawingml/2006/main" noGrp="1"/>
          </p:cNvSpPr>
          <p:nvPr/>
        </p:nvSpPr>
        <p:spPr>
          <a:xfrm xmlns:a="http://schemas.openxmlformats.org/drawingml/2006/main">
            <a:off x="857250" y="4686300"/>
            <a:ext cx="1390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OBSIDIAN VAULT</a:t>
            </a:r>
          </a:p>
        </p:txBody>
      </p:sp>
      <p:sp>
        <p:nvSpPr>
          <p:cNvPr id="23" name="">
            <a:extLst xmlns:a="http://schemas.openxmlformats.org/drawingml/2006/main">
              <a:ext uri="{FF2B5EF4-FFF2-40B4-BE49-F238E27FC236}">
                <a16:creationId xmlns:a16="http://schemas.microsoft.com/office/drawing/2014/main" id="{731804F2-00D7-4057-986B-3ED19B0FC182}"/>
              </a:ext>
            </a:extLst>
          </p:cNvPr>
          <p:cNvSpPr>
            <a:spLocks xmlns:a="http://schemas.openxmlformats.org/drawingml/2006/main" noGrp="1"/>
          </p:cNvSpPr>
          <p:nvPr/>
        </p:nvSpPr>
        <p:spPr>
          <a:xfrm xmlns:a="http://schemas.openxmlformats.org/drawingml/2006/main">
            <a:off x="2571750" y="4438650"/>
            <a:ext cx="1428750" cy="876300"/>
          </a:xfrm>
          <a:prstGeom xmlns:a="http://schemas.openxmlformats.org/drawingml/2006/main" prst="roundRect">
            <a:avLst>
              <a:gd name="adj" fmla="val 8696"/>
            </a:avLst>
          </a:prstGeom>
          <a:solidFill xmlns:a="http://schemas.openxmlformats.org/drawingml/2006/main">
            <a:srgbClr val="3D1F5C"/>
          </a:solidFill>
          <a:ln xmlns:a="http://schemas.openxmlformats.org/drawingml/2006/main" w="19050">
            <a:solidFill>
              <a:srgbClr val="C7F25C"/>
            </a:solidFill>
            <a:prstDash val="solid"/>
          </a:ln>
        </p:spPr>
      </p:sp>
      <p:sp>
        <p:nvSpPr>
          <p:cNvPr id="24" name="">
            <a:extLst xmlns:a="http://schemas.openxmlformats.org/drawingml/2006/main">
              <a:ext uri="{FF2B5EF4-FFF2-40B4-BE49-F238E27FC236}">
                <a16:creationId xmlns:a16="http://schemas.microsoft.com/office/drawing/2014/main" id="{FCC9ABB8-F228-429A-92E5-D990155CEAB9}"/>
              </a:ext>
            </a:extLst>
          </p:cNvPr>
          <p:cNvSpPr>
            <a:spLocks xmlns:a="http://schemas.openxmlformats.org/drawingml/2006/main" noGrp="1"/>
          </p:cNvSpPr>
          <p:nvPr/>
        </p:nvSpPr>
        <p:spPr>
          <a:xfrm xmlns:a="http://schemas.openxmlformats.org/drawingml/2006/main">
            <a:off x="2686050" y="4686300"/>
            <a:ext cx="1200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GITHUB SKILLS</a:t>
            </a:r>
          </a:p>
        </p:txBody>
      </p:sp>
      <p:sp>
        <p:nvSpPr>
          <p:cNvPr id="25" name="">
            <a:extLst xmlns:a="http://schemas.openxmlformats.org/drawingml/2006/main">
              <a:ext uri="{FF2B5EF4-FFF2-40B4-BE49-F238E27FC236}">
                <a16:creationId xmlns:a16="http://schemas.microsoft.com/office/drawing/2014/main" id="{F412CCB0-4D38-43F8-B67F-358B87CB0EB7}"/>
              </a:ext>
            </a:extLst>
          </p:cNvPr>
          <p:cNvSpPr>
            <a:spLocks xmlns:a="http://schemas.openxmlformats.org/drawingml/2006/main" noGrp="1"/>
          </p:cNvSpPr>
          <p:nvPr/>
        </p:nvSpPr>
        <p:spPr>
          <a:xfrm xmlns:a="http://schemas.openxmlformats.org/drawingml/2006/main">
            <a:off x="4210050" y="4438650"/>
            <a:ext cx="1714500" cy="876300"/>
          </a:xfrm>
          <a:prstGeom xmlns:a="http://schemas.openxmlformats.org/drawingml/2006/main" prst="roundRect">
            <a:avLst>
              <a:gd name="adj" fmla="val 8696"/>
            </a:avLst>
          </a:prstGeom>
          <a:solidFill xmlns:a="http://schemas.openxmlformats.org/drawingml/2006/main">
            <a:srgbClr val="3D1F5C"/>
          </a:solidFill>
          <a:ln xmlns:a="http://schemas.openxmlformats.org/drawingml/2006/main" w="19050">
            <a:solidFill>
              <a:srgbClr val="C7F25C"/>
            </a:solidFill>
            <a:prstDash val="solid"/>
          </a:ln>
        </p:spPr>
      </p:sp>
      <p:sp>
        <p:nvSpPr>
          <p:cNvPr id="26" name="">
            <a:extLst xmlns:a="http://schemas.openxmlformats.org/drawingml/2006/main">
              <a:ext uri="{FF2B5EF4-FFF2-40B4-BE49-F238E27FC236}">
                <a16:creationId xmlns:a16="http://schemas.microsoft.com/office/drawing/2014/main" id="{F496A6A9-71CA-4C48-86FA-84B8E2BDBC05}"/>
              </a:ext>
            </a:extLst>
          </p:cNvPr>
          <p:cNvSpPr>
            <a:spLocks xmlns:a="http://schemas.openxmlformats.org/drawingml/2006/main" noGrp="1"/>
          </p:cNvSpPr>
          <p:nvPr/>
        </p:nvSpPr>
        <p:spPr>
          <a:xfrm xmlns:a="http://schemas.openxmlformats.org/drawingml/2006/main">
            <a:off x="4324350" y="4686300"/>
            <a:ext cx="1485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TIME TRIGGERS</a:t>
            </a:r>
          </a:p>
        </p:txBody>
      </p:sp>
      <p:sp>
        <p:nvSpPr>
          <p:cNvPr id="27" name="">
            <a:extLst xmlns:a="http://schemas.openxmlformats.org/drawingml/2006/main">
              <a:ext uri="{FF2B5EF4-FFF2-40B4-BE49-F238E27FC236}">
                <a16:creationId xmlns:a16="http://schemas.microsoft.com/office/drawing/2014/main" id="{35903DAC-CF9B-42B7-95FB-18D23D5260DD}"/>
              </a:ext>
            </a:extLst>
          </p:cNvPr>
          <p:cNvSpPr>
            <a:spLocks xmlns:a="http://schemas.openxmlformats.org/drawingml/2006/main" noGrp="1"/>
          </p:cNvSpPr>
          <p:nvPr/>
        </p:nvSpPr>
        <p:spPr>
          <a:xfrm xmlns:a="http://schemas.openxmlformats.org/drawingml/2006/main">
            <a:off x="6134100" y="4438650"/>
            <a:ext cx="1238250" cy="876300"/>
          </a:xfrm>
          <a:prstGeom xmlns:a="http://schemas.openxmlformats.org/drawingml/2006/main" prst="roundRect">
            <a:avLst>
              <a:gd name="adj" fmla="val 8696"/>
            </a:avLst>
          </a:prstGeom>
          <a:solidFill xmlns:a="http://schemas.openxmlformats.org/drawingml/2006/main">
            <a:srgbClr val="3D1F5C"/>
          </a:solidFill>
          <a:ln xmlns:a="http://schemas.openxmlformats.org/drawingml/2006/main" w="19050">
            <a:solidFill>
              <a:srgbClr val="C7F25C"/>
            </a:solidFill>
            <a:prstDash val="solid"/>
          </a:ln>
        </p:spPr>
      </p:sp>
      <p:sp>
        <p:nvSpPr>
          <p:cNvPr id="28" name="">
            <a:extLst xmlns:a="http://schemas.openxmlformats.org/drawingml/2006/main">
              <a:ext uri="{FF2B5EF4-FFF2-40B4-BE49-F238E27FC236}">
                <a16:creationId xmlns:a16="http://schemas.microsoft.com/office/drawing/2014/main" id="{AAB5BE97-E1B3-4631-8AE3-83D01ADB5AB0}"/>
              </a:ext>
            </a:extLst>
          </p:cNvPr>
          <p:cNvSpPr>
            <a:spLocks xmlns:a="http://schemas.openxmlformats.org/drawingml/2006/main" noGrp="1"/>
          </p:cNvSpPr>
          <p:nvPr/>
        </p:nvSpPr>
        <p:spPr>
          <a:xfrm xmlns:a="http://schemas.openxmlformats.org/drawingml/2006/main">
            <a:off x="6248400" y="4686300"/>
            <a:ext cx="1009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EVENT TRIGGER</a:t>
            </a:r>
          </a:p>
        </p:txBody>
      </p:sp>
      <p:sp>
        <p:nvSpPr>
          <p:cNvPr id="29" name="">
            <a:extLst xmlns:a="http://schemas.openxmlformats.org/drawingml/2006/main">
              <a:ext uri="{FF2B5EF4-FFF2-40B4-BE49-F238E27FC236}">
                <a16:creationId xmlns:a16="http://schemas.microsoft.com/office/drawing/2014/main" id="{0C22F2B0-7773-49D1-9DC9-EE42D22152AC}"/>
              </a:ext>
            </a:extLst>
          </p:cNvPr>
          <p:cNvSpPr>
            <a:spLocks xmlns:a="http://schemas.openxmlformats.org/drawingml/2006/main" noGrp="1"/>
          </p:cNvSpPr>
          <p:nvPr/>
        </p:nvSpPr>
        <p:spPr>
          <a:xfrm xmlns:a="http://schemas.openxmlformats.org/drawingml/2006/main">
            <a:off x="7581900" y="4438650"/>
            <a:ext cx="2286000" cy="876300"/>
          </a:xfrm>
          <a:prstGeom xmlns:a="http://schemas.openxmlformats.org/drawingml/2006/main" prst="roundRect">
            <a:avLst>
              <a:gd name="adj" fmla="val 8696"/>
            </a:avLst>
          </a:prstGeom>
          <a:solidFill xmlns:a="http://schemas.openxmlformats.org/drawingml/2006/main">
            <a:srgbClr val="3D1F5C"/>
          </a:solidFill>
          <a:ln xmlns:a="http://schemas.openxmlformats.org/drawingml/2006/main" w="19050">
            <a:solidFill>
              <a:srgbClr val="C7F25C"/>
            </a:solidFill>
            <a:prstDash val="solid"/>
          </a:ln>
        </p:spPr>
      </p:sp>
      <p:sp>
        <p:nvSpPr>
          <p:cNvPr id="30" name="">
            <a:extLst xmlns:a="http://schemas.openxmlformats.org/drawingml/2006/main">
              <a:ext uri="{FF2B5EF4-FFF2-40B4-BE49-F238E27FC236}">
                <a16:creationId xmlns:a16="http://schemas.microsoft.com/office/drawing/2014/main" id="{C18E446C-101C-47C7-B342-5265E3ACC93B}"/>
              </a:ext>
            </a:extLst>
          </p:cNvPr>
          <p:cNvSpPr>
            <a:spLocks xmlns:a="http://schemas.openxmlformats.org/drawingml/2006/main" noGrp="1"/>
          </p:cNvSpPr>
          <p:nvPr/>
        </p:nvSpPr>
        <p:spPr>
          <a:xfrm xmlns:a="http://schemas.openxmlformats.org/drawingml/2006/main">
            <a:off x="7696200" y="4686300"/>
            <a:ext cx="2057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CANARIES + HARDENING</a:t>
            </a:r>
          </a:p>
        </p:txBody>
      </p:sp>
      <p:sp>
        <p:nvSpPr>
          <p:cNvPr id="31" name="">
            <a:extLst xmlns:a="http://schemas.openxmlformats.org/drawingml/2006/main">
              <a:ext uri="{FF2B5EF4-FFF2-40B4-BE49-F238E27FC236}">
                <a16:creationId xmlns:a16="http://schemas.microsoft.com/office/drawing/2014/main" id="{431F086C-93B2-441D-891A-387CC646F8CB}"/>
              </a:ext>
            </a:extLst>
          </p:cNvPr>
          <p:cNvSpPr>
            <a:spLocks xmlns:a="http://schemas.openxmlformats.org/drawingml/2006/main" noGrp="1"/>
          </p:cNvSpPr>
          <p:nvPr/>
        </p:nvSpPr>
        <p:spPr>
          <a:xfrm xmlns:a="http://schemas.openxmlformats.org/drawingml/2006/main">
            <a:off x="876300" y="5734050"/>
            <a:ext cx="1043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C7F25C"/>
                </a:solidFill>
              </a:defRPr>
            </a:pPr>
            <a:r>
              <a:rPr sz="1800" b="1">
                <a:solidFill>
                  <a:srgbClr val="C7F25C"/>
                </a:solidFill>
              </a:rPr>
              <a:t>One interface routes goals. Shared memory, portable skills, triggers, and reliability loops keep the work moving.</a:t>
            </a:r>
          </a:p>
        </p:txBody>
      </p:sp>
    </p:spTree>
    <p:extLst>
      <p:ext uri="{BB962C8B-B14F-4D97-AF65-F5344CB8AC3E}">
        <p14:creationId xmlns:p14="http://schemas.microsoft.com/office/powerpoint/2010/main" val="193979179"/>
      </p:ext>
    </p:extLst>
  </p:cSld>
</p:sld>
</file>

<file path=ppt/slides/slide18.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491065D-1B43-479A-8158-045CBD9D7C09}"/>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3720FE96-8D7D-460C-8E09-14C37336459E}"/>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61ADD6C-5385-4FDE-96DD-FDE55D821C73}"/>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26232A"/>
                </a:solidFill>
              </a:defRPr>
            </a:pPr>
            <a:r>
              <a:rPr sz="3150" b="1">
                <a:solidFill>
                  <a:srgbClr val="26232A"/>
                </a:solidFill>
              </a:rPr>
              <a:t>Infrastructure beneath the outcome</a:t>
            </a:r>
          </a:p>
        </p:txBody>
      </p:sp>
      <p:sp>
        <p:nvSpPr>
          <p:cNvPr id="4" name="">
            <a:extLst xmlns:a="http://schemas.openxmlformats.org/drawingml/2006/main">
              <a:ext uri="{FF2B5EF4-FFF2-40B4-BE49-F238E27FC236}">
                <a16:creationId xmlns:a16="http://schemas.microsoft.com/office/drawing/2014/main" id="{EE132526-511A-41C4-9CE3-7E62AA52A29A}"/>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6E6873"/>
                </a:solidFill>
              </a:defRPr>
            </a:pPr>
            <a:r>
              <a:rPr sz="750" b="1">
                <a:solidFill>
                  <a:srgbClr val="6E6873"/>
                </a:solidFill>
              </a:rPr>
              <a:t>FORGEX  |  AI FOR ABM</a:t>
            </a:r>
          </a:p>
        </p:txBody>
      </p:sp>
      <p:sp>
        <p:nvSpPr>
          <p:cNvPr id="5" name="">
            <a:extLst xmlns:a="http://schemas.openxmlformats.org/drawingml/2006/main">
              <a:ext uri="{FF2B5EF4-FFF2-40B4-BE49-F238E27FC236}">
                <a16:creationId xmlns:a16="http://schemas.microsoft.com/office/drawing/2014/main" id="{5A2C4CD9-CF34-44C5-A79A-8C929000594C}"/>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E63888"/>
                </a:solidFill>
              </a:defRPr>
            </a:pPr>
            <a:r>
              <a:rPr sz="825" b="1">
                <a:solidFill>
                  <a:srgbClr val="E63888"/>
                </a:solidFill>
              </a:rPr>
              <a:t>18</a:t>
            </a:r>
          </a:p>
        </p:txBody>
      </p:sp>
      <p:sp>
        <p:nvSpPr>
          <p:cNvPr id="6" name="">
            <a:extLst xmlns:a="http://schemas.openxmlformats.org/drawingml/2006/main">
              <a:ext uri="{FF2B5EF4-FFF2-40B4-BE49-F238E27FC236}">
                <a16:creationId xmlns:a16="http://schemas.microsoft.com/office/drawing/2014/main" id="{4F79D4E3-7716-464E-BEB4-E9916AA1D5E2}"/>
              </a:ext>
            </a:extLst>
          </p:cNvPr>
          <p:cNvSpPr>
            <a:spLocks xmlns:a="http://schemas.openxmlformats.org/drawingml/2006/main" noGrp="1"/>
          </p:cNvSpPr>
          <p:nvPr/>
        </p:nvSpPr>
        <p:spPr>
          <a:xfrm xmlns:a="http://schemas.openxmlformats.org/drawingml/2006/main">
            <a:off x="533400" y="4953000"/>
            <a:ext cx="1371600" cy="1066800"/>
          </a:xfrm>
          <a:prstGeom xmlns:a="http://schemas.openxmlformats.org/drawingml/2006/main" prst="roundRect">
            <a:avLst>
              <a:gd name="adj" fmla="val 6897"/>
            </a:avLst>
          </a:prstGeom>
          <a:solidFill xmlns:a="http://schemas.openxmlformats.org/drawingml/2006/main">
            <a:srgbClr val="F9D6E8"/>
          </a:solidFill>
          <a:ln xmlns:a="http://schemas.openxmlformats.org/drawingml/2006/main" w="19050">
            <a:solidFill>
              <a:srgbClr val="EAE3EC"/>
            </a:solidFill>
            <a:prstDash val="solid"/>
          </a:ln>
        </p:spPr>
      </p:sp>
      <p:sp>
        <p:nvSpPr>
          <p:cNvPr id="7" name="">
            <a:extLst xmlns:a="http://schemas.openxmlformats.org/drawingml/2006/main">
              <a:ext uri="{FF2B5EF4-FFF2-40B4-BE49-F238E27FC236}">
                <a16:creationId xmlns:a16="http://schemas.microsoft.com/office/drawing/2014/main" id="{03D347CE-1DCB-4678-9977-C5622BDB779E}"/>
              </a:ext>
            </a:extLst>
          </p:cNvPr>
          <p:cNvSpPr>
            <a:spLocks xmlns:a="http://schemas.openxmlformats.org/drawingml/2006/main" noGrp="1"/>
          </p:cNvSpPr>
          <p:nvPr/>
        </p:nvSpPr>
        <p:spPr>
          <a:xfrm xmlns:a="http://schemas.openxmlformats.org/drawingml/2006/main">
            <a:off x="666750" y="50863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E63888"/>
                </a:solidFill>
              </a:defRPr>
            </a:pPr>
            <a:r>
              <a:rPr sz="1500" b="1">
                <a:solidFill>
                  <a:srgbClr val="E63888"/>
                </a:solidFill>
              </a:rPr>
              <a:t>0</a:t>
            </a:r>
          </a:p>
        </p:txBody>
      </p:sp>
      <p:sp>
        <p:nvSpPr>
          <p:cNvPr id="8" name="">
            <a:extLst xmlns:a="http://schemas.openxmlformats.org/drawingml/2006/main">
              <a:ext uri="{FF2B5EF4-FFF2-40B4-BE49-F238E27FC236}">
                <a16:creationId xmlns:a16="http://schemas.microsoft.com/office/drawing/2014/main" id="{A49B33AE-F7EE-43A9-B335-1D8694B3DECE}"/>
              </a:ext>
            </a:extLst>
          </p:cNvPr>
          <p:cNvSpPr>
            <a:spLocks xmlns:a="http://schemas.openxmlformats.org/drawingml/2006/main" noGrp="1"/>
          </p:cNvSpPr>
          <p:nvPr/>
        </p:nvSpPr>
        <p:spPr>
          <a:xfrm xmlns:a="http://schemas.openxmlformats.org/drawingml/2006/main">
            <a:off x="666750" y="5486400"/>
            <a:ext cx="1104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6232A"/>
                </a:solidFill>
              </a:defRPr>
            </a:pPr>
            <a:r>
              <a:rPr sz="1200" b="1">
                <a:solidFill>
                  <a:srgbClr val="26232A"/>
                </a:solidFill>
              </a:rPr>
              <a:t>Search interface</a:t>
            </a:r>
          </a:p>
        </p:txBody>
      </p:sp>
      <p:sp>
        <p:nvSpPr>
          <p:cNvPr id="9" name="">
            <a:extLst xmlns:a="http://schemas.openxmlformats.org/drawingml/2006/main">
              <a:ext uri="{FF2B5EF4-FFF2-40B4-BE49-F238E27FC236}">
                <a16:creationId xmlns:a16="http://schemas.microsoft.com/office/drawing/2014/main" id="{BC1BC67F-CFDB-46E8-A0B3-1036B0400E61}"/>
              </a:ext>
            </a:extLst>
          </p:cNvPr>
          <p:cNvSpPr>
            <a:spLocks xmlns:a="http://schemas.openxmlformats.org/drawingml/2006/main" noGrp="1"/>
          </p:cNvSpPr>
          <p:nvPr/>
        </p:nvSpPr>
        <p:spPr>
          <a:xfrm xmlns:a="http://schemas.openxmlformats.org/drawingml/2006/main">
            <a:off x="2133600" y="4495800"/>
            <a:ext cx="1371600" cy="1257300"/>
          </a:xfrm>
          <a:prstGeom xmlns:a="http://schemas.openxmlformats.org/drawingml/2006/main" prst="roundRect">
            <a:avLst>
              <a:gd name="adj" fmla="val 5882"/>
            </a:avLst>
          </a:prstGeom>
          <a:solidFill xmlns:a="http://schemas.openxmlformats.org/drawingml/2006/main">
            <a:srgbClr val="F9D6E8"/>
          </a:solidFill>
          <a:ln xmlns:a="http://schemas.openxmlformats.org/drawingml/2006/main" w="19050">
            <a:solidFill>
              <a:srgbClr val="EAE3EC"/>
            </a:solidFill>
            <a:prstDash val="solid"/>
          </a:ln>
        </p:spPr>
      </p:sp>
      <p:sp>
        <p:nvSpPr>
          <p:cNvPr id="10" name="">
            <a:extLst xmlns:a="http://schemas.openxmlformats.org/drawingml/2006/main">
              <a:ext uri="{FF2B5EF4-FFF2-40B4-BE49-F238E27FC236}">
                <a16:creationId xmlns:a16="http://schemas.microsoft.com/office/drawing/2014/main" id="{E55CDFD0-202F-4F8A-8BC7-A4023F4EE15E}"/>
              </a:ext>
            </a:extLst>
          </p:cNvPr>
          <p:cNvSpPr>
            <a:spLocks xmlns:a="http://schemas.openxmlformats.org/drawingml/2006/main" noGrp="1"/>
          </p:cNvSpPr>
          <p:nvPr/>
        </p:nvSpPr>
        <p:spPr>
          <a:xfrm xmlns:a="http://schemas.openxmlformats.org/drawingml/2006/main">
            <a:off x="2266950" y="46291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E63888"/>
                </a:solidFill>
              </a:defRPr>
            </a:pPr>
            <a:r>
              <a:rPr sz="1500" b="1">
                <a:solidFill>
                  <a:srgbClr val="E63888"/>
                </a:solidFill>
              </a:rPr>
              <a:t>1</a:t>
            </a:r>
          </a:p>
        </p:txBody>
      </p:sp>
      <p:sp>
        <p:nvSpPr>
          <p:cNvPr id="11" name="">
            <a:extLst xmlns:a="http://schemas.openxmlformats.org/drawingml/2006/main">
              <a:ext uri="{FF2B5EF4-FFF2-40B4-BE49-F238E27FC236}">
                <a16:creationId xmlns:a16="http://schemas.microsoft.com/office/drawing/2014/main" id="{BEFDC4EC-4BC6-4372-B571-01E12D2A34C5}"/>
              </a:ext>
            </a:extLst>
          </p:cNvPr>
          <p:cNvSpPr>
            <a:spLocks xmlns:a="http://schemas.openxmlformats.org/drawingml/2006/main" noGrp="1"/>
          </p:cNvSpPr>
          <p:nvPr/>
        </p:nvSpPr>
        <p:spPr>
          <a:xfrm xmlns:a="http://schemas.openxmlformats.org/drawingml/2006/main">
            <a:off x="2266950" y="5029200"/>
            <a:ext cx="1104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6232A"/>
                </a:solidFill>
              </a:defRPr>
            </a:pPr>
            <a:r>
              <a:rPr sz="1200" b="1">
                <a:solidFill>
                  <a:srgbClr val="26232A"/>
                </a:solidFill>
              </a:rPr>
              <a:t>Prompt + supplied context</a:t>
            </a:r>
          </a:p>
        </p:txBody>
      </p:sp>
      <p:sp>
        <p:nvSpPr>
          <p:cNvPr id="12" name="">
            <a:extLst xmlns:a="http://schemas.openxmlformats.org/drawingml/2006/main">
              <a:ext uri="{FF2B5EF4-FFF2-40B4-BE49-F238E27FC236}">
                <a16:creationId xmlns:a16="http://schemas.microsoft.com/office/drawing/2014/main" id="{ED25CFFD-688E-43A6-BA62-D438B8AF74BF}"/>
              </a:ext>
            </a:extLst>
          </p:cNvPr>
          <p:cNvSpPr>
            <a:spLocks xmlns:a="http://schemas.openxmlformats.org/drawingml/2006/main" noGrp="1"/>
          </p:cNvSpPr>
          <p:nvPr/>
        </p:nvSpPr>
        <p:spPr>
          <a:xfrm xmlns:a="http://schemas.openxmlformats.org/drawingml/2006/main">
            <a:off x="3733800" y="4038600"/>
            <a:ext cx="1371600" cy="14478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19050">
            <a:solidFill>
              <a:srgbClr val="EAE3EC"/>
            </a:solidFill>
            <a:prstDash val="solid"/>
          </a:ln>
        </p:spPr>
      </p:sp>
      <p:sp>
        <p:nvSpPr>
          <p:cNvPr id="13" name="">
            <a:extLst xmlns:a="http://schemas.openxmlformats.org/drawingml/2006/main">
              <a:ext uri="{FF2B5EF4-FFF2-40B4-BE49-F238E27FC236}">
                <a16:creationId xmlns:a16="http://schemas.microsoft.com/office/drawing/2014/main" id="{6AFE496B-C134-45A7-9E23-E33D7099FCA0}"/>
              </a:ext>
            </a:extLst>
          </p:cNvPr>
          <p:cNvSpPr>
            <a:spLocks xmlns:a="http://schemas.openxmlformats.org/drawingml/2006/main" noGrp="1"/>
          </p:cNvSpPr>
          <p:nvPr/>
        </p:nvSpPr>
        <p:spPr>
          <a:xfrm xmlns:a="http://schemas.openxmlformats.org/drawingml/2006/main">
            <a:off x="3867150" y="41719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E63888"/>
                </a:solidFill>
              </a:defRPr>
            </a:pPr>
            <a:r>
              <a:rPr sz="1500" b="1">
                <a:solidFill>
                  <a:srgbClr val="E63888"/>
                </a:solidFill>
              </a:rPr>
              <a:t>2</a:t>
            </a:r>
          </a:p>
        </p:txBody>
      </p:sp>
      <p:sp>
        <p:nvSpPr>
          <p:cNvPr id="14" name="">
            <a:extLst xmlns:a="http://schemas.openxmlformats.org/drawingml/2006/main">
              <a:ext uri="{FF2B5EF4-FFF2-40B4-BE49-F238E27FC236}">
                <a16:creationId xmlns:a16="http://schemas.microsoft.com/office/drawing/2014/main" id="{CB3F4E09-B349-4D68-8973-A7910ED2C17F}"/>
              </a:ext>
            </a:extLst>
          </p:cNvPr>
          <p:cNvSpPr>
            <a:spLocks xmlns:a="http://schemas.openxmlformats.org/drawingml/2006/main" noGrp="1"/>
          </p:cNvSpPr>
          <p:nvPr/>
        </p:nvSpPr>
        <p:spPr>
          <a:xfrm xmlns:a="http://schemas.openxmlformats.org/drawingml/2006/main">
            <a:off x="3867150" y="4572000"/>
            <a:ext cx="1104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6232A"/>
                </a:solidFill>
              </a:defRPr>
            </a:pPr>
            <a:r>
              <a:rPr sz="1200" b="1">
                <a:solidFill>
                  <a:srgbClr val="26232A"/>
                </a:solidFill>
              </a:rPr>
              <a:t>Company brain</a:t>
            </a:r>
          </a:p>
        </p:txBody>
      </p:sp>
      <p:sp>
        <p:nvSpPr>
          <p:cNvPr id="15" name="">
            <a:extLst xmlns:a="http://schemas.openxmlformats.org/drawingml/2006/main">
              <a:ext uri="{FF2B5EF4-FFF2-40B4-BE49-F238E27FC236}">
                <a16:creationId xmlns:a16="http://schemas.microsoft.com/office/drawing/2014/main" id="{6A12685E-6F0E-4219-944D-91A7FB1F5544}"/>
              </a:ext>
            </a:extLst>
          </p:cNvPr>
          <p:cNvSpPr>
            <a:spLocks xmlns:a="http://schemas.openxmlformats.org/drawingml/2006/main" noGrp="1"/>
          </p:cNvSpPr>
          <p:nvPr/>
        </p:nvSpPr>
        <p:spPr>
          <a:xfrm xmlns:a="http://schemas.openxmlformats.org/drawingml/2006/main">
            <a:off x="5334000" y="3581400"/>
            <a:ext cx="1371600" cy="163830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19050">
            <a:solidFill>
              <a:srgbClr val="EAE3EC"/>
            </a:solidFill>
            <a:prstDash val="solid"/>
          </a:ln>
        </p:spPr>
      </p:sp>
      <p:sp>
        <p:nvSpPr>
          <p:cNvPr id="16" name="">
            <a:extLst xmlns:a="http://schemas.openxmlformats.org/drawingml/2006/main">
              <a:ext uri="{FF2B5EF4-FFF2-40B4-BE49-F238E27FC236}">
                <a16:creationId xmlns:a16="http://schemas.microsoft.com/office/drawing/2014/main" id="{86C6BE37-12DB-44FB-A24C-7D53AF3718A5}"/>
              </a:ext>
            </a:extLst>
          </p:cNvPr>
          <p:cNvSpPr>
            <a:spLocks xmlns:a="http://schemas.openxmlformats.org/drawingml/2006/main" noGrp="1"/>
          </p:cNvSpPr>
          <p:nvPr/>
        </p:nvSpPr>
        <p:spPr>
          <a:xfrm xmlns:a="http://schemas.openxmlformats.org/drawingml/2006/main">
            <a:off x="5467350" y="37147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E63888"/>
                </a:solidFill>
              </a:defRPr>
            </a:pPr>
            <a:r>
              <a:rPr sz="1500" b="1">
                <a:solidFill>
                  <a:srgbClr val="E63888"/>
                </a:solidFill>
              </a:rPr>
              <a:t>3</a:t>
            </a:r>
          </a:p>
        </p:txBody>
      </p:sp>
      <p:sp>
        <p:nvSpPr>
          <p:cNvPr id="17" name="">
            <a:extLst xmlns:a="http://schemas.openxmlformats.org/drawingml/2006/main">
              <a:ext uri="{FF2B5EF4-FFF2-40B4-BE49-F238E27FC236}">
                <a16:creationId xmlns:a16="http://schemas.microsoft.com/office/drawing/2014/main" id="{DA10CE64-62E4-4026-898D-646C792F9948}"/>
              </a:ext>
            </a:extLst>
          </p:cNvPr>
          <p:cNvSpPr>
            <a:spLocks xmlns:a="http://schemas.openxmlformats.org/drawingml/2006/main" noGrp="1"/>
          </p:cNvSpPr>
          <p:nvPr/>
        </p:nvSpPr>
        <p:spPr>
          <a:xfrm xmlns:a="http://schemas.openxmlformats.org/drawingml/2006/main">
            <a:off x="5467350" y="4114800"/>
            <a:ext cx="1104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6232A"/>
                </a:solidFill>
              </a:defRPr>
            </a:pPr>
            <a:r>
              <a:rPr sz="1200" b="1">
                <a:solidFill>
                  <a:srgbClr val="26232A"/>
                </a:solidFill>
              </a:rPr>
              <a:t>Skill + output contract</a:t>
            </a:r>
          </a:p>
        </p:txBody>
      </p:sp>
      <p:sp>
        <p:nvSpPr>
          <p:cNvPr id="18" name="">
            <a:extLst xmlns:a="http://schemas.openxmlformats.org/drawingml/2006/main">
              <a:ext uri="{FF2B5EF4-FFF2-40B4-BE49-F238E27FC236}">
                <a16:creationId xmlns:a16="http://schemas.microsoft.com/office/drawing/2014/main" id="{E3EEFC99-7470-44E3-8149-40D8D0E1A4C1}"/>
              </a:ext>
            </a:extLst>
          </p:cNvPr>
          <p:cNvSpPr>
            <a:spLocks xmlns:a="http://schemas.openxmlformats.org/drawingml/2006/main" noGrp="1"/>
          </p:cNvSpPr>
          <p:nvPr/>
        </p:nvSpPr>
        <p:spPr>
          <a:xfrm xmlns:a="http://schemas.openxmlformats.org/drawingml/2006/main">
            <a:off x="6934200" y="3124200"/>
            <a:ext cx="1371600" cy="1828800"/>
          </a:xfrm>
          <a:prstGeom xmlns:a="http://schemas.openxmlformats.org/drawingml/2006/main" prst="roundRect">
            <a:avLst>
              <a:gd name="adj" fmla="val 4706"/>
            </a:avLst>
          </a:prstGeom>
          <a:solidFill xmlns:a="http://schemas.openxmlformats.org/drawingml/2006/main">
            <a:srgbClr val="3D1F5C"/>
          </a:solidFill>
          <a:ln xmlns:a="http://schemas.openxmlformats.org/drawingml/2006/main" w="19050">
            <a:solidFill>
              <a:srgbClr val="3D1F5C"/>
            </a:solidFill>
            <a:prstDash val="solid"/>
          </a:ln>
        </p:spPr>
      </p:sp>
      <p:sp>
        <p:nvSpPr>
          <p:cNvPr id="19" name="">
            <a:extLst xmlns:a="http://schemas.openxmlformats.org/drawingml/2006/main">
              <a:ext uri="{FF2B5EF4-FFF2-40B4-BE49-F238E27FC236}">
                <a16:creationId xmlns:a16="http://schemas.microsoft.com/office/drawing/2014/main" id="{BABF31E0-0780-4AEF-92AB-91B3678CA448}"/>
              </a:ext>
            </a:extLst>
          </p:cNvPr>
          <p:cNvSpPr>
            <a:spLocks xmlns:a="http://schemas.openxmlformats.org/drawingml/2006/main" noGrp="1"/>
          </p:cNvSpPr>
          <p:nvPr/>
        </p:nvSpPr>
        <p:spPr>
          <a:xfrm xmlns:a="http://schemas.openxmlformats.org/drawingml/2006/main">
            <a:off x="7067550" y="32575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C7F25C"/>
                </a:solidFill>
              </a:defRPr>
            </a:pPr>
            <a:r>
              <a:rPr sz="1500" b="1">
                <a:solidFill>
                  <a:srgbClr val="C7F25C"/>
                </a:solidFill>
              </a:rPr>
              <a:t>4</a:t>
            </a:r>
          </a:p>
        </p:txBody>
      </p:sp>
      <p:sp>
        <p:nvSpPr>
          <p:cNvPr id="20" name="">
            <a:extLst xmlns:a="http://schemas.openxmlformats.org/drawingml/2006/main">
              <a:ext uri="{FF2B5EF4-FFF2-40B4-BE49-F238E27FC236}">
                <a16:creationId xmlns:a16="http://schemas.microsoft.com/office/drawing/2014/main" id="{D0C31E6B-5CF4-49CB-B38C-5AAD32F88072}"/>
              </a:ext>
            </a:extLst>
          </p:cNvPr>
          <p:cNvSpPr>
            <a:spLocks xmlns:a="http://schemas.openxmlformats.org/drawingml/2006/main" noGrp="1"/>
          </p:cNvSpPr>
          <p:nvPr/>
        </p:nvSpPr>
        <p:spPr>
          <a:xfrm xmlns:a="http://schemas.openxmlformats.org/drawingml/2006/main">
            <a:off x="7067550" y="3657600"/>
            <a:ext cx="1104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FFFFFF"/>
                </a:solidFill>
              </a:defRPr>
            </a:pPr>
            <a:r>
              <a:rPr sz="1200" b="1">
                <a:solidFill>
                  <a:srgbClr val="FFFFFF"/>
                </a:solidFill>
              </a:rPr>
              <a:t>Trigger + state + monitoring</a:t>
            </a:r>
          </a:p>
        </p:txBody>
      </p:sp>
      <p:sp>
        <p:nvSpPr>
          <p:cNvPr id="21" name="">
            <a:extLst xmlns:a="http://schemas.openxmlformats.org/drawingml/2006/main">
              <a:ext uri="{FF2B5EF4-FFF2-40B4-BE49-F238E27FC236}">
                <a16:creationId xmlns:a16="http://schemas.microsoft.com/office/drawing/2014/main" id="{81340E85-B9C8-4BE5-B6DA-D14D40A4D716}"/>
              </a:ext>
            </a:extLst>
          </p:cNvPr>
          <p:cNvSpPr>
            <a:spLocks xmlns:a="http://schemas.openxmlformats.org/drawingml/2006/main" noGrp="1"/>
          </p:cNvSpPr>
          <p:nvPr/>
        </p:nvSpPr>
        <p:spPr>
          <a:xfrm xmlns:a="http://schemas.openxmlformats.org/drawingml/2006/main">
            <a:off x="8534400" y="2667000"/>
            <a:ext cx="1371600" cy="2019300"/>
          </a:xfrm>
          <a:prstGeom xmlns:a="http://schemas.openxmlformats.org/drawingml/2006/main" prst="roundRect">
            <a:avLst>
              <a:gd name="adj" fmla="val 4706"/>
            </a:avLst>
          </a:prstGeom>
          <a:solidFill xmlns:a="http://schemas.openxmlformats.org/drawingml/2006/main">
            <a:srgbClr val="3D1F5C"/>
          </a:solidFill>
          <a:ln xmlns:a="http://schemas.openxmlformats.org/drawingml/2006/main" w="19050">
            <a:solidFill>
              <a:srgbClr val="3D1F5C"/>
            </a:solidFill>
            <a:prstDash val="solid"/>
          </a:ln>
        </p:spPr>
      </p:sp>
      <p:sp>
        <p:nvSpPr>
          <p:cNvPr id="22" name="">
            <a:extLst xmlns:a="http://schemas.openxmlformats.org/drawingml/2006/main">
              <a:ext uri="{FF2B5EF4-FFF2-40B4-BE49-F238E27FC236}">
                <a16:creationId xmlns:a16="http://schemas.microsoft.com/office/drawing/2014/main" id="{892C5338-D95A-4D8C-97A7-AB757653BC9C}"/>
              </a:ext>
            </a:extLst>
          </p:cNvPr>
          <p:cNvSpPr>
            <a:spLocks xmlns:a="http://schemas.openxmlformats.org/drawingml/2006/main" noGrp="1"/>
          </p:cNvSpPr>
          <p:nvPr/>
        </p:nvSpPr>
        <p:spPr>
          <a:xfrm xmlns:a="http://schemas.openxmlformats.org/drawingml/2006/main">
            <a:off x="8667750" y="28003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C7F25C"/>
                </a:solidFill>
              </a:defRPr>
            </a:pPr>
            <a:r>
              <a:rPr sz="1500" b="1">
                <a:solidFill>
                  <a:srgbClr val="C7F25C"/>
                </a:solidFill>
              </a:rPr>
              <a:t>5</a:t>
            </a:r>
          </a:p>
        </p:txBody>
      </p:sp>
      <p:sp>
        <p:nvSpPr>
          <p:cNvPr id="23" name="">
            <a:extLst xmlns:a="http://schemas.openxmlformats.org/drawingml/2006/main">
              <a:ext uri="{FF2B5EF4-FFF2-40B4-BE49-F238E27FC236}">
                <a16:creationId xmlns:a16="http://schemas.microsoft.com/office/drawing/2014/main" id="{3F57AECE-AD4E-49BC-A054-F126268C4152}"/>
              </a:ext>
            </a:extLst>
          </p:cNvPr>
          <p:cNvSpPr>
            <a:spLocks xmlns:a="http://schemas.openxmlformats.org/drawingml/2006/main" noGrp="1"/>
          </p:cNvSpPr>
          <p:nvPr/>
        </p:nvSpPr>
        <p:spPr>
          <a:xfrm xmlns:a="http://schemas.openxmlformats.org/drawingml/2006/main">
            <a:off x="8667750" y="3200400"/>
            <a:ext cx="1104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FFFFFF"/>
                </a:solidFill>
              </a:defRPr>
            </a:pPr>
            <a:r>
              <a:rPr sz="1200" b="1">
                <a:solidFill>
                  <a:srgbClr val="FFFFFF"/>
                </a:solidFill>
              </a:rPr>
              <a:t>Goal + planning + tool choice</a:t>
            </a:r>
          </a:p>
        </p:txBody>
      </p:sp>
      <p:sp>
        <p:nvSpPr>
          <p:cNvPr id="24" name="">
            <a:extLst xmlns:a="http://schemas.openxmlformats.org/drawingml/2006/main">
              <a:ext uri="{FF2B5EF4-FFF2-40B4-BE49-F238E27FC236}">
                <a16:creationId xmlns:a16="http://schemas.microsoft.com/office/drawing/2014/main" id="{25275628-632A-4026-963C-9445CCB0907C}"/>
              </a:ext>
            </a:extLst>
          </p:cNvPr>
          <p:cNvSpPr>
            <a:spLocks xmlns:a="http://schemas.openxmlformats.org/drawingml/2006/main" noGrp="1"/>
          </p:cNvSpPr>
          <p:nvPr/>
        </p:nvSpPr>
        <p:spPr>
          <a:xfrm xmlns:a="http://schemas.openxmlformats.org/drawingml/2006/main">
            <a:off x="1333500" y="5867400"/>
            <a:ext cx="952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3D1F5C"/>
                </a:solidFill>
              </a:defRPr>
            </a:pPr>
            <a:r>
              <a:rPr sz="1650" b="1">
                <a:solidFill>
                  <a:srgbClr val="3D1F5C"/>
                </a:solidFill>
              </a:rPr>
              <a:t/>
            </a:r>
          </a:p>
        </p:txBody>
      </p:sp>
      <p:sp>
        <p:nvSpPr>
          <p:cNvPr id="26" name="level-6-step">
            <a:extLst xmlns:a="http://schemas.openxmlformats.org/drawingml/2006/main">
              <a:ext uri="{FF2B5EF4-FFF2-40B4-BE49-F238E27FC236}">
                <a16:creationId xmlns:a16="http://schemas.microsoft.com/office/drawing/2014/main" id="{64F3DA79-EC5F-446F-8F99-0308E217DE63}"/>
              </a:ext>
            </a:extLst>
          </p:cNvPr>
          <p:cNvSpPr>
            <a:spLocks xmlns:a="http://schemas.openxmlformats.org/drawingml/2006/main" noGrp="1"/>
          </p:cNvSpPr>
          <p:nvPr/>
        </p:nvSpPr>
        <p:spPr>
          <a:xfrm xmlns:a="http://schemas.openxmlformats.org/drawingml/2006/main">
            <a:off x="10134600" y="2209800"/>
            <a:ext cx="1371600" cy="2209800"/>
          </a:xfrm>
          <a:prstGeom xmlns:a="http://schemas.openxmlformats.org/drawingml/2006/main" prst="roundRect">
            <a:avLst>
              <a:gd name="adj" fmla="val 5556"/>
            </a:avLst>
          </a:prstGeom>
          <a:solidFill xmlns:a="http://schemas.openxmlformats.org/drawingml/2006/main">
            <a:srgbClr val="C7F25C"/>
          </a:solidFill>
          <a:ln xmlns:a="http://schemas.openxmlformats.org/drawingml/2006/main" w="19050">
            <a:solidFill>
              <a:srgbClr val="C7F25C"/>
            </a:solidFill>
            <a:prstDash val="solid"/>
          </a:ln>
        </p:spPr>
      </p:sp>
      <p:sp>
        <p:nvSpPr>
          <p:cNvPr id="27" name="level-6-number">
            <a:extLst xmlns:a="http://schemas.openxmlformats.org/drawingml/2006/main">
              <a:ext uri="{FF2B5EF4-FFF2-40B4-BE49-F238E27FC236}">
                <a16:creationId xmlns:a16="http://schemas.microsoft.com/office/drawing/2014/main" id="{633DA8BA-02B0-4069-8EAD-8332B6309578}"/>
              </a:ext>
            </a:extLst>
          </p:cNvPr>
          <p:cNvSpPr>
            <a:spLocks xmlns:a="http://schemas.openxmlformats.org/drawingml/2006/main" noGrp="1"/>
          </p:cNvSpPr>
          <p:nvPr/>
        </p:nvSpPr>
        <p:spPr>
          <a:xfrm xmlns:a="http://schemas.openxmlformats.org/drawingml/2006/main">
            <a:off x="10267950" y="23431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00" b="1">
                <a:solidFill>
                  <a:srgbClr val="3D1F5C"/>
                </a:solidFill>
              </a:defRPr>
            </a:pPr>
            <a:r>
              <a:rPr sz="1500" b="1">
                <a:solidFill>
                  <a:srgbClr val="3D1F5C"/>
                </a:solidFill>
              </a:rPr>
              <a:t>6</a:t>
            </a:r>
          </a:p>
        </p:txBody>
      </p:sp>
      <p:sp>
        <p:nvSpPr>
          <p:cNvPr id="28" name="level-6-label">
            <a:extLst xmlns:a="http://schemas.openxmlformats.org/drawingml/2006/main">
              <a:ext uri="{FF2B5EF4-FFF2-40B4-BE49-F238E27FC236}">
                <a16:creationId xmlns:a16="http://schemas.microsoft.com/office/drawing/2014/main" id="{2E9F2F96-4AFA-4233-8930-47885EB3FA1D}"/>
              </a:ext>
            </a:extLst>
          </p:cNvPr>
          <p:cNvSpPr>
            <a:spLocks xmlns:a="http://schemas.openxmlformats.org/drawingml/2006/main" noGrp="1"/>
          </p:cNvSpPr>
          <p:nvPr/>
        </p:nvSpPr>
        <p:spPr>
          <a:xfrm xmlns:a="http://schemas.openxmlformats.org/drawingml/2006/main">
            <a:off x="10267950" y="2743200"/>
            <a:ext cx="11049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200" b="1">
                <a:solidFill>
                  <a:srgbClr val="3D1F5C"/>
                </a:solidFill>
              </a:defRPr>
            </a:pPr>
            <a:r>
              <a:rPr sz="1200" b="1">
                <a:solidFill>
                  <a:srgbClr val="3D1F5C"/>
                </a:solidFill>
              </a:rPr>
              <a:t>Orchestration</a:t>
            </a:r>
          </a:p>
          <a:p xmlns:a="http://schemas.openxmlformats.org/drawingml/2006/main">
            <a:pPr algn="l">
              <a:buNone/>
              <a:defRPr sz="1200" b="1">
                <a:solidFill>
                  <a:srgbClr val="3D1F5C"/>
                </a:solidFill>
              </a:defRPr>
            </a:pPr>
            <a:r>
              <a:rPr sz="1200" b="1">
                <a:solidFill>
                  <a:srgbClr val="3D1F5C"/>
                </a:solidFill>
              </a:rPr>
              <a:t>+ shared memory</a:t>
            </a:r>
          </a:p>
          <a:p xmlns:a="http://schemas.openxmlformats.org/drawingml/2006/main">
            <a:pPr algn="l">
              <a:buNone/>
              <a:defRPr sz="1200" b="1">
                <a:solidFill>
                  <a:srgbClr val="3D1F5C"/>
                </a:solidFill>
              </a:defRPr>
            </a:pPr>
            <a:r>
              <a:rPr sz="1200" b="1">
                <a:solidFill>
                  <a:srgbClr val="3D1F5C"/>
                </a:solidFill>
              </a:rPr>
              <a:t>+ triggers</a:t>
            </a:r>
          </a:p>
          <a:p xmlns:a="http://schemas.openxmlformats.org/drawingml/2006/main">
            <a:pPr algn="l">
              <a:buNone/>
              <a:defRPr sz="1200" b="1">
                <a:solidFill>
                  <a:srgbClr val="3D1F5C"/>
                </a:solidFill>
              </a:defRPr>
            </a:pPr>
            <a:r>
              <a:rPr sz="1200" b="1">
                <a:solidFill>
                  <a:srgbClr val="3D1F5C"/>
                </a:solidFill>
              </a:rPr>
              <a:t>+ reliability</a:t>
            </a:r>
          </a:p>
        </p:txBody>
      </p:sp>
    </p:spTree>
    <p:extLst>
      <p:ext uri="{BB962C8B-B14F-4D97-AF65-F5344CB8AC3E}">
        <p14:creationId xmlns:p14="http://schemas.microsoft.com/office/powerpoint/2010/main" val="70778352"/>
      </p:ext>
    </p:extLst>
  </p:cSld>
</p:sld>
</file>

<file path=ppt/slides/slide19.xml><?xml version="1.0" encoding="utf-8"?>
<p:sld xmlns:p="http://schemas.openxmlformats.org/presentationml/2006/main">
  <p:cSld>
    <p:bg>
      <p:bgPr>
        <a:solidFill xmlns:a="http://schemas.openxmlformats.org/drawingml/2006/main">
          <a:srgbClr val="2B123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DD91164-3F31-467A-A31E-D48DD822C376}"/>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0D091ACB-D162-43E4-BD73-2013D638FE61}"/>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010B6C8-CCF0-4036-87CF-F1A19A2FA5B2}"/>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FFFFFF"/>
                </a:solidFill>
              </a:defRPr>
            </a:pPr>
            <a:r>
              <a:rPr sz="3150" b="1">
                <a:solidFill>
                  <a:srgbClr val="FFFFFF"/>
                </a:solidFill>
              </a:rPr>
              <a:t>Measure outcomes, not AI activity</a:t>
            </a:r>
          </a:p>
        </p:txBody>
      </p:sp>
      <p:sp>
        <p:nvSpPr>
          <p:cNvPr id="4" name="">
            <a:extLst xmlns:a="http://schemas.openxmlformats.org/drawingml/2006/main">
              <a:ext uri="{FF2B5EF4-FFF2-40B4-BE49-F238E27FC236}">
                <a16:creationId xmlns:a16="http://schemas.microsoft.com/office/drawing/2014/main" id="{B44F2440-1605-4070-8E70-2B2D506EE46F}"/>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EAE3EC"/>
                </a:solidFill>
              </a:defRPr>
            </a:pPr>
            <a:r>
              <a:rPr sz="750" b="1">
                <a:solidFill>
                  <a:srgbClr val="EAE3EC"/>
                </a:solidFill>
              </a:rPr>
              <a:t>FORGEX  |  AI FOR ABM</a:t>
            </a:r>
          </a:p>
        </p:txBody>
      </p:sp>
      <p:sp>
        <p:nvSpPr>
          <p:cNvPr id="5" name="">
            <a:extLst xmlns:a="http://schemas.openxmlformats.org/drawingml/2006/main">
              <a:ext uri="{FF2B5EF4-FFF2-40B4-BE49-F238E27FC236}">
                <a16:creationId xmlns:a16="http://schemas.microsoft.com/office/drawing/2014/main" id="{7A3B719D-E2DB-470A-8979-34F20687365B}"/>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C7F25C"/>
                </a:solidFill>
              </a:defRPr>
            </a:pPr>
            <a:r>
              <a:rPr sz="825" b="1">
                <a:solidFill>
                  <a:srgbClr val="C7F25C"/>
                </a:solidFill>
              </a:rPr>
              <a:t>19</a:t>
            </a:r>
          </a:p>
        </p:txBody>
      </p:sp>
      <p:sp>
        <p:nvSpPr>
          <p:cNvPr id="6" name="">
            <a:extLst xmlns:a="http://schemas.openxmlformats.org/drawingml/2006/main">
              <a:ext uri="{FF2B5EF4-FFF2-40B4-BE49-F238E27FC236}">
                <a16:creationId xmlns:a16="http://schemas.microsoft.com/office/drawing/2014/main" id="{EFF62717-F218-483F-9D8E-85F2E42F33C2}"/>
              </a:ext>
            </a:extLst>
          </p:cNvPr>
          <p:cNvSpPr>
            <a:spLocks xmlns:a="http://schemas.openxmlformats.org/drawingml/2006/main" noGrp="1"/>
          </p:cNvSpPr>
          <p:nvPr/>
        </p:nvSpPr>
        <p:spPr>
          <a:xfrm xmlns:a="http://schemas.openxmlformats.org/drawingml/2006/main">
            <a:off x="666750" y="2095500"/>
            <a:ext cx="381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E63888"/>
                </a:solidFill>
              </a:defRPr>
            </a:pPr>
            <a:r>
              <a:rPr sz="2850" b="1">
                <a:solidFill>
                  <a:srgbClr val="E63888"/>
                </a:solidFill>
              </a:rPr>
              <a:t>SPEED</a:t>
            </a:r>
          </a:p>
        </p:txBody>
      </p:sp>
      <p:sp>
        <p:nvSpPr>
          <p:cNvPr id="7" name="">
            <a:extLst xmlns:a="http://schemas.openxmlformats.org/drawingml/2006/main">
              <a:ext uri="{FF2B5EF4-FFF2-40B4-BE49-F238E27FC236}">
                <a16:creationId xmlns:a16="http://schemas.microsoft.com/office/drawing/2014/main" id="{646508A0-E117-4016-BB9C-FC3926CA6C3E}"/>
              </a:ext>
            </a:extLst>
          </p:cNvPr>
          <p:cNvSpPr>
            <a:spLocks xmlns:a="http://schemas.openxmlformats.org/drawingml/2006/main" noGrp="1"/>
          </p:cNvSpPr>
          <p:nvPr/>
        </p:nvSpPr>
        <p:spPr>
          <a:xfrm xmlns:a="http://schemas.openxmlformats.org/drawingml/2006/main">
            <a:off x="4286250" y="2095500"/>
            <a:ext cx="381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FFFFFF"/>
                </a:solidFill>
              </a:defRPr>
            </a:pPr>
            <a:r>
              <a:rPr sz="2850" b="1">
                <a:solidFill>
                  <a:srgbClr val="FFFFFF"/>
                </a:solidFill>
              </a:rPr>
              <a:t>QUALITY</a:t>
            </a:r>
          </a:p>
        </p:txBody>
      </p:sp>
      <p:sp>
        <p:nvSpPr>
          <p:cNvPr id="8" name="">
            <a:extLst xmlns:a="http://schemas.openxmlformats.org/drawingml/2006/main">
              <a:ext uri="{FF2B5EF4-FFF2-40B4-BE49-F238E27FC236}">
                <a16:creationId xmlns:a16="http://schemas.microsoft.com/office/drawing/2014/main" id="{331D6C9A-B6D1-45F0-BBB2-08E33E0B2387}"/>
              </a:ext>
            </a:extLst>
          </p:cNvPr>
          <p:cNvSpPr>
            <a:spLocks xmlns:a="http://schemas.openxmlformats.org/drawingml/2006/main" noGrp="1"/>
          </p:cNvSpPr>
          <p:nvPr/>
        </p:nvSpPr>
        <p:spPr>
          <a:xfrm xmlns:a="http://schemas.openxmlformats.org/drawingml/2006/main">
            <a:off x="8096250" y="2095500"/>
            <a:ext cx="381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C7F25C"/>
                </a:solidFill>
              </a:defRPr>
            </a:pPr>
            <a:r>
              <a:rPr sz="2850" b="1">
                <a:solidFill>
                  <a:srgbClr val="C7F25C"/>
                </a:solidFill>
              </a:rPr>
              <a:t>CONSISTENCY</a:t>
            </a:r>
          </a:p>
        </p:txBody>
      </p:sp>
      <p:sp>
        <p:nvSpPr>
          <p:cNvPr id="9" name="">
            <a:extLst xmlns:a="http://schemas.openxmlformats.org/drawingml/2006/main">
              <a:ext uri="{FF2B5EF4-FFF2-40B4-BE49-F238E27FC236}">
                <a16:creationId xmlns:a16="http://schemas.microsoft.com/office/drawing/2014/main" id="{020FF1BE-9FE0-4E75-871F-1DFFDAF18C68}"/>
              </a:ext>
            </a:extLst>
          </p:cNvPr>
          <p:cNvSpPr>
            <a:spLocks xmlns:a="http://schemas.openxmlformats.org/drawingml/2006/main" noGrp="1"/>
          </p:cNvSpPr>
          <p:nvPr/>
        </p:nvSpPr>
        <p:spPr>
          <a:xfrm xmlns:a="http://schemas.openxmlformats.org/drawingml/2006/main">
            <a:off x="1428750" y="3486150"/>
            <a:ext cx="381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FFFFFF"/>
                </a:solidFill>
              </a:defRPr>
            </a:pPr>
            <a:r>
              <a:rPr sz="2850" b="1">
                <a:solidFill>
                  <a:srgbClr val="FFFFFF"/>
                </a:solidFill>
              </a:rPr>
              <a:t>CAMPAIGN VOLUME</a:t>
            </a:r>
          </a:p>
        </p:txBody>
      </p:sp>
      <p:sp>
        <p:nvSpPr>
          <p:cNvPr id="10" name="">
            <a:extLst xmlns:a="http://schemas.openxmlformats.org/drawingml/2006/main">
              <a:ext uri="{FF2B5EF4-FFF2-40B4-BE49-F238E27FC236}">
                <a16:creationId xmlns:a16="http://schemas.microsoft.com/office/drawing/2014/main" id="{70A63EE1-8EF6-4E83-BB29-682524FDA16B}"/>
              </a:ext>
            </a:extLst>
          </p:cNvPr>
          <p:cNvSpPr>
            <a:spLocks xmlns:a="http://schemas.openxmlformats.org/drawingml/2006/main" noGrp="1"/>
          </p:cNvSpPr>
          <p:nvPr/>
        </p:nvSpPr>
        <p:spPr>
          <a:xfrm xmlns:a="http://schemas.openxmlformats.org/drawingml/2006/main">
            <a:off x="6572250" y="3486150"/>
            <a:ext cx="381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E63888"/>
                </a:solidFill>
              </a:defRPr>
            </a:pPr>
            <a:r>
              <a:rPr sz="2850" b="1">
                <a:solidFill>
                  <a:srgbClr val="E63888"/>
                </a:solidFill>
              </a:rPr>
              <a:t>PERSONALIZATION</a:t>
            </a:r>
          </a:p>
        </p:txBody>
      </p:sp>
      <p:sp>
        <p:nvSpPr>
          <p:cNvPr id="11" name="">
            <a:extLst xmlns:a="http://schemas.openxmlformats.org/drawingml/2006/main">
              <a:ext uri="{FF2B5EF4-FFF2-40B4-BE49-F238E27FC236}">
                <a16:creationId xmlns:a16="http://schemas.microsoft.com/office/drawing/2014/main" id="{11406927-91B4-49EF-BD6D-70D944D02665}"/>
              </a:ext>
            </a:extLst>
          </p:cNvPr>
          <p:cNvSpPr>
            <a:spLocks xmlns:a="http://schemas.openxmlformats.org/drawingml/2006/main" noGrp="1"/>
          </p:cNvSpPr>
          <p:nvPr/>
        </p:nvSpPr>
        <p:spPr>
          <a:xfrm xmlns:a="http://schemas.openxmlformats.org/drawingml/2006/main">
            <a:off x="762000" y="4914900"/>
            <a:ext cx="10668000" cy="19050"/>
          </a:xfrm>
          <a:prstGeom xmlns:a="http://schemas.openxmlformats.org/drawingml/2006/main" prst="rect">
            <a:avLst/>
          </a:prstGeom>
          <a:solidFill xmlns:a="http://schemas.openxmlformats.org/drawingml/2006/main">
            <a:srgbClr val="E6388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40AB4CE-79C8-4C6A-9BEA-D466D6EFA413}"/>
              </a:ext>
            </a:extLst>
          </p:cNvPr>
          <p:cNvSpPr>
            <a:spLocks xmlns:a="http://schemas.openxmlformats.org/drawingml/2006/main" noGrp="1"/>
          </p:cNvSpPr>
          <p:nvPr/>
        </p:nvSpPr>
        <p:spPr>
          <a:xfrm xmlns:a="http://schemas.openxmlformats.org/drawingml/2006/main">
            <a:off x="952500" y="5219700"/>
            <a:ext cx="10287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EAE3EC"/>
                </a:solidFill>
              </a:defRPr>
            </a:pPr>
            <a:r>
              <a:rPr sz="1350" b="0">
                <a:solidFill>
                  <a:srgbClr val="EAE3EC"/>
                </a:solidFill>
              </a:rPr>
              <a:t>When the system runs without direct supervision, also track corrections, exceptions, failed runs, stale sources, unsupported claims, human overrides, canary failures, hardening cycle time, and cost per approved outcome.</a:t>
            </a:r>
          </a:p>
        </p:txBody>
      </p:sp>
    </p:spTree>
    <p:extLst>
      <p:ext uri="{BB962C8B-B14F-4D97-AF65-F5344CB8AC3E}">
        <p14:creationId xmlns:p14="http://schemas.microsoft.com/office/powerpoint/2010/main" val="1307088959"/>
      </p:ext>
    </p:extLst>
  </p:cSld>
</p:sld>
</file>

<file path=ppt/slides/slide20.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CA782E4-DA57-4801-AB48-E53A50251D83}"/>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9882F4C8-D197-4D29-95F8-E17798E69CE0}"/>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8AB06FB-9CCB-41F8-B724-ED4AC0E62534}"/>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26232A"/>
                </a:solidFill>
              </a:defRPr>
            </a:pPr>
            <a:r>
              <a:rPr sz="3150" b="1">
                <a:solidFill>
                  <a:srgbClr val="26232A"/>
                </a:solidFill>
              </a:rPr>
              <a:t>Most teams should focus here</a:t>
            </a:r>
          </a:p>
        </p:txBody>
      </p:sp>
      <p:sp>
        <p:nvSpPr>
          <p:cNvPr id="4" name="">
            <a:extLst xmlns:a="http://schemas.openxmlformats.org/drawingml/2006/main">
              <a:ext uri="{FF2B5EF4-FFF2-40B4-BE49-F238E27FC236}">
                <a16:creationId xmlns:a16="http://schemas.microsoft.com/office/drawing/2014/main" id="{7625A5AB-D0E8-404A-9D64-F277001E4653}"/>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6E6873"/>
                </a:solidFill>
              </a:defRPr>
            </a:pPr>
            <a:r>
              <a:rPr sz="750" b="1">
                <a:solidFill>
                  <a:srgbClr val="6E6873"/>
                </a:solidFill>
              </a:rPr>
              <a:t>FORGEX  |  AI FOR ABM</a:t>
            </a:r>
          </a:p>
        </p:txBody>
      </p:sp>
      <p:sp>
        <p:nvSpPr>
          <p:cNvPr id="5" name="">
            <a:extLst xmlns:a="http://schemas.openxmlformats.org/drawingml/2006/main">
              <a:ext uri="{FF2B5EF4-FFF2-40B4-BE49-F238E27FC236}">
                <a16:creationId xmlns:a16="http://schemas.microsoft.com/office/drawing/2014/main" id="{D123BD64-3C90-4B9D-AE0C-02426B0A275D}"/>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E63888"/>
                </a:solidFill>
              </a:defRPr>
            </a:pPr>
            <a:r>
              <a:rPr sz="825" b="1">
                <a:solidFill>
                  <a:srgbClr val="E63888"/>
                </a:solidFill>
              </a:rPr>
              <a:t>20</a:t>
            </a:r>
          </a:p>
        </p:txBody>
      </p:sp>
      <p:sp>
        <p:nvSpPr>
          <p:cNvPr id="6" name="">
            <a:extLst xmlns:a="http://schemas.openxmlformats.org/drawingml/2006/main">
              <a:ext uri="{FF2B5EF4-FFF2-40B4-BE49-F238E27FC236}">
                <a16:creationId xmlns:a16="http://schemas.microsoft.com/office/drawing/2014/main" id="{668610CA-BE21-4A95-9EF3-4C5DB92EFBF4}"/>
              </a:ext>
            </a:extLst>
          </p:cNvPr>
          <p:cNvSpPr>
            <a:spLocks xmlns:a="http://schemas.openxmlformats.org/drawingml/2006/main" noGrp="1"/>
          </p:cNvSpPr>
          <p:nvPr/>
        </p:nvSpPr>
        <p:spPr>
          <a:xfrm xmlns:a="http://schemas.openxmlformats.org/drawingml/2006/main">
            <a:off x="876300" y="2324100"/>
            <a:ext cx="1428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6450" b="1">
                <a:solidFill>
                  <a:srgbClr val="3D1F5C"/>
                </a:solidFill>
              </a:defRPr>
            </a:pPr>
            <a:r>
              <a:rPr sz="6450" b="1">
                <a:solidFill>
                  <a:srgbClr val="3D1F5C"/>
                </a:solidFill>
              </a:rPr>
              <a:t>2</a:t>
            </a:r>
          </a:p>
        </p:txBody>
      </p:sp>
      <p:sp>
        <p:nvSpPr>
          <p:cNvPr id="7" name="">
            <a:extLst xmlns:a="http://schemas.openxmlformats.org/drawingml/2006/main">
              <a:ext uri="{FF2B5EF4-FFF2-40B4-BE49-F238E27FC236}">
                <a16:creationId xmlns:a16="http://schemas.microsoft.com/office/drawing/2014/main" id="{6D3573A7-99DA-42CC-B6AC-E88F9DBCBC4F}"/>
              </a:ext>
            </a:extLst>
          </p:cNvPr>
          <p:cNvSpPr>
            <a:spLocks xmlns:a="http://schemas.openxmlformats.org/drawingml/2006/main" noGrp="1"/>
          </p:cNvSpPr>
          <p:nvPr/>
        </p:nvSpPr>
        <p:spPr>
          <a:xfrm xmlns:a="http://schemas.openxmlformats.org/drawingml/2006/main">
            <a:off x="2362200" y="2590800"/>
            <a:ext cx="819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450" b="1">
                <a:solidFill>
                  <a:srgbClr val="E63888"/>
                </a:solidFill>
              </a:defRPr>
            </a:pPr>
            <a:r>
              <a:rPr sz="3450" b="1">
                <a:solidFill>
                  <a:srgbClr val="E63888"/>
                </a:solidFill>
              </a:rPr>
              <a:t>→</a:t>
            </a:r>
          </a:p>
        </p:txBody>
      </p:sp>
      <p:sp>
        <p:nvSpPr>
          <p:cNvPr id="8" name="">
            <a:extLst xmlns:a="http://schemas.openxmlformats.org/drawingml/2006/main">
              <a:ext uri="{FF2B5EF4-FFF2-40B4-BE49-F238E27FC236}">
                <a16:creationId xmlns:a16="http://schemas.microsoft.com/office/drawing/2014/main" id="{CE42D00A-E597-49F6-9198-DC71054761DF}"/>
              </a:ext>
            </a:extLst>
          </p:cNvPr>
          <p:cNvSpPr>
            <a:spLocks xmlns:a="http://schemas.openxmlformats.org/drawingml/2006/main" noGrp="1"/>
          </p:cNvSpPr>
          <p:nvPr/>
        </p:nvSpPr>
        <p:spPr>
          <a:xfrm xmlns:a="http://schemas.openxmlformats.org/drawingml/2006/main">
            <a:off x="3238500" y="2324100"/>
            <a:ext cx="1428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6450" b="1">
                <a:solidFill>
                  <a:srgbClr val="3D1F5C"/>
                </a:solidFill>
              </a:defRPr>
            </a:pPr>
            <a:r>
              <a:rPr sz="6450" b="1">
                <a:solidFill>
                  <a:srgbClr val="3D1F5C"/>
                </a:solidFill>
              </a:rPr>
              <a:t>3</a:t>
            </a:r>
          </a:p>
        </p:txBody>
      </p:sp>
      <p:sp>
        <p:nvSpPr>
          <p:cNvPr id="9" name="">
            <a:extLst xmlns:a="http://schemas.openxmlformats.org/drawingml/2006/main">
              <a:ext uri="{FF2B5EF4-FFF2-40B4-BE49-F238E27FC236}">
                <a16:creationId xmlns:a16="http://schemas.microsoft.com/office/drawing/2014/main" id="{5A46214D-7305-4FEC-831E-3A518977F255}"/>
              </a:ext>
            </a:extLst>
          </p:cNvPr>
          <p:cNvSpPr>
            <a:spLocks xmlns:a="http://schemas.openxmlformats.org/drawingml/2006/main" noGrp="1"/>
          </p:cNvSpPr>
          <p:nvPr/>
        </p:nvSpPr>
        <p:spPr>
          <a:xfrm xmlns:a="http://schemas.openxmlformats.org/drawingml/2006/main">
            <a:off x="4724400" y="2590800"/>
            <a:ext cx="819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450" b="1">
                <a:solidFill>
                  <a:srgbClr val="E63888"/>
                </a:solidFill>
              </a:defRPr>
            </a:pPr>
            <a:r>
              <a:rPr sz="3450" b="1">
                <a:solidFill>
                  <a:srgbClr val="E63888"/>
                </a:solidFill>
              </a:rPr>
              <a:t>→</a:t>
            </a:r>
          </a:p>
        </p:txBody>
      </p:sp>
      <p:sp>
        <p:nvSpPr>
          <p:cNvPr id="10" name="">
            <a:extLst xmlns:a="http://schemas.openxmlformats.org/drawingml/2006/main">
              <a:ext uri="{FF2B5EF4-FFF2-40B4-BE49-F238E27FC236}">
                <a16:creationId xmlns:a16="http://schemas.microsoft.com/office/drawing/2014/main" id="{229654AD-FB28-4DDC-90E1-4F789ABC66BC}"/>
              </a:ext>
            </a:extLst>
          </p:cNvPr>
          <p:cNvSpPr>
            <a:spLocks xmlns:a="http://schemas.openxmlformats.org/drawingml/2006/main" noGrp="1"/>
          </p:cNvSpPr>
          <p:nvPr/>
        </p:nvSpPr>
        <p:spPr>
          <a:xfrm xmlns:a="http://schemas.openxmlformats.org/drawingml/2006/main">
            <a:off x="5600700" y="2324100"/>
            <a:ext cx="1428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6450" b="1">
                <a:solidFill>
                  <a:srgbClr val="3D1F5C"/>
                </a:solidFill>
              </a:defRPr>
            </a:pPr>
            <a:r>
              <a:rPr sz="6450" b="1">
                <a:solidFill>
                  <a:srgbClr val="3D1F5C"/>
                </a:solidFill>
              </a:rPr>
              <a:t>4</a:t>
            </a:r>
          </a:p>
        </p:txBody>
      </p:sp>
      <p:sp>
        <p:nvSpPr>
          <p:cNvPr id="11" name="">
            <a:extLst xmlns:a="http://schemas.openxmlformats.org/drawingml/2006/main">
              <a:ext uri="{FF2B5EF4-FFF2-40B4-BE49-F238E27FC236}">
                <a16:creationId xmlns:a16="http://schemas.microsoft.com/office/drawing/2014/main" id="{67909282-FCED-49A3-84B9-D82FE2BE8C1C}"/>
              </a:ext>
            </a:extLst>
          </p:cNvPr>
          <p:cNvSpPr>
            <a:spLocks xmlns:a="http://schemas.openxmlformats.org/drawingml/2006/main" noGrp="1"/>
          </p:cNvSpPr>
          <p:nvPr/>
        </p:nvSpPr>
        <p:spPr>
          <a:xfrm xmlns:a="http://schemas.openxmlformats.org/drawingml/2006/main">
            <a:off x="762000" y="34861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E6873"/>
                </a:solidFill>
              </a:defRPr>
            </a:pPr>
            <a:r>
              <a:rPr sz="1200" b="1">
                <a:solidFill>
                  <a:srgbClr val="6E6873"/>
                </a:solidFill>
              </a:rPr>
              <a:t>Ground the work</a:t>
            </a:r>
          </a:p>
        </p:txBody>
      </p:sp>
      <p:sp>
        <p:nvSpPr>
          <p:cNvPr id="12" name="">
            <a:extLst xmlns:a="http://schemas.openxmlformats.org/drawingml/2006/main">
              <a:ext uri="{FF2B5EF4-FFF2-40B4-BE49-F238E27FC236}">
                <a16:creationId xmlns:a16="http://schemas.microsoft.com/office/drawing/2014/main" id="{F9BE0456-51F4-45A4-A802-7D8DE0A57DA1}"/>
              </a:ext>
            </a:extLst>
          </p:cNvPr>
          <p:cNvSpPr>
            <a:spLocks xmlns:a="http://schemas.openxmlformats.org/drawingml/2006/main" noGrp="1"/>
          </p:cNvSpPr>
          <p:nvPr/>
        </p:nvSpPr>
        <p:spPr>
          <a:xfrm xmlns:a="http://schemas.openxmlformats.org/drawingml/2006/main">
            <a:off x="3105150" y="34861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E6873"/>
                </a:solidFill>
              </a:defRPr>
            </a:pPr>
            <a:r>
              <a:rPr sz="1200" b="1">
                <a:solidFill>
                  <a:srgbClr val="6E6873"/>
                </a:solidFill>
              </a:rPr>
              <a:t>Package the process</a:t>
            </a:r>
          </a:p>
        </p:txBody>
      </p:sp>
      <p:sp>
        <p:nvSpPr>
          <p:cNvPr id="13" name="">
            <a:extLst xmlns:a="http://schemas.openxmlformats.org/drawingml/2006/main">
              <a:ext uri="{FF2B5EF4-FFF2-40B4-BE49-F238E27FC236}">
                <a16:creationId xmlns:a16="http://schemas.microsoft.com/office/drawing/2014/main" id="{EF6A8B00-7A8F-4192-BED2-F2B7022AC1AE}"/>
              </a:ext>
            </a:extLst>
          </p:cNvPr>
          <p:cNvSpPr>
            <a:spLocks xmlns:a="http://schemas.openxmlformats.org/drawingml/2006/main" noGrp="1"/>
          </p:cNvSpPr>
          <p:nvPr/>
        </p:nvSpPr>
        <p:spPr>
          <a:xfrm xmlns:a="http://schemas.openxmlformats.org/drawingml/2006/main">
            <a:off x="5486400" y="34861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E6873"/>
                </a:solidFill>
              </a:defRPr>
            </a:pPr>
            <a:r>
              <a:rPr sz="1200" b="1">
                <a:solidFill>
                  <a:srgbClr val="6E6873"/>
                </a:solidFill>
              </a:rPr>
              <a:t>Run it safely</a:t>
            </a:r>
          </a:p>
        </p:txBody>
      </p:sp>
      <p:sp>
        <p:nvSpPr>
          <p:cNvPr id="14" name="">
            <a:extLst xmlns:a="http://schemas.openxmlformats.org/drawingml/2006/main">
              <a:ext uri="{FF2B5EF4-FFF2-40B4-BE49-F238E27FC236}">
                <a16:creationId xmlns:a16="http://schemas.microsoft.com/office/drawing/2014/main" id="{6FD58616-3807-4863-A1F3-272A9443DB56}"/>
              </a:ext>
            </a:extLst>
          </p:cNvPr>
          <p:cNvSpPr>
            <a:spLocks xmlns:a="http://schemas.openxmlformats.org/drawingml/2006/main" noGrp="1"/>
          </p:cNvSpPr>
          <p:nvPr/>
        </p:nvSpPr>
        <p:spPr>
          <a:xfrm xmlns:a="http://schemas.openxmlformats.org/drawingml/2006/main">
            <a:off x="7715250" y="2000250"/>
            <a:ext cx="3676650" cy="2724150"/>
          </a:xfrm>
          <a:prstGeom xmlns:a="http://schemas.openxmlformats.org/drawingml/2006/main" prst="roundRect">
            <a:avLst>
              <a:gd name="adj" fmla="val 2797"/>
            </a:avLst>
          </a:prstGeom>
          <a:solidFill xmlns:a="http://schemas.openxmlformats.org/drawingml/2006/main">
            <a:srgbClr val="3D1F5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BF425B7-65A2-4083-8E59-7D55EBE8F178}"/>
              </a:ext>
            </a:extLst>
          </p:cNvPr>
          <p:cNvSpPr>
            <a:spLocks xmlns:a="http://schemas.openxmlformats.org/drawingml/2006/main" noGrp="1"/>
          </p:cNvSpPr>
          <p:nvPr/>
        </p:nvSpPr>
        <p:spPr>
          <a:xfrm xmlns:a="http://schemas.openxmlformats.org/drawingml/2006/main">
            <a:off x="8001000" y="22669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YOUR STARTER KIT</a:t>
            </a:r>
          </a:p>
        </p:txBody>
      </p:sp>
      <p:sp>
        <p:nvSpPr>
          <p:cNvPr id="16" name="">
            <a:extLst xmlns:a="http://schemas.openxmlformats.org/drawingml/2006/main">
              <a:ext uri="{FF2B5EF4-FFF2-40B4-BE49-F238E27FC236}">
                <a16:creationId xmlns:a16="http://schemas.microsoft.com/office/drawing/2014/main" id="{ADD7C32D-FFDE-44B2-96C6-40B88682C62C}"/>
              </a:ext>
            </a:extLst>
          </p:cNvPr>
          <p:cNvSpPr>
            <a:spLocks xmlns:a="http://schemas.openxmlformats.org/drawingml/2006/main" noGrp="1"/>
          </p:cNvSpPr>
          <p:nvPr/>
        </p:nvSpPr>
        <p:spPr>
          <a:xfrm xmlns:a="http://schemas.openxmlformats.org/drawingml/2006/main">
            <a:off x="8001000" y="2724150"/>
            <a:ext cx="30099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FFFFFF"/>
                </a:solidFill>
              </a:defRPr>
            </a:pPr>
            <a:r>
              <a:rPr sz="1575" b="1">
                <a:solidFill>
                  <a:srgbClr val="FFFFFF"/>
                </a:solidFill>
              </a:rPr>
              <a:t>Company Brain Builder</a:t>
            </a:r>
          </a:p>
          <a:p xmlns:a="http://schemas.openxmlformats.org/drawingml/2006/main">
            <a:pPr algn="l">
              <a:buNone/>
              <a:defRPr sz="1575" b="1">
                <a:solidFill>
                  <a:srgbClr val="FFFFFF"/>
                </a:solidFill>
              </a:defRPr>
            </a:pPr>
            <a:r>
              <a:rPr sz="1575" b="1">
                <a:solidFill>
                  <a:srgbClr val="FFFFFF"/>
                </a:solidFill>
              </a:rPr>
              <a:t>Skills Repository Starter</a:t>
            </a:r>
          </a:p>
          <a:p xmlns:a="http://schemas.openxmlformats.org/drawingml/2006/main">
            <a:pPr algn="l">
              <a:buNone/>
              <a:defRPr sz="1575" b="1">
                <a:solidFill>
                  <a:srgbClr val="FFFFFF"/>
                </a:solidFill>
              </a:defRPr>
            </a:pPr>
            <a:r>
              <a:rPr sz="1575" b="1">
                <a:solidFill>
                  <a:srgbClr val="FFFFFF"/>
                </a:solidFill>
              </a:rPr>
              <a:t>Shared Memory Starter</a:t>
            </a:r>
          </a:p>
          <a:p xmlns:a="http://schemas.openxmlformats.org/drawingml/2006/main">
            <a:pPr algn="l">
              <a:buNone/>
              <a:defRPr sz="1575" b="1">
                <a:solidFill>
                  <a:srgbClr val="FFFFFF"/>
                </a:solidFill>
              </a:defRPr>
            </a:pPr>
            <a:r>
              <a:rPr sz="1575" b="1">
                <a:solidFill>
                  <a:srgbClr val="FFFFFF"/>
                </a:solidFill>
              </a:rPr>
              <a:t>ABM Strategist</a:t>
            </a:r>
          </a:p>
          <a:p xmlns:a="http://schemas.openxmlformats.org/drawingml/2006/main">
            <a:pPr algn="l">
              <a:buNone/>
              <a:defRPr sz="1575" b="1">
                <a:solidFill>
                  <a:srgbClr val="FFFFFF"/>
                </a:solidFill>
              </a:defRPr>
            </a:pPr>
            <a:r>
              <a:rPr sz="1575" b="1">
                <a:solidFill>
                  <a:srgbClr val="FFFFFF"/>
                </a:solidFill>
              </a:rPr>
              <a:t>10 starter skills + 30-day plans</a:t>
            </a:r>
          </a:p>
        </p:txBody>
      </p:sp>
      <p:sp>
        <p:nvSpPr>
          <p:cNvPr id="17" name="">
            <a:extLst xmlns:a="http://schemas.openxmlformats.org/drawingml/2006/main">
              <a:ext uri="{FF2B5EF4-FFF2-40B4-BE49-F238E27FC236}">
                <a16:creationId xmlns:a16="http://schemas.microsoft.com/office/drawing/2014/main" id="{1CB50A7B-078D-4985-ACF7-8AD92183827F}"/>
              </a:ext>
            </a:extLst>
          </p:cNvPr>
          <p:cNvSpPr>
            <a:spLocks xmlns:a="http://schemas.openxmlformats.org/drawingml/2006/main" noGrp="1"/>
          </p:cNvSpPr>
          <p:nvPr/>
        </p:nvSpPr>
        <p:spPr>
          <a:xfrm xmlns:a="http://schemas.openxmlformats.org/drawingml/2006/main">
            <a:off x="857250" y="5105400"/>
            <a:ext cx="1047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63888"/>
                </a:solidFill>
              </a:defRPr>
            </a:pPr>
            <a:r>
              <a:rPr sz="1650" b="1">
                <a:solidFill>
                  <a:srgbClr val="E63888"/>
                </a:solidFill>
              </a:rPr>
              <a:t>Moving beyond Level 4 needs a one-to-one architecture session around your systems, data, permissions, operating model, and failure tolerance.</a:t>
            </a:r>
          </a:p>
        </p:txBody>
      </p:sp>
    </p:spTree>
    <p:extLst>
      <p:ext uri="{BB962C8B-B14F-4D97-AF65-F5344CB8AC3E}">
        <p14:creationId xmlns:p14="http://schemas.microsoft.com/office/powerpoint/2010/main" val="435140512"/>
      </p:ext>
    </p:extLst>
  </p:cSld>
</p:sld>
</file>

<file path=ppt/slides/slide21.xml><?xml version="1.0" encoding="utf-8"?>
<p:sld xmlns:p="http://schemas.openxmlformats.org/presentationml/2006/main">
  <p:cSld>
    <p:bg>
      <p:bgPr>
        <a:solidFill xmlns:a="http://schemas.openxmlformats.org/drawingml/2006/main">
          <a:srgbClr val="2B123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1C2B1FB-48F4-49F0-910A-D2458139FD88}"/>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6E2A5266-DC7E-4A8C-845B-518AEB4D8C0B}"/>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EF4537E-0E90-40D5-A3A5-38DE48B13298}"/>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FFFFFF"/>
                </a:solidFill>
              </a:defRPr>
            </a:pPr>
            <a:r>
              <a:rPr sz="3150" b="1">
                <a:solidFill>
                  <a:srgbClr val="FFFFFF"/>
                </a:solidFill>
              </a:rPr>
              <a:t>Live build: fresh workspace to grounded ABM system</a:t>
            </a:r>
          </a:p>
        </p:txBody>
      </p:sp>
      <p:sp>
        <p:nvSpPr>
          <p:cNvPr id="4" name="">
            <a:extLst xmlns:a="http://schemas.openxmlformats.org/drawingml/2006/main">
              <a:ext uri="{FF2B5EF4-FFF2-40B4-BE49-F238E27FC236}">
                <a16:creationId xmlns:a16="http://schemas.microsoft.com/office/drawing/2014/main" id="{E39CDD24-B54C-40D7-80BB-B38DAA9E6A55}"/>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EAE3EC"/>
                </a:solidFill>
              </a:defRPr>
            </a:pPr>
            <a:r>
              <a:rPr sz="750" b="1">
                <a:solidFill>
                  <a:srgbClr val="EAE3EC"/>
                </a:solidFill>
              </a:rPr>
              <a:t>FORGEX  |  AI FOR ABM</a:t>
            </a:r>
          </a:p>
        </p:txBody>
      </p:sp>
      <p:sp>
        <p:nvSpPr>
          <p:cNvPr id="5" name="">
            <a:extLst xmlns:a="http://schemas.openxmlformats.org/drawingml/2006/main">
              <a:ext uri="{FF2B5EF4-FFF2-40B4-BE49-F238E27FC236}">
                <a16:creationId xmlns:a16="http://schemas.microsoft.com/office/drawing/2014/main" id="{AB0E3F22-9879-475F-81E2-6866D16646F2}"/>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C7F25C"/>
                </a:solidFill>
              </a:defRPr>
            </a:pPr>
            <a:r>
              <a:rPr sz="825" b="1">
                <a:solidFill>
                  <a:srgbClr val="C7F25C"/>
                </a:solidFill>
              </a:rPr>
              <a:t>21</a:t>
            </a:r>
          </a:p>
        </p:txBody>
      </p:sp>
      <p:sp>
        <p:nvSpPr>
          <p:cNvPr id="6" name="">
            <a:extLst xmlns:a="http://schemas.openxmlformats.org/drawingml/2006/main">
              <a:ext uri="{FF2B5EF4-FFF2-40B4-BE49-F238E27FC236}">
                <a16:creationId xmlns:a16="http://schemas.microsoft.com/office/drawing/2014/main" id="{DD24D341-28C7-42E9-946D-63C1A111EEAF}"/>
              </a:ext>
            </a:extLst>
          </p:cNvPr>
          <p:cNvSpPr>
            <a:spLocks xmlns:a="http://schemas.openxmlformats.org/drawingml/2006/main" noGrp="1"/>
          </p:cNvSpPr>
          <p:nvPr/>
        </p:nvSpPr>
        <p:spPr>
          <a:xfrm xmlns:a="http://schemas.openxmlformats.org/drawingml/2006/main">
            <a:off x="762000" y="1962150"/>
            <a:ext cx="457200" cy="457200"/>
          </a:xfrm>
          <a:prstGeom xmlns:a="http://schemas.openxmlformats.org/drawingml/2006/main" prst="ellipse">
            <a:avLst/>
          </a:prstGeom>
          <a:solidFill xmlns:a="http://schemas.openxmlformats.org/drawingml/2006/main">
            <a:srgbClr val="E6388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2D674BE-76F1-4C81-A120-1B2B7ABB2328}"/>
              </a:ext>
            </a:extLst>
          </p:cNvPr>
          <p:cNvSpPr>
            <a:spLocks xmlns:a="http://schemas.openxmlformats.org/drawingml/2006/main" noGrp="1"/>
          </p:cNvSpPr>
          <p:nvPr/>
        </p:nvSpPr>
        <p:spPr>
          <a:xfrm xmlns:a="http://schemas.openxmlformats.org/drawingml/2006/main">
            <a:off x="866775" y="2047875"/>
            <a:ext cx="247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FFFFFF"/>
                </a:solidFill>
              </a:defRPr>
            </a:pPr>
            <a:r>
              <a:rPr sz="1200" b="1">
                <a:solidFill>
                  <a:srgbClr val="FFFFFF"/>
                </a:solidFill>
              </a:rPr>
              <a:t>1</a:t>
            </a:r>
          </a:p>
        </p:txBody>
      </p:sp>
      <p:sp>
        <p:nvSpPr>
          <p:cNvPr id="8" name="">
            <a:extLst xmlns:a="http://schemas.openxmlformats.org/drawingml/2006/main">
              <a:ext uri="{FF2B5EF4-FFF2-40B4-BE49-F238E27FC236}">
                <a16:creationId xmlns:a16="http://schemas.microsoft.com/office/drawing/2014/main" id="{E2155BFE-221E-4A97-BDAB-B5CBA89D4843}"/>
              </a:ext>
            </a:extLst>
          </p:cNvPr>
          <p:cNvSpPr>
            <a:spLocks xmlns:a="http://schemas.openxmlformats.org/drawingml/2006/main" noGrp="1"/>
          </p:cNvSpPr>
          <p:nvPr/>
        </p:nvSpPr>
        <p:spPr>
          <a:xfrm xmlns:a="http://schemas.openxmlformats.org/drawingml/2006/main">
            <a:off x="1428750" y="1971675"/>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FFFFFF"/>
                </a:solidFill>
              </a:defRPr>
            </a:pPr>
            <a:r>
              <a:rPr sz="1575" b="0">
                <a:solidFill>
                  <a:srgbClr val="FFFFFF"/>
                </a:solidFill>
              </a:rPr>
              <a:t>Open a fresh Claude Code workspace through ForgeX</a:t>
            </a:r>
          </a:p>
        </p:txBody>
      </p:sp>
      <p:sp>
        <p:nvSpPr>
          <p:cNvPr id="9" name="">
            <a:extLst xmlns:a="http://schemas.openxmlformats.org/drawingml/2006/main">
              <a:ext uri="{FF2B5EF4-FFF2-40B4-BE49-F238E27FC236}">
                <a16:creationId xmlns:a16="http://schemas.microsoft.com/office/drawing/2014/main" id="{FE707B65-19CC-4249-9344-B95F414BC99D}"/>
              </a:ext>
            </a:extLst>
          </p:cNvPr>
          <p:cNvSpPr>
            <a:spLocks xmlns:a="http://schemas.openxmlformats.org/drawingml/2006/main" noGrp="1"/>
          </p:cNvSpPr>
          <p:nvPr/>
        </p:nvSpPr>
        <p:spPr>
          <a:xfrm xmlns:a="http://schemas.openxmlformats.org/drawingml/2006/main">
            <a:off x="762000" y="2705100"/>
            <a:ext cx="457200" cy="457200"/>
          </a:xfrm>
          <a:prstGeom xmlns:a="http://schemas.openxmlformats.org/drawingml/2006/main" prst="ellipse">
            <a:avLst/>
          </a:prstGeom>
          <a:solidFill xmlns:a="http://schemas.openxmlformats.org/drawingml/2006/main">
            <a:srgbClr val="E6388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EC2CEB9-2BAA-415C-AD24-A6B5BB0A1C2F}"/>
              </a:ext>
            </a:extLst>
          </p:cNvPr>
          <p:cNvSpPr>
            <a:spLocks xmlns:a="http://schemas.openxmlformats.org/drawingml/2006/main" noGrp="1"/>
          </p:cNvSpPr>
          <p:nvPr/>
        </p:nvSpPr>
        <p:spPr>
          <a:xfrm xmlns:a="http://schemas.openxmlformats.org/drawingml/2006/main">
            <a:off x="866775" y="2790825"/>
            <a:ext cx="247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FFFFFF"/>
                </a:solidFill>
              </a:defRPr>
            </a:pPr>
            <a:r>
              <a:rPr sz="1200" b="1">
                <a:solidFill>
                  <a:srgbClr val="FFFFFF"/>
                </a:solidFill>
              </a:rPr>
              <a:t>2</a:t>
            </a:r>
          </a:p>
        </p:txBody>
      </p:sp>
      <p:sp>
        <p:nvSpPr>
          <p:cNvPr id="11" name="">
            <a:extLst xmlns:a="http://schemas.openxmlformats.org/drawingml/2006/main">
              <a:ext uri="{FF2B5EF4-FFF2-40B4-BE49-F238E27FC236}">
                <a16:creationId xmlns:a16="http://schemas.microsoft.com/office/drawing/2014/main" id="{621784CA-0418-40B0-A373-7D2DEF8594D7}"/>
              </a:ext>
            </a:extLst>
          </p:cNvPr>
          <p:cNvSpPr>
            <a:spLocks xmlns:a="http://schemas.openxmlformats.org/drawingml/2006/main" noGrp="1"/>
          </p:cNvSpPr>
          <p:nvPr/>
        </p:nvSpPr>
        <p:spPr>
          <a:xfrm xmlns:a="http://schemas.openxmlformats.org/drawingml/2006/main">
            <a:off x="1428750" y="2714625"/>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FFFFFF"/>
                </a:solidFill>
              </a:defRPr>
            </a:pPr>
            <a:r>
              <a:rPr sz="1575" b="0">
                <a:solidFill>
                  <a:srgbClr val="FFFFFF"/>
                </a:solidFill>
              </a:rPr>
              <a:t>Bring in the ForgeX repository</a:t>
            </a:r>
          </a:p>
        </p:txBody>
      </p:sp>
      <p:sp>
        <p:nvSpPr>
          <p:cNvPr id="12" name="">
            <a:extLst xmlns:a="http://schemas.openxmlformats.org/drawingml/2006/main">
              <a:ext uri="{FF2B5EF4-FFF2-40B4-BE49-F238E27FC236}">
                <a16:creationId xmlns:a16="http://schemas.microsoft.com/office/drawing/2014/main" id="{8F6A5656-C405-421B-846C-31A5BE45C4F9}"/>
              </a:ext>
            </a:extLst>
          </p:cNvPr>
          <p:cNvSpPr>
            <a:spLocks xmlns:a="http://schemas.openxmlformats.org/drawingml/2006/main" noGrp="1"/>
          </p:cNvSpPr>
          <p:nvPr/>
        </p:nvSpPr>
        <p:spPr>
          <a:xfrm xmlns:a="http://schemas.openxmlformats.org/drawingml/2006/main">
            <a:off x="762000" y="3448050"/>
            <a:ext cx="457200" cy="457200"/>
          </a:xfrm>
          <a:prstGeom xmlns:a="http://schemas.openxmlformats.org/drawingml/2006/main" prst="ellipse">
            <a:avLst/>
          </a:prstGeom>
          <a:solidFill xmlns:a="http://schemas.openxmlformats.org/drawingml/2006/main">
            <a:srgbClr val="E6388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D38536F-0B6F-45CF-8FD0-C17C2AE97961}"/>
              </a:ext>
            </a:extLst>
          </p:cNvPr>
          <p:cNvSpPr>
            <a:spLocks xmlns:a="http://schemas.openxmlformats.org/drawingml/2006/main" noGrp="1"/>
          </p:cNvSpPr>
          <p:nvPr/>
        </p:nvSpPr>
        <p:spPr>
          <a:xfrm xmlns:a="http://schemas.openxmlformats.org/drawingml/2006/main">
            <a:off x="866775" y="3533775"/>
            <a:ext cx="247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FFFFFF"/>
                </a:solidFill>
              </a:defRPr>
            </a:pPr>
            <a:r>
              <a:rPr sz="1200" b="1">
                <a:solidFill>
                  <a:srgbClr val="FFFFFF"/>
                </a:solidFill>
              </a:rPr>
              <a:t>3</a:t>
            </a:r>
          </a:p>
        </p:txBody>
      </p:sp>
      <p:sp>
        <p:nvSpPr>
          <p:cNvPr id="14" name="">
            <a:extLst xmlns:a="http://schemas.openxmlformats.org/drawingml/2006/main">
              <a:ext uri="{FF2B5EF4-FFF2-40B4-BE49-F238E27FC236}">
                <a16:creationId xmlns:a16="http://schemas.microsoft.com/office/drawing/2014/main" id="{FED451AC-90C1-4257-B3BC-64A919EAFB09}"/>
              </a:ext>
            </a:extLst>
          </p:cNvPr>
          <p:cNvSpPr>
            <a:spLocks xmlns:a="http://schemas.openxmlformats.org/drawingml/2006/main" noGrp="1"/>
          </p:cNvSpPr>
          <p:nvPr/>
        </p:nvSpPr>
        <p:spPr>
          <a:xfrm xmlns:a="http://schemas.openxmlformats.org/drawingml/2006/main">
            <a:off x="1428750" y="3457575"/>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FFFFFF"/>
                </a:solidFill>
              </a:defRPr>
            </a:pPr>
            <a:r>
              <a:rPr sz="1575" b="0">
                <a:solidFill>
                  <a:srgbClr val="FFFFFF"/>
                </a:solidFill>
              </a:rPr>
              <a:t>Inspect permissions, North Peak brain, and ABM Strategist</a:t>
            </a:r>
          </a:p>
        </p:txBody>
      </p:sp>
      <p:sp>
        <p:nvSpPr>
          <p:cNvPr id="15" name="">
            <a:extLst xmlns:a="http://schemas.openxmlformats.org/drawingml/2006/main">
              <a:ext uri="{FF2B5EF4-FFF2-40B4-BE49-F238E27FC236}">
                <a16:creationId xmlns:a16="http://schemas.microsoft.com/office/drawing/2014/main" id="{40CF75BD-6DFD-45F7-9E9A-67AE75993E7A}"/>
              </a:ext>
            </a:extLst>
          </p:cNvPr>
          <p:cNvSpPr>
            <a:spLocks xmlns:a="http://schemas.openxmlformats.org/drawingml/2006/main" noGrp="1"/>
          </p:cNvSpPr>
          <p:nvPr/>
        </p:nvSpPr>
        <p:spPr>
          <a:xfrm xmlns:a="http://schemas.openxmlformats.org/drawingml/2006/main">
            <a:off x="762000" y="4191000"/>
            <a:ext cx="457200" cy="457200"/>
          </a:xfrm>
          <a:prstGeom xmlns:a="http://schemas.openxmlformats.org/drawingml/2006/main" prst="ellipse">
            <a:avLst/>
          </a:prstGeom>
          <a:solidFill xmlns:a="http://schemas.openxmlformats.org/drawingml/2006/main">
            <a:srgbClr val="E6388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F003C51-38F1-4E03-96F5-82700E78D7E8}"/>
              </a:ext>
            </a:extLst>
          </p:cNvPr>
          <p:cNvSpPr>
            <a:spLocks xmlns:a="http://schemas.openxmlformats.org/drawingml/2006/main" noGrp="1"/>
          </p:cNvSpPr>
          <p:nvPr/>
        </p:nvSpPr>
        <p:spPr>
          <a:xfrm xmlns:a="http://schemas.openxmlformats.org/drawingml/2006/main">
            <a:off x="866775" y="4276725"/>
            <a:ext cx="247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FFFFFF"/>
                </a:solidFill>
              </a:defRPr>
            </a:pPr>
            <a:r>
              <a:rPr sz="1200" b="1">
                <a:solidFill>
                  <a:srgbClr val="FFFFFF"/>
                </a:solidFill>
              </a:rPr>
              <a:t>4</a:t>
            </a:r>
          </a:p>
        </p:txBody>
      </p:sp>
      <p:sp>
        <p:nvSpPr>
          <p:cNvPr id="17" name="">
            <a:extLst xmlns:a="http://schemas.openxmlformats.org/drawingml/2006/main">
              <a:ext uri="{FF2B5EF4-FFF2-40B4-BE49-F238E27FC236}">
                <a16:creationId xmlns:a16="http://schemas.microsoft.com/office/drawing/2014/main" id="{3E075C0B-16F4-4B88-9EE9-75C58F7C1C59}"/>
              </a:ext>
            </a:extLst>
          </p:cNvPr>
          <p:cNvSpPr>
            <a:spLocks xmlns:a="http://schemas.openxmlformats.org/drawingml/2006/main" noGrp="1"/>
          </p:cNvSpPr>
          <p:nvPr/>
        </p:nvSpPr>
        <p:spPr>
          <a:xfrm xmlns:a="http://schemas.openxmlformats.org/drawingml/2006/main">
            <a:off x="1428750" y="4200525"/>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FFFFFF"/>
                </a:solidFill>
              </a:defRPr>
            </a:pPr>
            <a:r>
              <a:rPr sz="1575" b="0">
                <a:solidFill>
                  <a:srgbClr val="FFFFFF"/>
                </a:solidFill>
              </a:rPr>
              <a:t>Run the Level 3 Alder prompt</a:t>
            </a:r>
          </a:p>
        </p:txBody>
      </p:sp>
      <p:sp>
        <p:nvSpPr>
          <p:cNvPr id="18" name="">
            <a:extLst xmlns:a="http://schemas.openxmlformats.org/drawingml/2006/main">
              <a:ext uri="{FF2B5EF4-FFF2-40B4-BE49-F238E27FC236}">
                <a16:creationId xmlns:a16="http://schemas.microsoft.com/office/drawing/2014/main" id="{153EB7EB-F0D7-4C06-B373-CC2AA11811A6}"/>
              </a:ext>
            </a:extLst>
          </p:cNvPr>
          <p:cNvSpPr>
            <a:spLocks xmlns:a="http://schemas.openxmlformats.org/drawingml/2006/main" noGrp="1"/>
          </p:cNvSpPr>
          <p:nvPr/>
        </p:nvSpPr>
        <p:spPr>
          <a:xfrm xmlns:a="http://schemas.openxmlformats.org/drawingml/2006/main">
            <a:off x="762000" y="4933950"/>
            <a:ext cx="457200" cy="457200"/>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8E932F4-9E8F-47C1-80F1-952DD0B340F7}"/>
              </a:ext>
            </a:extLst>
          </p:cNvPr>
          <p:cNvSpPr>
            <a:spLocks xmlns:a="http://schemas.openxmlformats.org/drawingml/2006/main" noGrp="1"/>
          </p:cNvSpPr>
          <p:nvPr/>
        </p:nvSpPr>
        <p:spPr>
          <a:xfrm xmlns:a="http://schemas.openxmlformats.org/drawingml/2006/main">
            <a:off x="866775" y="5019675"/>
            <a:ext cx="247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3D1F5C"/>
                </a:solidFill>
              </a:defRPr>
            </a:pPr>
            <a:r>
              <a:rPr sz="1200" b="1">
                <a:solidFill>
                  <a:srgbClr val="3D1F5C"/>
                </a:solidFill>
              </a:rPr>
              <a:t>5</a:t>
            </a:r>
          </a:p>
        </p:txBody>
      </p:sp>
      <p:sp>
        <p:nvSpPr>
          <p:cNvPr id="20" name="">
            <a:extLst xmlns:a="http://schemas.openxmlformats.org/drawingml/2006/main">
              <a:ext uri="{FF2B5EF4-FFF2-40B4-BE49-F238E27FC236}">
                <a16:creationId xmlns:a16="http://schemas.microsoft.com/office/drawing/2014/main" id="{B18089DD-966E-4FCD-B7D6-39115CA7CE4B}"/>
              </a:ext>
            </a:extLst>
          </p:cNvPr>
          <p:cNvSpPr>
            <a:spLocks xmlns:a="http://schemas.openxmlformats.org/drawingml/2006/main" noGrp="1"/>
          </p:cNvSpPr>
          <p:nvPr/>
        </p:nvSpPr>
        <p:spPr>
          <a:xfrm xmlns:a="http://schemas.openxmlformats.org/drawingml/2006/main">
            <a:off x="1428750" y="4943475"/>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FFFFFF"/>
                </a:solidFill>
              </a:defRPr>
            </a:pPr>
            <a:r>
              <a:rPr sz="1575" b="1">
                <a:solidFill>
                  <a:srgbClr val="FFFFFF"/>
                </a:solidFill>
              </a:rPr>
              <a:t>Trace the loop, review evidence and approvals, explain Level 4</a:t>
            </a:r>
          </a:p>
        </p:txBody>
      </p:sp>
      <p:sp>
        <p:nvSpPr>
          <p:cNvPr id="21" name="">
            <a:extLst xmlns:a="http://schemas.openxmlformats.org/drawingml/2006/main">
              <a:ext uri="{FF2B5EF4-FFF2-40B4-BE49-F238E27FC236}">
                <a16:creationId xmlns:a16="http://schemas.microsoft.com/office/drawing/2014/main" id="{C55A6A5A-491F-4FF6-929A-B62B2F13A440}"/>
              </a:ext>
            </a:extLst>
          </p:cNvPr>
          <p:cNvSpPr>
            <a:spLocks xmlns:a="http://schemas.openxmlformats.org/drawingml/2006/main" noGrp="1"/>
          </p:cNvSpPr>
          <p:nvPr/>
        </p:nvSpPr>
        <p:spPr>
          <a:xfrm xmlns:a="http://schemas.openxmlformats.org/drawingml/2006/main">
            <a:off x="8991600" y="2324100"/>
            <a:ext cx="2133600" cy="2133600"/>
          </a:xfrm>
          <a:prstGeom xmlns:a="http://schemas.openxmlformats.org/drawingml/2006/main" prst="ellipse">
            <a:avLst/>
          </a:prstGeom>
          <a:solidFill xmlns:a="http://schemas.openxmlformats.org/drawingml/2006/main">
            <a:srgbClr val="E6388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D3C55EB-1FBE-473C-A8C5-61533E8EF2F2}"/>
              </a:ext>
            </a:extLst>
          </p:cNvPr>
          <p:cNvSpPr>
            <a:spLocks xmlns:a="http://schemas.openxmlformats.org/drawingml/2006/main" noGrp="1"/>
          </p:cNvSpPr>
          <p:nvPr/>
        </p:nvSpPr>
        <p:spPr>
          <a:xfrm xmlns:a="http://schemas.openxmlformats.org/drawingml/2006/main">
            <a:off x="9201150" y="2533650"/>
            <a:ext cx="1714500" cy="1714500"/>
          </a:xfrm>
          <a:prstGeom xmlns:a="http://schemas.openxmlformats.org/drawingml/2006/main" prst="ellipse">
            <a:avLst/>
          </a:prstGeom>
          <a:solidFill xmlns:a="http://schemas.openxmlformats.org/drawingml/2006/main">
            <a:srgbClr val="2B123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9A11346-ABA6-42EA-8166-20D0372DC333}"/>
              </a:ext>
            </a:extLst>
          </p:cNvPr>
          <p:cNvSpPr>
            <a:spLocks xmlns:a="http://schemas.openxmlformats.org/drawingml/2006/main" noGrp="1"/>
          </p:cNvSpPr>
          <p:nvPr/>
        </p:nvSpPr>
        <p:spPr>
          <a:xfrm xmlns:a="http://schemas.openxmlformats.org/drawingml/2006/main">
            <a:off x="9467850" y="2800350"/>
            <a:ext cx="1200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4800" b="1">
                <a:solidFill>
                  <a:srgbClr val="C7F25C"/>
                </a:solidFill>
              </a:defRPr>
            </a:pPr>
            <a:r>
              <a:rPr sz="4800" b="1">
                <a:solidFill>
                  <a:srgbClr val="C7F25C"/>
                </a:solidFill>
              </a:rPr>
              <a:t>15</a:t>
            </a:r>
          </a:p>
        </p:txBody>
      </p:sp>
      <p:sp>
        <p:nvSpPr>
          <p:cNvPr id="24" name="">
            <a:extLst xmlns:a="http://schemas.openxmlformats.org/drawingml/2006/main">
              <a:ext uri="{FF2B5EF4-FFF2-40B4-BE49-F238E27FC236}">
                <a16:creationId xmlns:a16="http://schemas.microsoft.com/office/drawing/2014/main" id="{840288B3-5359-4C2D-8045-514BACD2E459}"/>
              </a:ext>
            </a:extLst>
          </p:cNvPr>
          <p:cNvSpPr>
            <a:spLocks xmlns:a="http://schemas.openxmlformats.org/drawingml/2006/main" noGrp="1"/>
          </p:cNvSpPr>
          <p:nvPr/>
        </p:nvSpPr>
        <p:spPr>
          <a:xfrm xmlns:a="http://schemas.openxmlformats.org/drawingml/2006/main">
            <a:off x="9429750" y="358140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FFFFF"/>
                </a:solidFill>
              </a:defRPr>
            </a:pPr>
            <a:r>
              <a:rPr sz="1500" b="1">
                <a:solidFill>
                  <a:srgbClr val="FFFFFF"/>
                </a:solidFill>
              </a:rPr>
              <a:t>MINUTES</a:t>
            </a:r>
          </a:p>
        </p:txBody>
      </p:sp>
      <p:sp>
        <p:nvSpPr>
          <p:cNvPr id="25" name="">
            <a:extLst xmlns:a="http://schemas.openxmlformats.org/drawingml/2006/main">
              <a:ext uri="{FF2B5EF4-FFF2-40B4-BE49-F238E27FC236}">
                <a16:creationId xmlns:a16="http://schemas.microsoft.com/office/drawing/2014/main" id="{38BDA6B2-AE47-4FF3-9663-BAD8D9660E5E}"/>
              </a:ext>
            </a:extLst>
          </p:cNvPr>
          <p:cNvSpPr>
            <a:spLocks xmlns:a="http://schemas.openxmlformats.org/drawingml/2006/main" noGrp="1"/>
          </p:cNvSpPr>
          <p:nvPr/>
        </p:nvSpPr>
        <p:spPr>
          <a:xfrm xmlns:a="http://schemas.openxmlformats.org/drawingml/2006/main">
            <a:off x="1143000" y="581025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C7F25C"/>
                </a:solidFill>
              </a:defRPr>
            </a:pPr>
            <a:r>
              <a:rPr sz="1725" b="1">
                <a:solidFill>
                  <a:srgbClr val="C7F25C"/>
                </a:solidFill>
              </a:rPr>
              <a:t>Leave with one repeated job you are ready to move up one level.</a:t>
            </a:r>
          </a:p>
        </p:txBody>
      </p:sp>
    </p:spTree>
    <p:extLst>
      <p:ext uri="{BB962C8B-B14F-4D97-AF65-F5344CB8AC3E}">
        <p14:creationId xmlns:p14="http://schemas.microsoft.com/office/powerpoint/2010/main" val="20947633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2026-09-16T15:13:53.5110000Z</dcterms:created>
  <dcterms:modified xsi:type="dcterms:W3CDTF">2026-09-16T15:13:53.5110000Z</dcterms:modified>
</coreProperties>
</file>